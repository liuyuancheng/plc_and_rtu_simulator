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61" r:id="rId4"/>
    <p:sldId id="267" r:id="rId5"/>
    <p:sldId id="260" r:id="rId6"/>
    <p:sldId id="258" r:id="rId7"/>
    <p:sldId id="268" r:id="rId8"/>
    <p:sldId id="269" r:id="rId9"/>
    <p:sldId id="262" r:id="rId10"/>
    <p:sldId id="263" r:id="rId11"/>
    <p:sldId id="264" r:id="rId12"/>
    <p:sldId id="265" r:id="rId13"/>
    <p:sldId id="259" r:id="rId14"/>
    <p:sldId id="266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9E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98FC0A-A656-46B8-8BCE-B9957593F2EC}" type="datetimeFigureOut">
              <a:rPr lang="en-SG" smtClean="0"/>
              <a:t>5/12/2025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AB7AF4-7E82-4D46-A58C-FC86BB2F4A6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04947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AB7AF4-7E82-4D46-A58C-FC86BB2F4A6B}" type="slidenum">
              <a:rPr lang="en-SG" smtClean="0"/>
              <a:t>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217310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B75B5-7DAC-C819-A683-FF1BCD3B18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642320-C022-B316-FD75-934723A739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6B74EA-B17B-E751-1F7B-4A04FBBCF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3FF10-B1B6-4147-A9BC-BC236B7E3AD4}" type="datetimeFigureOut">
              <a:rPr lang="en-SG" smtClean="0"/>
              <a:t>5/12/2025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DBE30-DE6B-E918-F44C-4F1CB3011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C98E4B-387B-F0E2-603B-C5F07A06B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626C-526E-4EC6-A141-7DF64272012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882290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F0ADC-2688-B800-5163-23E35DA1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34087-B12F-97FD-D7F0-A0A0659142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DF836-B170-28A5-06E7-70020764F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3FF10-B1B6-4147-A9BC-BC236B7E3AD4}" type="datetimeFigureOut">
              <a:rPr lang="en-SG" smtClean="0"/>
              <a:t>5/12/2025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8E4238-ED21-78CC-88C2-03AD274B1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51A218-A0A1-7284-8139-884EB99B9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626C-526E-4EC6-A141-7DF64272012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150752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E63F4-17E4-6BD5-A7D4-B6DAF5B17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178725-FA8B-058F-8A7C-4EA4B8D542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46004-87B6-A5FC-F3C3-7393C4A06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3FF10-B1B6-4147-A9BC-BC236B7E3AD4}" type="datetimeFigureOut">
              <a:rPr lang="en-SG" smtClean="0"/>
              <a:t>5/12/2025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345B6-54D7-1C47-E4A8-3F7F1C09F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E6830-1B32-DBC0-08D4-B81C37E48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626C-526E-4EC6-A141-7DF64272012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89253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76275-6F5E-AA95-D366-E26166CFE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5D1F4-1805-80B8-25CC-E9274BE9FA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6DCF9-4B72-7324-8B95-9EDA6EAA49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BFC256-C16F-048E-593D-E52E23E10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3FF10-B1B6-4147-A9BC-BC236B7E3AD4}" type="datetimeFigureOut">
              <a:rPr lang="en-SG" smtClean="0"/>
              <a:t>5/12/2025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E620A2-43F7-7DA1-588E-3DC9978B1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863B9D-92F4-2C81-FC41-4AE594EFE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626C-526E-4EC6-A141-7DF64272012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24330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050F4-0F9B-6594-2106-B052A95AF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A6A6A-F415-900D-0A00-A7EE40E65B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930888-FC6E-3FA6-D860-4F37E2CB38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138F73-1495-AC68-FDFA-E36114D9B9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8DB04A-7909-D267-C0F0-7F681DBFA2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6FACAD-D0EF-CF7A-CBC1-0E05E4DC0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3FF10-B1B6-4147-A9BC-BC236B7E3AD4}" type="datetimeFigureOut">
              <a:rPr lang="en-SG" smtClean="0"/>
              <a:t>5/12/2025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E3E415C-9157-2A9F-AEAC-26A4B40DB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82F215-5573-5F64-334D-CA3B9CE25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626C-526E-4EC6-A141-7DF64272012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367101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C5B61-427E-1960-A6F2-A0B86E40F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FB9257-7338-5680-02FD-CCCC64016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3FF10-B1B6-4147-A9BC-BC236B7E3AD4}" type="datetimeFigureOut">
              <a:rPr lang="en-SG" smtClean="0"/>
              <a:t>5/12/2025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915343-DDF2-773C-94ED-A42E46F1C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7E4644-7296-F126-B333-58F33D9D2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626C-526E-4EC6-A141-7DF64272012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855265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72C2BB-EE3E-CA45-1EF9-598537887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3FF10-B1B6-4147-A9BC-BC236B7E3AD4}" type="datetimeFigureOut">
              <a:rPr lang="en-SG" smtClean="0"/>
              <a:t>5/12/2025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796459-AEB3-DD5E-E4C2-502AF54DE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80FCC7-0625-B6C9-893F-0AA9D61DA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626C-526E-4EC6-A141-7DF64272012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33424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264F-55C9-877E-E051-51C47F861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C803AA-1766-BBB4-0C54-75EDFB2F4D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8F4A9A-0F62-D8E9-EF30-52930298E7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28D8F4-59A8-383E-BBA9-29FF2DE9E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3FF10-B1B6-4147-A9BC-BC236B7E3AD4}" type="datetimeFigureOut">
              <a:rPr lang="en-SG" smtClean="0"/>
              <a:t>5/12/2025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39BE7E-67AE-6B7F-DA2B-3060DD9A9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89E241-973A-C37D-E3B1-BBCD08345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626C-526E-4EC6-A141-7DF64272012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75887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64D9C-1A1A-A604-47B9-7D5BBD150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758C61-8B33-038B-DA65-C68F95E86F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CF2C5A-0A33-1CE9-681A-ADA53C59A0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B33FF-660D-7C28-6E8E-764FD2A01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3FF10-B1B6-4147-A9BC-BC236B7E3AD4}" type="datetimeFigureOut">
              <a:rPr lang="en-SG" smtClean="0"/>
              <a:t>5/12/2025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1C3252-EF5E-4A4D-BACE-3CAAD2874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1053CB-FE9D-04EA-8A70-8AEFBB10E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626C-526E-4EC6-A141-7DF64272012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8376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394C0-2239-014D-7781-6E4B5714D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19E959-616E-48C2-201E-9462F24920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DEF783-7ED0-3CA5-D4A6-E3BCC60F9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3FF10-B1B6-4147-A9BC-BC236B7E3AD4}" type="datetimeFigureOut">
              <a:rPr lang="en-SG" smtClean="0"/>
              <a:t>5/12/2025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2A8DC-D799-C76F-578E-62F06D8CC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254795-9922-E19F-AAEF-242E1FB45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626C-526E-4EC6-A141-7DF64272012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99418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5062D6-44BB-CA8D-2D50-E22F089613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4A7BB2-CF7B-4B31-9939-F4AB41F83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D1215-AFFE-A9D3-667C-2275D1350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3FF10-B1B6-4147-A9BC-BC236B7E3AD4}" type="datetimeFigureOut">
              <a:rPr lang="en-SG" smtClean="0"/>
              <a:t>5/12/2025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71946F-9E52-7D52-E6EB-47C1C61A6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665336-746D-6800-DA99-B323959F4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626C-526E-4EC6-A141-7DF64272012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809859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604F37-12F5-7005-C16B-BAEC7CF42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824255-4F5C-0B41-0D5E-840DADA54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E099D-4599-B713-206E-1603C7C9B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53FF10-B1B6-4147-A9BC-BC236B7E3AD4}" type="datetimeFigureOut">
              <a:rPr lang="en-SG" smtClean="0"/>
              <a:t>5/12/2025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6045FC-9AEE-EB95-54C7-7F1F803BCE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E9B4-C273-8238-2AF8-F51DD631BC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22626C-526E-4EC6-A141-7DF64272012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69748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9.jpeg"/><Relationship Id="rId7" Type="http://schemas.openxmlformats.org/officeDocument/2006/relationships/image" Target="../media/image2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44.png"/><Relationship Id="rId5" Type="http://schemas.openxmlformats.org/officeDocument/2006/relationships/image" Target="../media/image40.png"/><Relationship Id="rId10" Type="http://schemas.openxmlformats.org/officeDocument/2006/relationships/image" Target="../media/image43.png"/><Relationship Id="rId4" Type="http://schemas.openxmlformats.org/officeDocument/2006/relationships/image" Target="../media/image5.jpeg"/><Relationship Id="rId9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2.pn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3.png"/><Relationship Id="rId4" Type="http://schemas.openxmlformats.org/officeDocument/2006/relationships/image" Target="../media/image5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text, screenshot, display, diagram&#10;&#10;Description automatically generated">
            <a:extLst>
              <a:ext uri="{FF2B5EF4-FFF2-40B4-BE49-F238E27FC236}">
                <a16:creationId xmlns:a16="http://schemas.microsoft.com/office/drawing/2014/main" id="{3EAC13AD-7F62-EC12-82F7-6B3D5E3A2F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521" y="1572803"/>
            <a:ext cx="2678045" cy="1488969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396DC03-CFE3-69D1-B103-6BA465BF06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521" y="3796229"/>
            <a:ext cx="2678045" cy="1635113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6C70E3-7C89-192E-4095-86584000D151}"/>
              </a:ext>
            </a:extLst>
          </p:cNvPr>
          <p:cNvSpPr txBox="1"/>
          <p:nvPr/>
        </p:nvSpPr>
        <p:spPr>
          <a:xfrm>
            <a:off x="716665" y="1049583"/>
            <a:ext cx="23181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2D Railway[Metro] System Real-world Emulator</a:t>
            </a:r>
            <a:endParaRPr lang="en-SG" sz="1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E84520-2F90-F986-26BC-B1F40B15C0CC}"/>
              </a:ext>
            </a:extLst>
          </p:cNvPr>
          <p:cNvSpPr txBox="1"/>
          <p:nvPr/>
        </p:nvSpPr>
        <p:spPr>
          <a:xfrm>
            <a:off x="811521" y="3273009"/>
            <a:ext cx="23181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2D Power Grid System Real-world Emulator</a:t>
            </a:r>
            <a:endParaRPr lang="en-SG" sz="1400" b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64AEF1-C92D-967A-C769-012191814B68}"/>
              </a:ext>
            </a:extLst>
          </p:cNvPr>
          <p:cNvSpPr/>
          <p:nvPr/>
        </p:nvSpPr>
        <p:spPr>
          <a:xfrm>
            <a:off x="4778046" y="2571052"/>
            <a:ext cx="978956" cy="769069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D20D2E-060A-B33E-8EE4-B5A8D5A24E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0741" y="2681652"/>
            <a:ext cx="770439" cy="54786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2C56CED-DCBF-EAC2-E0FC-EF1A43CAF2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92" y="3953355"/>
            <a:ext cx="867590" cy="56337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B56C15E-5D66-34E8-0EE9-3839C3BFD020}"/>
              </a:ext>
            </a:extLst>
          </p:cNvPr>
          <p:cNvSpPr/>
          <p:nvPr/>
        </p:nvSpPr>
        <p:spPr>
          <a:xfrm>
            <a:off x="4778045" y="1257300"/>
            <a:ext cx="978956" cy="871157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3" name="Picture 2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A502D6EF-C886-F547-7CF4-AA62FB56DE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6032" y="1358125"/>
            <a:ext cx="659858" cy="72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E68980F-2CEB-4E92-E1CB-D4626FE58D64}"/>
              </a:ext>
            </a:extLst>
          </p:cNvPr>
          <p:cNvSpPr txBox="1"/>
          <p:nvPr/>
        </p:nvSpPr>
        <p:spPr>
          <a:xfrm>
            <a:off x="4677182" y="818750"/>
            <a:ext cx="13891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simulator [Modbus-TCP]</a:t>
            </a:r>
            <a:endParaRPr lang="en-SG" sz="12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FAF408-EBC6-A07A-99CF-9EF61C62D1E1}"/>
              </a:ext>
            </a:extLst>
          </p:cNvPr>
          <p:cNvSpPr txBox="1"/>
          <p:nvPr/>
        </p:nvSpPr>
        <p:spPr>
          <a:xfrm>
            <a:off x="4677182" y="2128457"/>
            <a:ext cx="13891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RTU simulator [S7Comm]</a:t>
            </a:r>
            <a:endParaRPr lang="en-SG" sz="12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6629695-A375-25D2-6157-2EA28A3D795F}"/>
              </a:ext>
            </a:extLst>
          </p:cNvPr>
          <p:cNvCxnSpPr>
            <a:cxnSpLocks/>
          </p:cNvCxnSpPr>
          <p:nvPr/>
        </p:nvCxnSpPr>
        <p:spPr>
          <a:xfrm flipV="1">
            <a:off x="3489566" y="1875759"/>
            <a:ext cx="12884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4B6316F-7719-E585-2B9F-47B7BC748909}"/>
              </a:ext>
            </a:extLst>
          </p:cNvPr>
          <p:cNvCxnSpPr>
            <a:cxnSpLocks/>
          </p:cNvCxnSpPr>
          <p:nvPr/>
        </p:nvCxnSpPr>
        <p:spPr>
          <a:xfrm flipV="1">
            <a:off x="3489565" y="2771109"/>
            <a:ext cx="12884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B067CA3F-2A68-85E5-838B-47C0B96D7BF0}"/>
              </a:ext>
            </a:extLst>
          </p:cNvPr>
          <p:cNvSpPr/>
          <p:nvPr/>
        </p:nvSpPr>
        <p:spPr>
          <a:xfrm>
            <a:off x="4703347" y="1816164"/>
            <a:ext cx="123987" cy="11919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98DED24-B179-B7E8-E3BF-B42E3C2CA16B}"/>
              </a:ext>
            </a:extLst>
          </p:cNvPr>
          <p:cNvSpPr/>
          <p:nvPr/>
        </p:nvSpPr>
        <p:spPr>
          <a:xfrm>
            <a:off x="4700406" y="2711514"/>
            <a:ext cx="123987" cy="11919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952A7DD-CF0F-B16A-78D8-0B44CEA18840}"/>
              </a:ext>
            </a:extLst>
          </p:cNvPr>
          <p:cNvSpPr/>
          <p:nvPr/>
        </p:nvSpPr>
        <p:spPr>
          <a:xfrm>
            <a:off x="3440277" y="1816164"/>
            <a:ext cx="123987" cy="11919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E028699-9681-5E77-51CC-CFE009537F42}"/>
              </a:ext>
            </a:extLst>
          </p:cNvPr>
          <p:cNvSpPr/>
          <p:nvPr/>
        </p:nvSpPr>
        <p:spPr>
          <a:xfrm>
            <a:off x="3421991" y="2700593"/>
            <a:ext cx="123987" cy="11919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9F144D-7E95-133D-B631-1D692B07E542}"/>
              </a:ext>
            </a:extLst>
          </p:cNvPr>
          <p:cNvSpPr txBox="1"/>
          <p:nvPr/>
        </p:nvSpPr>
        <p:spPr>
          <a:xfrm>
            <a:off x="3502270" y="1394117"/>
            <a:ext cx="13891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Electrical signal simulation </a:t>
            </a:r>
            <a:endParaRPr lang="en-SG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F7AE8B-17F1-C723-797C-4588C9B78E1A}"/>
              </a:ext>
            </a:extLst>
          </p:cNvPr>
          <p:cNvSpPr txBox="1"/>
          <p:nvPr/>
        </p:nvSpPr>
        <p:spPr>
          <a:xfrm>
            <a:off x="3536835" y="2237086"/>
            <a:ext cx="13891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Electrical signal simulation </a:t>
            </a:r>
            <a:endParaRPr lang="en-SG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54D6D45-1A3C-B29E-4857-5543D506680F}"/>
              </a:ext>
            </a:extLst>
          </p:cNvPr>
          <p:cNvSpPr/>
          <p:nvPr/>
        </p:nvSpPr>
        <p:spPr>
          <a:xfrm>
            <a:off x="4778044" y="3850789"/>
            <a:ext cx="978956" cy="769069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E444B3-7B30-3C49-7949-5F6BAF3D0A09}"/>
              </a:ext>
            </a:extLst>
          </p:cNvPr>
          <p:cNvSpPr txBox="1"/>
          <p:nvPr/>
        </p:nvSpPr>
        <p:spPr>
          <a:xfrm>
            <a:off x="4386391" y="3545648"/>
            <a:ext cx="20213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simulator [S7Comm]</a:t>
            </a:r>
            <a:endParaRPr lang="en-SG" sz="1200" b="1" dirty="0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5FE26C3-A34E-86E0-5F47-17359AACE305}"/>
              </a:ext>
            </a:extLst>
          </p:cNvPr>
          <p:cNvCxnSpPr>
            <a:cxnSpLocks/>
          </p:cNvCxnSpPr>
          <p:nvPr/>
        </p:nvCxnSpPr>
        <p:spPr>
          <a:xfrm flipV="1">
            <a:off x="3518470" y="4038218"/>
            <a:ext cx="12884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CC755E0B-AB8E-BF68-4110-5EBDCC1F209E}"/>
              </a:ext>
            </a:extLst>
          </p:cNvPr>
          <p:cNvSpPr/>
          <p:nvPr/>
        </p:nvSpPr>
        <p:spPr>
          <a:xfrm>
            <a:off x="3450896" y="3967702"/>
            <a:ext cx="123987" cy="11919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3245DE0-68B4-D92F-14AA-824AF7FEE4EA}"/>
              </a:ext>
            </a:extLst>
          </p:cNvPr>
          <p:cNvSpPr/>
          <p:nvPr/>
        </p:nvSpPr>
        <p:spPr>
          <a:xfrm>
            <a:off x="4688029" y="3967702"/>
            <a:ext cx="123987" cy="11919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9B8B1C9-DD82-D18B-415B-9382F9222C51}"/>
              </a:ext>
            </a:extLst>
          </p:cNvPr>
          <p:cNvSpPr/>
          <p:nvPr/>
        </p:nvSpPr>
        <p:spPr>
          <a:xfrm>
            <a:off x="4766480" y="4933380"/>
            <a:ext cx="978956" cy="769069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8D6539A9-D715-9B93-1711-332EAC91DB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302" y="5030227"/>
            <a:ext cx="770439" cy="54786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B29F5FD-8404-993C-2840-96925FC9C08A}"/>
              </a:ext>
            </a:extLst>
          </p:cNvPr>
          <p:cNvSpPr txBox="1"/>
          <p:nvPr/>
        </p:nvSpPr>
        <p:spPr>
          <a:xfrm>
            <a:off x="4474366" y="4689910"/>
            <a:ext cx="22230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RTU simulator [S7Comm]</a:t>
            </a:r>
            <a:endParaRPr lang="en-SG" sz="1200" b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92727F0-E907-9307-86B8-069F25A9903C}"/>
              </a:ext>
            </a:extLst>
          </p:cNvPr>
          <p:cNvSpPr/>
          <p:nvPr/>
        </p:nvSpPr>
        <p:spPr>
          <a:xfrm>
            <a:off x="4700404" y="5195424"/>
            <a:ext cx="123987" cy="11919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AC0656F-B493-B8A2-B732-056803BA2D55}"/>
              </a:ext>
            </a:extLst>
          </p:cNvPr>
          <p:cNvCxnSpPr>
            <a:cxnSpLocks/>
            <a:stCxn id="35" idx="3"/>
            <a:endCxn id="33" idx="1"/>
          </p:cNvCxnSpPr>
          <p:nvPr/>
        </p:nvCxnSpPr>
        <p:spPr>
          <a:xfrm flipV="1">
            <a:off x="3570211" y="5255019"/>
            <a:ext cx="1130193" cy="3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284EC95E-95DB-6C4E-4846-D41500C4D8C1}"/>
              </a:ext>
            </a:extLst>
          </p:cNvPr>
          <p:cNvSpPr/>
          <p:nvPr/>
        </p:nvSpPr>
        <p:spPr>
          <a:xfrm>
            <a:off x="3446224" y="5198724"/>
            <a:ext cx="123987" cy="11919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D009844-604F-0CC7-F860-71BD758D93A7}"/>
              </a:ext>
            </a:extLst>
          </p:cNvPr>
          <p:cNvSpPr/>
          <p:nvPr/>
        </p:nvSpPr>
        <p:spPr>
          <a:xfrm>
            <a:off x="4682962" y="4342205"/>
            <a:ext cx="123987" cy="11919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59BB7C2-81A2-2A8E-148F-1B322BBF168F}"/>
              </a:ext>
            </a:extLst>
          </p:cNvPr>
          <p:cNvSpPr/>
          <p:nvPr/>
        </p:nvSpPr>
        <p:spPr>
          <a:xfrm>
            <a:off x="4700404" y="4960319"/>
            <a:ext cx="123987" cy="11919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73B74CC0-7780-2BBD-CBBA-1C500EBC3199}"/>
              </a:ext>
            </a:extLst>
          </p:cNvPr>
          <p:cNvCxnSpPr>
            <a:cxnSpLocks/>
            <a:stCxn id="42" idx="1"/>
            <a:endCxn id="43" idx="1"/>
          </p:cNvCxnSpPr>
          <p:nvPr/>
        </p:nvCxnSpPr>
        <p:spPr>
          <a:xfrm rot="10800000" flipH="1" flipV="1">
            <a:off x="4682962" y="4401800"/>
            <a:ext cx="17442" cy="618114"/>
          </a:xfrm>
          <a:prstGeom prst="bentConnector3">
            <a:avLst>
              <a:gd name="adj1" fmla="val -131063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B4852F93-4023-D38B-6806-7B893FD39C3A}"/>
              </a:ext>
            </a:extLst>
          </p:cNvPr>
          <p:cNvSpPr/>
          <p:nvPr/>
        </p:nvSpPr>
        <p:spPr>
          <a:xfrm>
            <a:off x="2974888" y="3000754"/>
            <a:ext cx="123987" cy="11919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F2B858D-28ED-33B0-A1BE-DA19733002B0}"/>
              </a:ext>
            </a:extLst>
          </p:cNvPr>
          <p:cNvSpPr/>
          <p:nvPr/>
        </p:nvSpPr>
        <p:spPr>
          <a:xfrm>
            <a:off x="2984168" y="3743340"/>
            <a:ext cx="123987" cy="11919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81031AD-2D61-FB4F-54FE-BA9C4E3DFDF7}"/>
              </a:ext>
            </a:extLst>
          </p:cNvPr>
          <p:cNvCxnSpPr>
            <a:cxnSpLocks/>
            <a:stCxn id="50" idx="2"/>
            <a:endCxn id="51" idx="0"/>
          </p:cNvCxnSpPr>
          <p:nvPr/>
        </p:nvCxnSpPr>
        <p:spPr>
          <a:xfrm>
            <a:off x="3036882" y="3119944"/>
            <a:ext cx="0" cy="6233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E38319A-45BF-B4D0-FACE-5165C9FC830F}"/>
              </a:ext>
            </a:extLst>
          </p:cNvPr>
          <p:cNvSpPr txBox="1"/>
          <p:nvPr/>
        </p:nvSpPr>
        <p:spPr>
          <a:xfrm>
            <a:off x="3506295" y="4101246"/>
            <a:ext cx="13891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Electrical signal simulation </a:t>
            </a:r>
            <a:endParaRPr lang="en-SG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169127C-B340-8097-8C55-0D98B1A5A443}"/>
              </a:ext>
            </a:extLst>
          </p:cNvPr>
          <p:cNvSpPr txBox="1"/>
          <p:nvPr/>
        </p:nvSpPr>
        <p:spPr>
          <a:xfrm>
            <a:off x="3046161" y="3206731"/>
            <a:ext cx="13891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Power supply simulation </a:t>
            </a:r>
            <a:endParaRPr lang="en-SG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7" name="Picture 56" descr="A screenshot of a computer&#10;&#10;Description automatically generated">
            <a:extLst>
              <a:ext uri="{FF2B5EF4-FFF2-40B4-BE49-F238E27FC236}">
                <a16:creationId xmlns:a16="http://schemas.microsoft.com/office/drawing/2014/main" id="{553E21F1-F2C3-E2D8-5144-878CBBAD8BB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0272" y="1139794"/>
            <a:ext cx="1900047" cy="108832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58" name="Picture 57" descr="A screenshot of a computer&#10;&#10;Description automatically generated">
            <a:extLst>
              <a:ext uri="{FF2B5EF4-FFF2-40B4-BE49-F238E27FC236}">
                <a16:creationId xmlns:a16="http://schemas.microsoft.com/office/drawing/2014/main" id="{890A21EA-803E-CC5A-AD90-CC855723564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0483" y="2511594"/>
            <a:ext cx="1900047" cy="101111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59" name="Picture 58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2326BE70-F5D2-21C7-DCFE-7FF9A5605BD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0272" y="3855290"/>
            <a:ext cx="2650427" cy="1111141"/>
          </a:xfrm>
          <a:prstGeom prst="rect">
            <a:avLst/>
          </a:prstGeom>
        </p:spPr>
      </p:pic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AA372C2-7590-B0F3-5BD1-C99004ED1CA9}"/>
              </a:ext>
            </a:extLst>
          </p:cNvPr>
          <p:cNvCxnSpPr>
            <a:cxnSpLocks/>
          </p:cNvCxnSpPr>
          <p:nvPr/>
        </p:nvCxnSpPr>
        <p:spPr>
          <a:xfrm>
            <a:off x="6580455" y="1194297"/>
            <a:ext cx="0" cy="4652629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D176CAB0-40F4-2763-D1D3-F68A3BD3615E}"/>
              </a:ext>
            </a:extLst>
          </p:cNvPr>
          <p:cNvSpPr txBox="1"/>
          <p:nvPr/>
        </p:nvSpPr>
        <p:spPr>
          <a:xfrm>
            <a:off x="6102922" y="969454"/>
            <a:ext cx="8333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3">
                    <a:lumMod val="75000"/>
                  </a:schemeClr>
                </a:solidFill>
              </a:rPr>
              <a:t>Modbus</a:t>
            </a:r>
            <a:r>
              <a:rPr lang="en-US" sz="1200" b="1" dirty="0"/>
              <a:t> </a:t>
            </a:r>
            <a:endParaRPr lang="en-SG" sz="1200" b="1" dirty="0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8977953-C680-B275-03E2-2B3B04BB8163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5757001" y="1692879"/>
            <a:ext cx="821948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9AAE9E0A-A19E-42C5-FAB7-6B79C634C3EA}"/>
              </a:ext>
            </a:extLst>
          </p:cNvPr>
          <p:cNvCxnSpPr>
            <a:cxnSpLocks/>
          </p:cNvCxnSpPr>
          <p:nvPr/>
        </p:nvCxnSpPr>
        <p:spPr>
          <a:xfrm>
            <a:off x="6578949" y="1554109"/>
            <a:ext cx="909968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50A82333-3F68-4009-2C0B-4A925B7ADC89}"/>
              </a:ext>
            </a:extLst>
          </p:cNvPr>
          <p:cNvCxnSpPr>
            <a:cxnSpLocks/>
          </p:cNvCxnSpPr>
          <p:nvPr/>
        </p:nvCxnSpPr>
        <p:spPr>
          <a:xfrm>
            <a:off x="6569100" y="2760188"/>
            <a:ext cx="91981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B099A1AB-B36F-CBFD-F7BF-7464C8B3B562}"/>
              </a:ext>
            </a:extLst>
          </p:cNvPr>
          <p:cNvCxnSpPr>
            <a:cxnSpLocks/>
          </p:cNvCxnSpPr>
          <p:nvPr/>
        </p:nvCxnSpPr>
        <p:spPr>
          <a:xfrm flipH="1">
            <a:off x="6998213" y="1191909"/>
            <a:ext cx="3675" cy="4655017"/>
          </a:xfrm>
          <a:prstGeom prst="line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B7C8BD0A-27D2-C696-DF5F-177EF5A43436}"/>
              </a:ext>
            </a:extLst>
          </p:cNvPr>
          <p:cNvSpPr txBox="1"/>
          <p:nvPr/>
        </p:nvSpPr>
        <p:spPr>
          <a:xfrm>
            <a:off x="6282231" y="5877583"/>
            <a:ext cx="11216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S7Comm bus </a:t>
            </a:r>
            <a:endParaRPr lang="en-SG" sz="12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BB4164E-5A8B-7C34-633D-8D53E27F92BA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5757002" y="2955587"/>
            <a:ext cx="1241211" cy="0"/>
          </a:xfrm>
          <a:prstGeom prst="line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F56BB083-FBCE-26F7-B99D-2517CA459620}"/>
              </a:ext>
            </a:extLst>
          </p:cNvPr>
          <p:cNvCxnSpPr>
            <a:cxnSpLocks/>
          </p:cNvCxnSpPr>
          <p:nvPr/>
        </p:nvCxnSpPr>
        <p:spPr>
          <a:xfrm>
            <a:off x="5757002" y="4217055"/>
            <a:ext cx="1241211" cy="0"/>
          </a:xfrm>
          <a:prstGeom prst="line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38708EB-36F2-DA08-05C5-0196AEEE385A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5745436" y="5317915"/>
            <a:ext cx="1252777" cy="0"/>
          </a:xfrm>
          <a:prstGeom prst="line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C20D8B27-C70F-65F2-91B4-64B8CA1E3FAA}"/>
              </a:ext>
            </a:extLst>
          </p:cNvPr>
          <p:cNvCxnSpPr>
            <a:cxnSpLocks/>
          </p:cNvCxnSpPr>
          <p:nvPr/>
        </p:nvCxnSpPr>
        <p:spPr>
          <a:xfrm>
            <a:off x="7008963" y="3273009"/>
            <a:ext cx="531368" cy="0"/>
          </a:xfrm>
          <a:prstGeom prst="line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46453A1-A246-470F-FD4B-505634F7E55F}"/>
              </a:ext>
            </a:extLst>
          </p:cNvPr>
          <p:cNvCxnSpPr>
            <a:cxnSpLocks/>
            <a:endCxn id="59" idx="1"/>
          </p:cNvCxnSpPr>
          <p:nvPr/>
        </p:nvCxnSpPr>
        <p:spPr>
          <a:xfrm>
            <a:off x="7008963" y="4410860"/>
            <a:ext cx="491309" cy="1"/>
          </a:xfrm>
          <a:prstGeom prst="line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AAA1618C-1F74-B98A-8E64-1F5B30C35A09}"/>
              </a:ext>
            </a:extLst>
          </p:cNvPr>
          <p:cNvSpPr txBox="1"/>
          <p:nvPr/>
        </p:nvSpPr>
        <p:spPr>
          <a:xfrm>
            <a:off x="7436392" y="812969"/>
            <a:ext cx="22081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Railway Signal System HMI</a:t>
            </a:r>
            <a:endParaRPr lang="en-SG" sz="1200" b="1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4AEBEF4-9F8A-20F0-5D40-7485DFAFCE59}"/>
              </a:ext>
            </a:extLst>
          </p:cNvPr>
          <p:cNvSpPr txBox="1"/>
          <p:nvPr/>
        </p:nvSpPr>
        <p:spPr>
          <a:xfrm>
            <a:off x="7415475" y="2226512"/>
            <a:ext cx="22081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Railway Train System HMI</a:t>
            </a:r>
            <a:endParaRPr lang="en-SG" sz="1200" b="1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A38814E-1516-670C-20D8-AAEBCC3073D3}"/>
              </a:ext>
            </a:extLst>
          </p:cNvPr>
          <p:cNvSpPr txBox="1"/>
          <p:nvPr/>
        </p:nvSpPr>
        <p:spPr>
          <a:xfrm>
            <a:off x="7415475" y="3558404"/>
            <a:ext cx="29809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Power Grid and Substation System HMI</a:t>
            </a:r>
            <a:endParaRPr lang="en-SG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537011-A8F7-D82B-4CE3-7BF486404638}"/>
              </a:ext>
            </a:extLst>
          </p:cNvPr>
          <p:cNvSpPr txBox="1"/>
          <p:nvPr/>
        </p:nvSpPr>
        <p:spPr>
          <a:xfrm>
            <a:off x="768772" y="430357"/>
            <a:ext cx="4532004" cy="338554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square">
            <a:spAutoFit/>
          </a:bodyPr>
          <a:lstStyle/>
          <a:p>
            <a:r>
              <a:rPr lang="en-US" sz="1600" b="1" dirty="0"/>
              <a:t>Virtual PLC/RTU System Connection Diagram</a:t>
            </a:r>
            <a:endParaRPr lang="en-SG" sz="1600" b="1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4FB91B-5D64-BA7A-D9D1-E927393DBD82}"/>
              </a:ext>
            </a:extLst>
          </p:cNvPr>
          <p:cNvSpPr/>
          <p:nvPr/>
        </p:nvSpPr>
        <p:spPr>
          <a:xfrm>
            <a:off x="811521" y="5945067"/>
            <a:ext cx="175568" cy="11919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FD2EEA6-8129-B633-BAE5-59F24640873B}"/>
              </a:ext>
            </a:extLst>
          </p:cNvPr>
          <p:cNvSpPr/>
          <p:nvPr/>
        </p:nvSpPr>
        <p:spPr>
          <a:xfrm>
            <a:off x="1277354" y="5945067"/>
            <a:ext cx="175568" cy="11919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FB774B6-0575-0219-5AC9-D578FF792B39}"/>
              </a:ext>
            </a:extLst>
          </p:cNvPr>
          <p:cNvCxnSpPr>
            <a:cxnSpLocks/>
            <a:stCxn id="21" idx="3"/>
            <a:endCxn id="25" idx="1"/>
          </p:cNvCxnSpPr>
          <p:nvPr/>
        </p:nvCxnSpPr>
        <p:spPr>
          <a:xfrm>
            <a:off x="987089" y="6004662"/>
            <a:ext cx="2902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B194BC6-C4D8-9433-3710-3F8C647C7A28}"/>
              </a:ext>
            </a:extLst>
          </p:cNvPr>
          <p:cNvSpPr txBox="1"/>
          <p:nvPr/>
        </p:nvSpPr>
        <p:spPr>
          <a:xfrm>
            <a:off x="1467417" y="5881514"/>
            <a:ext cx="30069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Electrical signal / Physical Wire Simulation</a:t>
            </a:r>
            <a:endParaRPr lang="en-SG" sz="1200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8E7A00-4BAD-247F-84DE-8B0C596EC160}"/>
              </a:ext>
            </a:extLst>
          </p:cNvPr>
          <p:cNvCxnSpPr>
            <a:cxnSpLocks/>
          </p:cNvCxnSpPr>
          <p:nvPr/>
        </p:nvCxnSpPr>
        <p:spPr>
          <a:xfrm>
            <a:off x="811521" y="5702449"/>
            <a:ext cx="577735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9902B424-41BE-3883-0AC6-5D51049BD458}"/>
              </a:ext>
            </a:extLst>
          </p:cNvPr>
          <p:cNvSpPr txBox="1"/>
          <p:nvPr/>
        </p:nvSpPr>
        <p:spPr>
          <a:xfrm>
            <a:off x="1505078" y="5578095"/>
            <a:ext cx="11406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3">
                    <a:lumMod val="75000"/>
                  </a:schemeClr>
                </a:solidFill>
              </a:rPr>
              <a:t>Modbus-TCP</a:t>
            </a:r>
            <a:r>
              <a:rPr lang="en-US" sz="1200" b="1" dirty="0"/>
              <a:t> </a:t>
            </a:r>
            <a:endParaRPr lang="en-SG" sz="1200" b="1" dirty="0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E702276-852E-0C13-A357-027D8A003932}"/>
              </a:ext>
            </a:extLst>
          </p:cNvPr>
          <p:cNvCxnSpPr>
            <a:cxnSpLocks/>
          </p:cNvCxnSpPr>
          <p:nvPr/>
        </p:nvCxnSpPr>
        <p:spPr>
          <a:xfrm flipV="1">
            <a:off x="2812057" y="5702951"/>
            <a:ext cx="415865" cy="5476"/>
          </a:xfrm>
          <a:prstGeom prst="line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C3481E5B-2D6F-8AC1-54D7-1A3C3FE941C5}"/>
              </a:ext>
            </a:extLst>
          </p:cNvPr>
          <p:cNvSpPr txBox="1"/>
          <p:nvPr/>
        </p:nvSpPr>
        <p:spPr>
          <a:xfrm>
            <a:off x="3226116" y="5569927"/>
            <a:ext cx="15347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S7Comm bus </a:t>
            </a:r>
            <a:endParaRPr lang="en-SG" sz="12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D4582A2D-14C9-2B61-966A-386E586EEB5E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b="18796"/>
          <a:stretch/>
        </p:blipFill>
        <p:spPr>
          <a:xfrm>
            <a:off x="7475746" y="5268534"/>
            <a:ext cx="2013279" cy="795723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E88E917E-43F4-3E13-DF56-7BC4A518B996}"/>
              </a:ext>
            </a:extLst>
          </p:cNvPr>
          <p:cNvSpPr txBox="1"/>
          <p:nvPr/>
        </p:nvSpPr>
        <p:spPr>
          <a:xfrm>
            <a:off x="7428126" y="5030466"/>
            <a:ext cx="24609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Transformer display panel </a:t>
            </a:r>
            <a:endParaRPr lang="en-SG" sz="1200" b="1" dirty="0"/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A7EF537-4CFE-A54C-12A0-AD93D3B30BA6}"/>
              </a:ext>
            </a:extLst>
          </p:cNvPr>
          <p:cNvCxnSpPr>
            <a:cxnSpLocks/>
          </p:cNvCxnSpPr>
          <p:nvPr/>
        </p:nvCxnSpPr>
        <p:spPr>
          <a:xfrm>
            <a:off x="7008963" y="5522000"/>
            <a:ext cx="491309" cy="1"/>
          </a:xfrm>
          <a:prstGeom prst="line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F80EB93-95AD-DC1A-B4B9-96E5B4F09674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6578949" y="5666396"/>
            <a:ext cx="89679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6725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BDA94B1C-9FE6-C6F6-B0A6-9D0554B263D2}"/>
              </a:ext>
            </a:extLst>
          </p:cNvPr>
          <p:cNvSpPr/>
          <p:nvPr/>
        </p:nvSpPr>
        <p:spPr>
          <a:xfrm>
            <a:off x="1603912" y="5440668"/>
            <a:ext cx="1774267" cy="52321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2EBCA50-D8A7-2996-E06F-9EA14C179D44}"/>
              </a:ext>
            </a:extLst>
          </p:cNvPr>
          <p:cNvSpPr/>
          <p:nvPr/>
        </p:nvSpPr>
        <p:spPr>
          <a:xfrm>
            <a:off x="4841817" y="4685213"/>
            <a:ext cx="2183130" cy="106492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84BBB1-0024-C36F-68D7-140C8053A5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912" y="2407183"/>
            <a:ext cx="1629622" cy="96412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E80128F-6562-8A46-C80F-516E853F65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4966" y="778081"/>
            <a:ext cx="1435809" cy="104422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B8839E0-1D26-27C2-C3D2-71BBE832C5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747212" y="4085081"/>
            <a:ext cx="959550" cy="1026558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E3075C0-8709-B930-ED79-4C114DB1E5A3}"/>
              </a:ext>
            </a:extLst>
          </p:cNvPr>
          <p:cNvSpPr/>
          <p:nvPr/>
        </p:nvSpPr>
        <p:spPr>
          <a:xfrm>
            <a:off x="4869180" y="674371"/>
            <a:ext cx="2146966" cy="94777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20FF5B0-50AF-1BD7-B04C-30755341F0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7226" y="772636"/>
            <a:ext cx="400622" cy="27498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4936F77-D23D-B94E-764D-91124D5A0936}"/>
              </a:ext>
            </a:extLst>
          </p:cNvPr>
          <p:cNvSpPr txBox="1"/>
          <p:nvPr/>
        </p:nvSpPr>
        <p:spPr>
          <a:xfrm>
            <a:off x="5396944" y="758982"/>
            <a:ext cx="14994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Windows OS VM</a:t>
            </a:r>
            <a:endParaRPr lang="en-SG" sz="140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B67A0E-3F3F-B917-D53C-4C41D8EAA1CE}"/>
              </a:ext>
            </a:extLst>
          </p:cNvPr>
          <p:cNvSpPr/>
          <p:nvPr/>
        </p:nvSpPr>
        <p:spPr>
          <a:xfrm>
            <a:off x="5418911" y="1163270"/>
            <a:ext cx="1183005" cy="287243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/>
              <a:t>PLC Simulator</a:t>
            </a:r>
            <a:endParaRPr lang="en-SG" sz="12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4BA262-2111-74A7-B361-5F1B0AC2FD8B}"/>
              </a:ext>
            </a:extLst>
          </p:cNvPr>
          <p:cNvSpPr/>
          <p:nvPr/>
        </p:nvSpPr>
        <p:spPr>
          <a:xfrm>
            <a:off x="6773090" y="1205864"/>
            <a:ext cx="704610" cy="36576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Modbus server </a:t>
            </a:r>
            <a:endParaRPr lang="en-SG" sz="1050" b="1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5A48A30-CE8F-192F-DD86-F8DFF098FBD2}"/>
              </a:ext>
            </a:extLst>
          </p:cNvPr>
          <p:cNvSpPr/>
          <p:nvPr/>
        </p:nvSpPr>
        <p:spPr>
          <a:xfrm>
            <a:off x="4243388" y="1198289"/>
            <a:ext cx="824388" cy="36576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UDP/TCP Interface</a:t>
            </a:r>
            <a:endParaRPr lang="en-SG" sz="105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E0B918-118C-5360-E7F0-5D239E15676E}"/>
              </a:ext>
            </a:extLst>
          </p:cNvPr>
          <p:cNvSpPr txBox="1"/>
          <p:nvPr/>
        </p:nvSpPr>
        <p:spPr>
          <a:xfrm>
            <a:off x="1435554" y="488781"/>
            <a:ext cx="23820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Virtual OT device emulator </a:t>
            </a:r>
            <a:endParaRPr lang="en-SG" sz="1400" b="1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CF1E682-D313-C320-85B2-F75E54A1FB16}"/>
              </a:ext>
            </a:extLst>
          </p:cNvPr>
          <p:cNvCxnSpPr>
            <a:stCxn id="19" idx="3"/>
            <a:endCxn id="17" idx="1"/>
          </p:cNvCxnSpPr>
          <p:nvPr/>
        </p:nvCxnSpPr>
        <p:spPr>
          <a:xfrm flipV="1">
            <a:off x="3733051" y="1381169"/>
            <a:ext cx="510337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904D2CC7-AC76-77BC-BAEB-EBB1EB418E29}"/>
              </a:ext>
            </a:extLst>
          </p:cNvPr>
          <p:cNvSpPr/>
          <p:nvPr/>
        </p:nvSpPr>
        <p:spPr>
          <a:xfrm>
            <a:off x="4869180" y="1927985"/>
            <a:ext cx="2183130" cy="11206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A1233B-0BD6-4073-9C92-B4D79134FF7B}"/>
              </a:ext>
            </a:extLst>
          </p:cNvPr>
          <p:cNvSpPr txBox="1"/>
          <p:nvPr/>
        </p:nvSpPr>
        <p:spPr>
          <a:xfrm>
            <a:off x="5474146" y="1931761"/>
            <a:ext cx="13035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Raspberry PI</a:t>
            </a:r>
            <a:endParaRPr lang="en-SG" sz="1400" b="1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E47B083-16BD-A3F0-7CE7-3FF2B424F9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5797" y="2016532"/>
            <a:ext cx="477824" cy="443694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908E961-E21D-6EAE-D614-55F0C18BD6EE}"/>
              </a:ext>
            </a:extLst>
          </p:cNvPr>
          <p:cNvSpPr/>
          <p:nvPr/>
        </p:nvSpPr>
        <p:spPr>
          <a:xfrm>
            <a:off x="5544683" y="2259151"/>
            <a:ext cx="1289026" cy="287243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/>
              <a:t>PLC Simulator</a:t>
            </a:r>
            <a:endParaRPr lang="en-SG" sz="1200" b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DB13330-634B-BB48-B026-94D3183DC4C4}"/>
              </a:ext>
            </a:extLst>
          </p:cNvPr>
          <p:cNvSpPr/>
          <p:nvPr/>
        </p:nvSpPr>
        <p:spPr>
          <a:xfrm>
            <a:off x="6716229" y="2622132"/>
            <a:ext cx="707725" cy="36576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Modbus Server</a:t>
            </a:r>
            <a:endParaRPr lang="en-SG" sz="1050" b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9B9123B-9207-9152-362F-454B5F99B725}"/>
              </a:ext>
            </a:extLst>
          </p:cNvPr>
          <p:cNvSpPr/>
          <p:nvPr/>
        </p:nvSpPr>
        <p:spPr>
          <a:xfrm>
            <a:off x="4917288" y="2657527"/>
            <a:ext cx="1134552" cy="24391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GPIO interface</a:t>
            </a:r>
            <a:endParaRPr lang="en-SG" sz="1050" b="1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BB9F1E5-09DC-F14D-D67E-609F2475C09C}"/>
              </a:ext>
            </a:extLst>
          </p:cNvPr>
          <p:cNvCxnSpPr>
            <a:cxnSpLocks/>
          </p:cNvCxnSpPr>
          <p:nvPr/>
        </p:nvCxnSpPr>
        <p:spPr>
          <a:xfrm>
            <a:off x="3265319" y="2529330"/>
            <a:ext cx="160386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4033A23-A0C5-7B52-653C-9EFEC23AA50B}"/>
              </a:ext>
            </a:extLst>
          </p:cNvPr>
          <p:cNvCxnSpPr>
            <a:cxnSpLocks/>
          </p:cNvCxnSpPr>
          <p:nvPr/>
        </p:nvCxnSpPr>
        <p:spPr>
          <a:xfrm>
            <a:off x="3265319" y="2707379"/>
            <a:ext cx="160386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50395C5-8DEC-B2C6-6F54-721FF664B1BB}"/>
              </a:ext>
            </a:extLst>
          </p:cNvPr>
          <p:cNvCxnSpPr>
            <a:cxnSpLocks/>
          </p:cNvCxnSpPr>
          <p:nvPr/>
        </p:nvCxnSpPr>
        <p:spPr>
          <a:xfrm>
            <a:off x="3260556" y="2877510"/>
            <a:ext cx="160386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088D0FB-AC99-7923-2DF1-31194DEDDD53}"/>
              </a:ext>
            </a:extLst>
          </p:cNvPr>
          <p:cNvSpPr txBox="1"/>
          <p:nvPr/>
        </p:nvSpPr>
        <p:spPr>
          <a:xfrm>
            <a:off x="1516116" y="2053966"/>
            <a:ext cx="1862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Physical OT device</a:t>
            </a:r>
            <a:endParaRPr lang="en-SG" sz="1400" b="1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913537-1CE1-6597-37DC-CB38AE72899D}"/>
              </a:ext>
            </a:extLst>
          </p:cNvPr>
          <p:cNvSpPr/>
          <p:nvPr/>
        </p:nvSpPr>
        <p:spPr>
          <a:xfrm>
            <a:off x="4855549" y="3288754"/>
            <a:ext cx="2183130" cy="118373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252C49-06ED-5CEB-8905-00FADFB74823}"/>
              </a:ext>
            </a:extLst>
          </p:cNvPr>
          <p:cNvSpPr txBox="1"/>
          <p:nvPr/>
        </p:nvSpPr>
        <p:spPr>
          <a:xfrm>
            <a:off x="5396944" y="3316624"/>
            <a:ext cx="17096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/>
              <a:t>BeagleBone</a:t>
            </a:r>
            <a:r>
              <a:rPr lang="en-US" sz="1400" b="1" dirty="0"/>
              <a:t>-Black</a:t>
            </a:r>
            <a:endParaRPr lang="en-SG" sz="1400" b="1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4709892-2C8C-14C1-DFC9-394BC694700F}"/>
              </a:ext>
            </a:extLst>
          </p:cNvPr>
          <p:cNvSpPr/>
          <p:nvPr/>
        </p:nvSpPr>
        <p:spPr>
          <a:xfrm>
            <a:off x="5474146" y="3658348"/>
            <a:ext cx="1289026" cy="287243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/>
              <a:t>RTU Simulator</a:t>
            </a:r>
            <a:endParaRPr lang="en-SG" sz="1200" b="1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D09E90E-3852-5ABD-367A-1057698E3BD7}"/>
              </a:ext>
            </a:extLst>
          </p:cNvPr>
          <p:cNvSpPr/>
          <p:nvPr/>
        </p:nvSpPr>
        <p:spPr>
          <a:xfrm>
            <a:off x="6716229" y="4051697"/>
            <a:ext cx="763694" cy="36576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S7Comm Server</a:t>
            </a:r>
            <a:endParaRPr lang="en-SG" sz="105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46239E7-3F14-DCC9-010F-DE22B62D3A04}"/>
              </a:ext>
            </a:extLst>
          </p:cNvPr>
          <p:cNvSpPr txBox="1"/>
          <p:nvPr/>
        </p:nvSpPr>
        <p:spPr>
          <a:xfrm>
            <a:off x="1529467" y="3498592"/>
            <a:ext cx="19272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Physical OT device with serial port</a:t>
            </a:r>
            <a:endParaRPr lang="en-SG" sz="1400" b="1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9A37708-3DA4-8223-0123-5554373951AC}"/>
              </a:ext>
            </a:extLst>
          </p:cNvPr>
          <p:cNvCxnSpPr>
            <a:cxnSpLocks/>
          </p:cNvCxnSpPr>
          <p:nvPr/>
        </p:nvCxnSpPr>
        <p:spPr>
          <a:xfrm>
            <a:off x="2726173" y="4805949"/>
            <a:ext cx="211564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093355-500E-0365-AEA0-EEAB781AFDD1}"/>
              </a:ext>
            </a:extLst>
          </p:cNvPr>
          <p:cNvCxnSpPr>
            <a:cxnSpLocks/>
          </p:cNvCxnSpPr>
          <p:nvPr/>
        </p:nvCxnSpPr>
        <p:spPr>
          <a:xfrm>
            <a:off x="2720500" y="5063250"/>
            <a:ext cx="21051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6FA5DEC-6E68-8D2F-1043-AC260C6D130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63772" y="3152175"/>
            <a:ext cx="438258" cy="438258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59" name="Rectangle 58">
            <a:extLst>
              <a:ext uri="{FF2B5EF4-FFF2-40B4-BE49-F238E27FC236}">
                <a16:creationId xmlns:a16="http://schemas.microsoft.com/office/drawing/2014/main" id="{8C256DFD-EC34-6374-ADAD-8A941CF6A452}"/>
              </a:ext>
            </a:extLst>
          </p:cNvPr>
          <p:cNvSpPr/>
          <p:nvPr/>
        </p:nvSpPr>
        <p:spPr>
          <a:xfrm>
            <a:off x="4945790" y="4140754"/>
            <a:ext cx="1150210" cy="23157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GPIO interface</a:t>
            </a:r>
            <a:endParaRPr lang="en-SG" sz="1100" b="1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DAAA7BF-D935-AB90-5E85-D3403E06BB2E}"/>
              </a:ext>
            </a:extLst>
          </p:cNvPr>
          <p:cNvSpPr/>
          <p:nvPr/>
        </p:nvSpPr>
        <p:spPr>
          <a:xfrm>
            <a:off x="4413415" y="3673837"/>
            <a:ext cx="750939" cy="34005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/>
              <a:t>UDP/TCP Interface</a:t>
            </a:r>
            <a:endParaRPr lang="en-SG" sz="1000" b="1" dirty="0"/>
          </a:p>
        </p:txBody>
      </p: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F6B068C6-41FC-CB18-02EB-86211BC402CD}"/>
              </a:ext>
            </a:extLst>
          </p:cNvPr>
          <p:cNvCxnSpPr>
            <a:cxnSpLocks/>
            <a:stCxn id="61" idx="1"/>
            <a:endCxn id="19" idx="0"/>
          </p:cNvCxnSpPr>
          <p:nvPr/>
        </p:nvCxnSpPr>
        <p:spPr>
          <a:xfrm rot="10800000">
            <a:off x="3320857" y="1205865"/>
            <a:ext cx="1092558" cy="2638003"/>
          </a:xfrm>
          <a:prstGeom prst="bentConnector4">
            <a:avLst>
              <a:gd name="adj1" fmla="val 39505"/>
              <a:gd name="adj2" fmla="val 88215"/>
            </a:avLst>
          </a:prstGeom>
          <a:ln>
            <a:solidFill>
              <a:schemeClr val="accent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7E54AF-93E0-73F5-EEA0-B71AEA3D18C9}"/>
              </a:ext>
            </a:extLst>
          </p:cNvPr>
          <p:cNvCxnSpPr>
            <a:cxnSpLocks/>
            <a:stCxn id="59" idx="1"/>
          </p:cNvCxnSpPr>
          <p:nvPr/>
        </p:nvCxnSpPr>
        <p:spPr>
          <a:xfrm rot="10800000">
            <a:off x="3237120" y="3048629"/>
            <a:ext cx="1708670" cy="1207911"/>
          </a:xfrm>
          <a:prstGeom prst="bentConnector3">
            <a:avLst>
              <a:gd name="adj1" fmla="val 6819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C60A1D16-D76C-B148-2572-923F1569B90D}"/>
              </a:ext>
            </a:extLst>
          </p:cNvPr>
          <p:cNvSpPr/>
          <p:nvPr/>
        </p:nvSpPr>
        <p:spPr>
          <a:xfrm>
            <a:off x="2908663" y="1205864"/>
            <a:ext cx="824388" cy="36576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UDP/TCP Interface</a:t>
            </a:r>
            <a:endParaRPr lang="en-SG" sz="1050" b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B9DAAB2-0CB1-76B4-969C-D28B8CA66855}"/>
              </a:ext>
            </a:extLst>
          </p:cNvPr>
          <p:cNvSpPr txBox="1"/>
          <p:nvPr/>
        </p:nvSpPr>
        <p:spPr>
          <a:xfrm>
            <a:off x="5833813" y="4706367"/>
            <a:ext cx="10484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Linus server</a:t>
            </a:r>
            <a:endParaRPr lang="en-SG" sz="1400" b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8551C2C-3580-9385-BF20-47FD4F1A6250}"/>
              </a:ext>
            </a:extLst>
          </p:cNvPr>
          <p:cNvSpPr/>
          <p:nvPr/>
        </p:nvSpPr>
        <p:spPr>
          <a:xfrm>
            <a:off x="5359949" y="5264836"/>
            <a:ext cx="1251803" cy="287243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/>
              <a:t>RTU  Simulator</a:t>
            </a:r>
            <a:endParaRPr lang="en-SG" sz="1200" b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F8CE376C-EAE1-792B-E562-AE1488E1641E}"/>
              </a:ext>
            </a:extLst>
          </p:cNvPr>
          <p:cNvSpPr/>
          <p:nvPr/>
        </p:nvSpPr>
        <p:spPr>
          <a:xfrm>
            <a:off x="6777710" y="4739404"/>
            <a:ext cx="734918" cy="36576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Modbus Server</a:t>
            </a:r>
            <a:endParaRPr lang="en-SG" sz="1100" b="1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4EBF0A5-D3B9-F52D-1594-B03D957D67C1}"/>
              </a:ext>
            </a:extLst>
          </p:cNvPr>
          <p:cNvSpPr/>
          <p:nvPr/>
        </p:nvSpPr>
        <p:spPr>
          <a:xfrm>
            <a:off x="6773090" y="5257788"/>
            <a:ext cx="767526" cy="36576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S7Comm Server</a:t>
            </a:r>
            <a:endParaRPr lang="en-SG" sz="1050" b="1" dirty="0"/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AF8B06E-A6C0-8FFE-C301-891DD730042B}"/>
              </a:ext>
            </a:extLst>
          </p:cNvPr>
          <p:cNvCxnSpPr>
            <a:cxnSpLocks/>
          </p:cNvCxnSpPr>
          <p:nvPr/>
        </p:nvCxnSpPr>
        <p:spPr>
          <a:xfrm>
            <a:off x="8072841" y="735576"/>
            <a:ext cx="0" cy="5014561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C45048D2-62DA-0425-08EC-D21CE083AD5C}"/>
              </a:ext>
            </a:extLst>
          </p:cNvPr>
          <p:cNvCxnSpPr>
            <a:cxnSpLocks/>
          </p:cNvCxnSpPr>
          <p:nvPr/>
        </p:nvCxnSpPr>
        <p:spPr>
          <a:xfrm>
            <a:off x="8667983" y="698522"/>
            <a:ext cx="0" cy="5088668"/>
          </a:xfrm>
          <a:prstGeom prst="line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DFC9037F-7469-0294-5067-DD0673261718}"/>
              </a:ext>
            </a:extLst>
          </p:cNvPr>
          <p:cNvSpPr txBox="1"/>
          <p:nvPr/>
        </p:nvSpPr>
        <p:spPr>
          <a:xfrm>
            <a:off x="7611287" y="474642"/>
            <a:ext cx="8333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3">
                    <a:lumMod val="75000"/>
                  </a:schemeClr>
                </a:solidFill>
              </a:rPr>
              <a:t>Modbus</a:t>
            </a:r>
            <a:r>
              <a:rPr lang="en-US" sz="1200" b="1" dirty="0"/>
              <a:t> </a:t>
            </a:r>
            <a:endParaRPr lang="en-SG" sz="1200" b="1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E3C1837-B3D1-174D-6FD7-F29C3211E994}"/>
              </a:ext>
            </a:extLst>
          </p:cNvPr>
          <p:cNvSpPr txBox="1"/>
          <p:nvPr/>
        </p:nvSpPr>
        <p:spPr>
          <a:xfrm>
            <a:off x="8345307" y="471400"/>
            <a:ext cx="11216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S7Comm bus </a:t>
            </a:r>
            <a:endParaRPr lang="en-SG" sz="12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3914107-7E32-CA37-FF9E-A12E7839F5DE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7477700" y="1388744"/>
            <a:ext cx="58168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3BC09B0-3933-49A6-0FD6-354DE8A0489A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7423954" y="2805012"/>
            <a:ext cx="64277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7DF596E9-810A-179A-6CE9-78ACEA6FD7B5}"/>
              </a:ext>
            </a:extLst>
          </p:cNvPr>
          <p:cNvCxnSpPr>
            <a:cxnSpLocks/>
          </p:cNvCxnSpPr>
          <p:nvPr/>
        </p:nvCxnSpPr>
        <p:spPr>
          <a:xfrm>
            <a:off x="7512628" y="4922284"/>
            <a:ext cx="554100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8E00382C-0F23-BB11-C26B-EAAB17561669}"/>
              </a:ext>
            </a:extLst>
          </p:cNvPr>
          <p:cNvCxnSpPr>
            <a:cxnSpLocks/>
          </p:cNvCxnSpPr>
          <p:nvPr/>
        </p:nvCxnSpPr>
        <p:spPr>
          <a:xfrm>
            <a:off x="7473839" y="4180549"/>
            <a:ext cx="1194144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E2A545E-CD0B-9A44-40BF-7A458D6BE939}"/>
              </a:ext>
            </a:extLst>
          </p:cNvPr>
          <p:cNvCxnSpPr>
            <a:cxnSpLocks/>
          </p:cNvCxnSpPr>
          <p:nvPr/>
        </p:nvCxnSpPr>
        <p:spPr>
          <a:xfrm>
            <a:off x="7540617" y="5452957"/>
            <a:ext cx="1143207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87E1DFF7-1D3A-D8B4-81BF-6BA8FDE82F9D}"/>
              </a:ext>
            </a:extLst>
          </p:cNvPr>
          <p:cNvSpPr/>
          <p:nvPr/>
        </p:nvSpPr>
        <p:spPr>
          <a:xfrm>
            <a:off x="9271678" y="899403"/>
            <a:ext cx="1292393" cy="120299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F090450-9450-FE7A-233C-F1C4124FCC3D}"/>
              </a:ext>
            </a:extLst>
          </p:cNvPr>
          <p:cNvSpPr txBox="1"/>
          <p:nvPr/>
        </p:nvSpPr>
        <p:spPr>
          <a:xfrm>
            <a:off x="9244189" y="909479"/>
            <a:ext cx="14994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SCADA HMI</a:t>
            </a:r>
            <a:endParaRPr lang="en-SG" sz="1400" b="1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244E06AA-17FD-CF38-EF2A-2359DAA36F5A}"/>
              </a:ext>
            </a:extLst>
          </p:cNvPr>
          <p:cNvSpPr/>
          <p:nvPr/>
        </p:nvSpPr>
        <p:spPr>
          <a:xfrm>
            <a:off x="9183013" y="1318373"/>
            <a:ext cx="1231637" cy="22713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Modbus Client</a:t>
            </a:r>
            <a:endParaRPr lang="en-SG" sz="1050" b="1" dirty="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905F9DD9-A703-3A6A-0494-92579921C430}"/>
              </a:ext>
            </a:extLst>
          </p:cNvPr>
          <p:cNvSpPr/>
          <p:nvPr/>
        </p:nvSpPr>
        <p:spPr>
          <a:xfrm>
            <a:off x="9183014" y="1674457"/>
            <a:ext cx="1231639" cy="238628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S7Comm Client</a:t>
            </a:r>
            <a:endParaRPr lang="en-SG" sz="1050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06D6A55-299D-A263-96C6-309744575EC5}"/>
              </a:ext>
            </a:extLst>
          </p:cNvPr>
          <p:cNvCxnSpPr>
            <a:cxnSpLocks/>
          </p:cNvCxnSpPr>
          <p:nvPr/>
        </p:nvCxnSpPr>
        <p:spPr>
          <a:xfrm>
            <a:off x="8051898" y="1450513"/>
            <a:ext cx="1111235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2852EDF-FCC8-96D7-F7B3-C8E9DBEC2627}"/>
              </a:ext>
            </a:extLst>
          </p:cNvPr>
          <p:cNvCxnSpPr>
            <a:cxnSpLocks/>
          </p:cNvCxnSpPr>
          <p:nvPr/>
        </p:nvCxnSpPr>
        <p:spPr>
          <a:xfrm>
            <a:off x="8667983" y="1788645"/>
            <a:ext cx="515031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>
            <a:extLst>
              <a:ext uri="{FF2B5EF4-FFF2-40B4-BE49-F238E27FC236}">
                <a16:creationId xmlns:a16="http://schemas.microsoft.com/office/drawing/2014/main" id="{DB4EE7A6-DAFD-2D87-AC2F-39301BDADF5D}"/>
              </a:ext>
            </a:extLst>
          </p:cNvPr>
          <p:cNvSpPr/>
          <p:nvPr/>
        </p:nvSpPr>
        <p:spPr>
          <a:xfrm>
            <a:off x="9289544" y="2293270"/>
            <a:ext cx="1274530" cy="90019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07F6CC9-69C7-1EBA-D128-9E45A54896B4}"/>
              </a:ext>
            </a:extLst>
          </p:cNvPr>
          <p:cNvSpPr txBox="1"/>
          <p:nvPr/>
        </p:nvSpPr>
        <p:spPr>
          <a:xfrm>
            <a:off x="9259710" y="2282337"/>
            <a:ext cx="14282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ICS Remote Console</a:t>
            </a:r>
            <a:endParaRPr lang="en-SG" sz="1400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2A336C96-B24A-BED1-6A84-9378AEA5E8A2}"/>
              </a:ext>
            </a:extLst>
          </p:cNvPr>
          <p:cNvCxnSpPr>
            <a:cxnSpLocks/>
          </p:cNvCxnSpPr>
          <p:nvPr/>
        </p:nvCxnSpPr>
        <p:spPr>
          <a:xfrm>
            <a:off x="8687862" y="2961276"/>
            <a:ext cx="475271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16288571-CCC5-D769-2585-E816BCF7F05C}"/>
              </a:ext>
            </a:extLst>
          </p:cNvPr>
          <p:cNvSpPr/>
          <p:nvPr/>
        </p:nvSpPr>
        <p:spPr>
          <a:xfrm>
            <a:off x="9281130" y="3387470"/>
            <a:ext cx="1335289" cy="95937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CDFE05AA-915C-764A-E608-3559B389E562}"/>
              </a:ext>
            </a:extLst>
          </p:cNvPr>
          <p:cNvSpPr txBox="1"/>
          <p:nvPr/>
        </p:nvSpPr>
        <p:spPr>
          <a:xfrm>
            <a:off x="9223051" y="3416754"/>
            <a:ext cx="1560641" cy="5327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ICS Engineering station </a:t>
            </a:r>
            <a:endParaRPr lang="en-SG" sz="1400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1A02E87-5D85-A344-858B-83F495F724D1}"/>
              </a:ext>
            </a:extLst>
          </p:cNvPr>
          <p:cNvCxnSpPr>
            <a:cxnSpLocks/>
            <a:endCxn id="142" idx="1"/>
          </p:cNvCxnSpPr>
          <p:nvPr/>
        </p:nvCxnSpPr>
        <p:spPr>
          <a:xfrm>
            <a:off x="8076179" y="4045204"/>
            <a:ext cx="1033331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3BAD348A-BD1E-9C8F-DFCC-2C35F05E4C2B}"/>
              </a:ext>
            </a:extLst>
          </p:cNvPr>
          <p:cNvSpPr/>
          <p:nvPr/>
        </p:nvSpPr>
        <p:spPr>
          <a:xfrm>
            <a:off x="4380264" y="4759628"/>
            <a:ext cx="830514" cy="36576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Serial interface</a:t>
            </a:r>
            <a:endParaRPr lang="en-SG" sz="1050" b="1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997CDF8A-914D-1DEC-4B42-88617EA5E45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08687" y="5503897"/>
            <a:ext cx="799952" cy="39187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4774180-BF9F-DF68-DCB0-F5B2989702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54946" y="5503291"/>
            <a:ext cx="826034" cy="397968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6B03C689-2675-1B86-2E87-622554B23443}"/>
              </a:ext>
            </a:extLst>
          </p:cNvPr>
          <p:cNvSpPr txBox="1"/>
          <p:nvPr/>
        </p:nvSpPr>
        <p:spPr>
          <a:xfrm>
            <a:off x="1483530" y="5157960"/>
            <a:ext cx="19272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OT wireless sensors</a:t>
            </a:r>
            <a:endParaRPr lang="en-SG" sz="1400" b="1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271F8C1-3695-FC71-7B80-34828EA34613}"/>
              </a:ext>
            </a:extLst>
          </p:cNvPr>
          <p:cNvSpPr/>
          <p:nvPr/>
        </p:nvSpPr>
        <p:spPr>
          <a:xfrm>
            <a:off x="4393501" y="5320551"/>
            <a:ext cx="824388" cy="36576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UDP/TCP Interface</a:t>
            </a:r>
            <a:endParaRPr lang="en-SG" sz="1050" b="1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EACDE7A-555D-C5BC-8F52-39D51DC3D824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3378179" y="5503431"/>
            <a:ext cx="1015322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536F42C-BD1C-E670-2C12-9491B201BEAB}"/>
              </a:ext>
            </a:extLst>
          </p:cNvPr>
          <p:cNvSpPr txBox="1"/>
          <p:nvPr/>
        </p:nvSpPr>
        <p:spPr>
          <a:xfrm>
            <a:off x="3952232" y="1651314"/>
            <a:ext cx="11850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>
                    <a:lumMod val="75000"/>
                  </a:schemeClr>
                </a:solidFill>
              </a:rPr>
              <a:t>Network connection simulate electrical wire</a:t>
            </a:r>
            <a:endParaRPr lang="en-SG" sz="1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92FE7B-DECA-FF81-ECEA-D2695F4A7D3B}"/>
              </a:ext>
            </a:extLst>
          </p:cNvPr>
          <p:cNvSpPr txBox="1"/>
          <p:nvPr/>
        </p:nvSpPr>
        <p:spPr>
          <a:xfrm>
            <a:off x="3936430" y="2501331"/>
            <a:ext cx="10200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Physical electrical wire </a:t>
            </a:r>
            <a:endParaRPr lang="en-SG" sz="10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F26B72-7A34-5ED5-8922-B94DB577B6DE}"/>
              </a:ext>
            </a:extLst>
          </p:cNvPr>
          <p:cNvSpPr txBox="1"/>
          <p:nvPr/>
        </p:nvSpPr>
        <p:spPr>
          <a:xfrm>
            <a:off x="2880968" y="4587163"/>
            <a:ext cx="153244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USB to RS232 adapter</a:t>
            </a:r>
            <a:endParaRPr lang="en-SG" sz="10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D45DDE-1A91-4709-71EB-3B8DB449F429}"/>
              </a:ext>
            </a:extLst>
          </p:cNvPr>
          <p:cNvSpPr txBox="1"/>
          <p:nvPr/>
        </p:nvSpPr>
        <p:spPr>
          <a:xfrm>
            <a:off x="2874385" y="4836235"/>
            <a:ext cx="153244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USB to RS485 adapter</a:t>
            </a:r>
            <a:endParaRPr lang="en-SG" sz="10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38E1CA-564C-BD33-2B08-9830768C8349}"/>
              </a:ext>
            </a:extLst>
          </p:cNvPr>
          <p:cNvSpPr txBox="1"/>
          <p:nvPr/>
        </p:nvSpPr>
        <p:spPr>
          <a:xfrm>
            <a:off x="3414150" y="5515299"/>
            <a:ext cx="11899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Wireless connection</a:t>
            </a:r>
            <a:endParaRPr lang="en-SG" sz="1000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B76FE4A2-16CB-5785-E943-830B7AABD0C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52208" y="4759628"/>
            <a:ext cx="436376" cy="421830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3F575C6A-B271-8236-371F-705DF8DBE1F2}"/>
              </a:ext>
            </a:extLst>
          </p:cNvPr>
          <p:cNvSpPr/>
          <p:nvPr/>
        </p:nvSpPr>
        <p:spPr>
          <a:xfrm>
            <a:off x="6044911" y="1554533"/>
            <a:ext cx="210139" cy="1965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B592503-32D5-5B1D-75E9-59B221370DD9}"/>
              </a:ext>
            </a:extLst>
          </p:cNvPr>
          <p:cNvSpPr/>
          <p:nvPr/>
        </p:nvSpPr>
        <p:spPr>
          <a:xfrm>
            <a:off x="6996175" y="2212647"/>
            <a:ext cx="182075" cy="1648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AF0C5B6-B84A-3911-25E1-80C2767BB7BA}"/>
              </a:ext>
            </a:extLst>
          </p:cNvPr>
          <p:cNvCxnSpPr>
            <a:cxnSpLocks/>
            <a:stCxn id="65" idx="2"/>
            <a:endCxn id="66" idx="3"/>
          </p:cNvCxnSpPr>
          <p:nvPr/>
        </p:nvCxnSpPr>
        <p:spPr>
          <a:xfrm rot="16200000" flipH="1">
            <a:off x="6392127" y="1508969"/>
            <a:ext cx="543976" cy="1028269"/>
          </a:xfrm>
          <a:prstGeom prst="bentConnector4">
            <a:avLst>
              <a:gd name="adj1" fmla="val -9688"/>
              <a:gd name="adj2" fmla="val 12223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81E4C46-6298-E768-EAEB-A6863A52F67E}"/>
              </a:ext>
            </a:extLst>
          </p:cNvPr>
          <p:cNvSpPr txBox="1"/>
          <p:nvPr/>
        </p:nvSpPr>
        <p:spPr>
          <a:xfrm>
            <a:off x="7002116" y="1772310"/>
            <a:ext cx="11899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RS422 multi-dop connection</a:t>
            </a:r>
            <a:endParaRPr lang="en-SG" sz="1000" dirty="0"/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B58E6391-96F2-80E1-88D4-C0F3783551C3}"/>
              </a:ext>
            </a:extLst>
          </p:cNvPr>
          <p:cNvCxnSpPr>
            <a:stCxn id="17" idx="3"/>
            <a:endCxn id="15" idx="1"/>
          </p:cNvCxnSpPr>
          <p:nvPr/>
        </p:nvCxnSpPr>
        <p:spPr>
          <a:xfrm flipV="1">
            <a:off x="5067776" y="1306892"/>
            <a:ext cx="35113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BD53165C-AE7C-E969-1CE1-5ABBC38378F3}"/>
              </a:ext>
            </a:extLst>
          </p:cNvPr>
          <p:cNvCxnSpPr>
            <a:cxnSpLocks/>
          </p:cNvCxnSpPr>
          <p:nvPr/>
        </p:nvCxnSpPr>
        <p:spPr>
          <a:xfrm flipV="1">
            <a:off x="6545273" y="1300193"/>
            <a:ext cx="2278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94C48816-87A0-5CBC-161B-39C894314403}"/>
              </a:ext>
            </a:extLst>
          </p:cNvPr>
          <p:cNvCxnSpPr>
            <a:cxnSpLocks/>
          </p:cNvCxnSpPr>
          <p:nvPr/>
        </p:nvCxnSpPr>
        <p:spPr>
          <a:xfrm flipV="1">
            <a:off x="6142687" y="1450513"/>
            <a:ext cx="0" cy="952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F7F6E9F8-BBC4-6D1B-E762-40015CB08B31}"/>
              </a:ext>
            </a:extLst>
          </p:cNvPr>
          <p:cNvCxnSpPr>
            <a:cxnSpLocks/>
          </p:cNvCxnSpPr>
          <p:nvPr/>
        </p:nvCxnSpPr>
        <p:spPr>
          <a:xfrm flipV="1">
            <a:off x="5621987" y="2524867"/>
            <a:ext cx="0" cy="1326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AFCA3A2-934B-E380-4E12-71E10ABDF0A0}"/>
              </a:ext>
            </a:extLst>
          </p:cNvPr>
          <p:cNvCxnSpPr>
            <a:cxnSpLocks/>
          </p:cNvCxnSpPr>
          <p:nvPr/>
        </p:nvCxnSpPr>
        <p:spPr>
          <a:xfrm flipV="1">
            <a:off x="6773090" y="2526891"/>
            <a:ext cx="0" cy="952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AB0DF600-9F3D-23AB-83D8-717A7078B6FC}"/>
              </a:ext>
            </a:extLst>
          </p:cNvPr>
          <p:cNvCxnSpPr/>
          <p:nvPr/>
        </p:nvCxnSpPr>
        <p:spPr>
          <a:xfrm flipV="1">
            <a:off x="5164354" y="3781711"/>
            <a:ext cx="35113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E294BEED-6B2B-897C-66B2-68891A4A1BAE}"/>
              </a:ext>
            </a:extLst>
          </p:cNvPr>
          <p:cNvCxnSpPr>
            <a:cxnSpLocks/>
          </p:cNvCxnSpPr>
          <p:nvPr/>
        </p:nvCxnSpPr>
        <p:spPr>
          <a:xfrm flipV="1">
            <a:off x="5698187" y="3926848"/>
            <a:ext cx="0" cy="20057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7389E954-F4CC-44E9-E0D6-04474CD756FA}"/>
              </a:ext>
            </a:extLst>
          </p:cNvPr>
          <p:cNvCxnSpPr>
            <a:cxnSpLocks/>
            <a:endCxn id="43" idx="1"/>
          </p:cNvCxnSpPr>
          <p:nvPr/>
        </p:nvCxnSpPr>
        <p:spPr>
          <a:xfrm>
            <a:off x="6329707" y="3926848"/>
            <a:ext cx="386522" cy="30772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DDACD1B6-45BB-68C2-D3D0-3F0960954F6A}"/>
              </a:ext>
            </a:extLst>
          </p:cNvPr>
          <p:cNvCxnSpPr>
            <a:cxnSpLocks/>
            <a:endCxn id="75" idx="1"/>
          </p:cNvCxnSpPr>
          <p:nvPr/>
        </p:nvCxnSpPr>
        <p:spPr>
          <a:xfrm flipV="1">
            <a:off x="5204709" y="5408458"/>
            <a:ext cx="15524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8C6398EF-E93F-2A88-F0FD-8FB32E5306DF}"/>
              </a:ext>
            </a:extLst>
          </p:cNvPr>
          <p:cNvCxnSpPr>
            <a:cxnSpLocks/>
          </p:cNvCxnSpPr>
          <p:nvPr/>
        </p:nvCxnSpPr>
        <p:spPr>
          <a:xfrm flipV="1">
            <a:off x="6617850" y="5381315"/>
            <a:ext cx="15524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C2CF0D07-A10B-A92C-9AA6-0137A3CF76E2}"/>
              </a:ext>
            </a:extLst>
          </p:cNvPr>
          <p:cNvCxnSpPr>
            <a:cxnSpLocks/>
            <a:stCxn id="42" idx="3"/>
            <a:endCxn id="75" idx="1"/>
          </p:cNvCxnSpPr>
          <p:nvPr/>
        </p:nvCxnSpPr>
        <p:spPr>
          <a:xfrm>
            <a:off x="5210778" y="4942508"/>
            <a:ext cx="149171" cy="4659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E0362DE5-2525-E1DA-92EE-F439A5D8408B}"/>
              </a:ext>
            </a:extLst>
          </p:cNvPr>
          <p:cNvCxnSpPr>
            <a:cxnSpLocks/>
            <a:stCxn id="76" idx="1"/>
            <a:endCxn id="75" idx="3"/>
          </p:cNvCxnSpPr>
          <p:nvPr/>
        </p:nvCxnSpPr>
        <p:spPr>
          <a:xfrm flipH="1">
            <a:off x="6611752" y="4922284"/>
            <a:ext cx="165958" cy="4861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E4FF6A0-29CC-6830-5FD7-88F938EEDE79}"/>
              </a:ext>
            </a:extLst>
          </p:cNvPr>
          <p:cNvSpPr/>
          <p:nvPr/>
        </p:nvSpPr>
        <p:spPr>
          <a:xfrm>
            <a:off x="9162814" y="2815437"/>
            <a:ext cx="1231639" cy="238628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S7Comm Client</a:t>
            </a:r>
            <a:endParaRPr lang="en-SG" sz="1050" b="1" dirty="0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D73E4106-05CF-65B2-2582-F67D979CCE26}"/>
              </a:ext>
            </a:extLst>
          </p:cNvPr>
          <p:cNvSpPr/>
          <p:nvPr/>
        </p:nvSpPr>
        <p:spPr>
          <a:xfrm>
            <a:off x="9109510" y="3931638"/>
            <a:ext cx="1231637" cy="22713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Modbus Client</a:t>
            </a:r>
            <a:endParaRPr lang="en-SG" sz="1050" b="1" dirty="0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9772B7BF-4DE1-7119-9BB6-BDA4810BE062}"/>
              </a:ext>
            </a:extLst>
          </p:cNvPr>
          <p:cNvSpPr/>
          <p:nvPr/>
        </p:nvSpPr>
        <p:spPr>
          <a:xfrm>
            <a:off x="9299168" y="4580396"/>
            <a:ext cx="1317249" cy="12067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D0CCC798-606F-1AD4-1E0F-D7FCB4CAE255}"/>
              </a:ext>
            </a:extLst>
          </p:cNvPr>
          <p:cNvSpPr txBox="1"/>
          <p:nvPr/>
        </p:nvSpPr>
        <p:spPr>
          <a:xfrm>
            <a:off x="9271679" y="4590472"/>
            <a:ext cx="14994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Historian</a:t>
            </a:r>
            <a:endParaRPr lang="en-SG" sz="1400" b="1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CF7CC61-380C-1BA0-9E32-86C121497927}"/>
              </a:ext>
            </a:extLst>
          </p:cNvPr>
          <p:cNvSpPr/>
          <p:nvPr/>
        </p:nvSpPr>
        <p:spPr>
          <a:xfrm>
            <a:off x="9109510" y="4990543"/>
            <a:ext cx="1231637" cy="22713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Modbus Client</a:t>
            </a:r>
            <a:endParaRPr lang="en-SG" sz="1050" b="1" dirty="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533A3D83-FBFC-FCA2-C599-1B8502FC4404}"/>
              </a:ext>
            </a:extLst>
          </p:cNvPr>
          <p:cNvSpPr/>
          <p:nvPr/>
        </p:nvSpPr>
        <p:spPr>
          <a:xfrm>
            <a:off x="9115175" y="5401086"/>
            <a:ext cx="1231639" cy="238628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S7Comm Client</a:t>
            </a:r>
            <a:endParaRPr lang="en-SG" sz="1050" b="1" dirty="0"/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2A3C7F91-4DF0-92C1-F700-EE192156EA54}"/>
              </a:ext>
            </a:extLst>
          </p:cNvPr>
          <p:cNvCxnSpPr>
            <a:cxnSpLocks/>
          </p:cNvCxnSpPr>
          <p:nvPr/>
        </p:nvCxnSpPr>
        <p:spPr>
          <a:xfrm>
            <a:off x="8076179" y="5137837"/>
            <a:ext cx="1033331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592670F6-62AF-943A-94ED-45A2D539E920}"/>
              </a:ext>
            </a:extLst>
          </p:cNvPr>
          <p:cNvCxnSpPr>
            <a:cxnSpLocks/>
          </p:cNvCxnSpPr>
          <p:nvPr/>
        </p:nvCxnSpPr>
        <p:spPr>
          <a:xfrm>
            <a:off x="8668510" y="5515299"/>
            <a:ext cx="441000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6692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computer network&#10;&#10;Description automatically generated with medium confidence">
            <a:extLst>
              <a:ext uri="{FF2B5EF4-FFF2-40B4-BE49-F238E27FC236}">
                <a16:creationId xmlns:a16="http://schemas.microsoft.com/office/drawing/2014/main" id="{CE09879B-23DF-131F-9327-A5A231EFF4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7679" y="710183"/>
            <a:ext cx="6379029" cy="484806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5C869AA-FB17-B7C5-2976-5BFCC5490861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714068" y="2491191"/>
            <a:ext cx="2042298" cy="86160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A146CB-E74E-FC04-5E20-931B2BD10D5F}"/>
              </a:ext>
            </a:extLst>
          </p:cNvPr>
          <p:cNvSpPr txBox="1"/>
          <p:nvPr/>
        </p:nvSpPr>
        <p:spPr>
          <a:xfrm>
            <a:off x="1515291" y="1983359"/>
            <a:ext cx="2198777" cy="1015663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Modbus-TCP and S7Comm interface for user to build their own HMI and Operation management Zone service </a:t>
            </a:r>
            <a:endParaRPr lang="en-SG" sz="1200" b="1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055D66C-7375-BD05-21D7-E523C1063B1E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714068" y="2491191"/>
            <a:ext cx="2042298" cy="16889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9AF2169-1EFD-16CE-4C93-9A9B2FF201C9}"/>
              </a:ext>
            </a:extLst>
          </p:cNvPr>
          <p:cNvCxnSpPr>
            <a:cxnSpLocks/>
            <a:stCxn id="22" idx="3"/>
          </p:cNvCxnSpPr>
          <p:nvPr/>
        </p:nvCxnSpPr>
        <p:spPr>
          <a:xfrm>
            <a:off x="3714069" y="3903851"/>
            <a:ext cx="2042297" cy="5658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157174A-3E80-0AC8-6589-FFF3B0F99673}"/>
              </a:ext>
            </a:extLst>
          </p:cNvPr>
          <p:cNvSpPr txBox="1"/>
          <p:nvPr/>
        </p:nvSpPr>
        <p:spPr>
          <a:xfrm>
            <a:off x="1515291" y="3488352"/>
            <a:ext cx="2198778" cy="83099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PLC and RTU simulation program for user to build different Level1 field controller </a:t>
            </a:r>
            <a:endParaRPr lang="en-SG" sz="1200" b="1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065E338-70E8-C1F2-4241-3A1AE5E96EF4}"/>
              </a:ext>
            </a:extLst>
          </p:cNvPr>
          <p:cNvCxnSpPr>
            <a:cxnSpLocks/>
          </p:cNvCxnSpPr>
          <p:nvPr/>
        </p:nvCxnSpPr>
        <p:spPr>
          <a:xfrm>
            <a:off x="3714068" y="4849020"/>
            <a:ext cx="22948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3CC7EE5-553D-2536-2F29-44AFB4052A50}"/>
              </a:ext>
            </a:extLst>
          </p:cNvPr>
          <p:cNvSpPr txBox="1"/>
          <p:nvPr/>
        </p:nvSpPr>
        <p:spPr>
          <a:xfrm>
            <a:off x="1528216" y="4718309"/>
            <a:ext cx="2185852" cy="83099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connection interface lib for user to connect to the virtual or physical level0 OT device </a:t>
            </a:r>
            <a:endParaRPr lang="en-SG" sz="1200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72EF458-4DC6-AD7C-16E1-2CCBBAD98145}"/>
              </a:ext>
            </a:extLst>
          </p:cNvPr>
          <p:cNvSpPr/>
          <p:nvPr/>
        </p:nvSpPr>
        <p:spPr>
          <a:xfrm>
            <a:off x="4458789" y="2751909"/>
            <a:ext cx="6087291" cy="2690948"/>
          </a:xfrm>
          <a:prstGeom prst="rect">
            <a:avLst/>
          </a:prstGeom>
          <a:noFill/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6E820B-5D62-47CC-AD6A-C7DC10DA5FCA}"/>
              </a:ext>
            </a:extLst>
          </p:cNvPr>
          <p:cNvSpPr txBox="1"/>
          <p:nvPr/>
        </p:nvSpPr>
        <p:spPr>
          <a:xfrm>
            <a:off x="1528215" y="627026"/>
            <a:ext cx="259964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The library is focus on provide different </a:t>
            </a:r>
            <a:r>
              <a:rPr lang="en-US" sz="1400" b="1"/>
              <a:t>function for </a:t>
            </a:r>
            <a:r>
              <a:rPr lang="en-US" sz="1400" b="1" dirty="0"/>
              <a:t>simulating the level-0 layer to level-2/3 layer on the OT system </a:t>
            </a:r>
            <a:endParaRPr lang="en-SG" sz="1400" b="1" dirty="0"/>
          </a:p>
        </p:txBody>
      </p:sp>
    </p:spTree>
    <p:extLst>
      <p:ext uri="{BB962C8B-B14F-4D97-AF65-F5344CB8AC3E}">
        <p14:creationId xmlns:p14="http://schemas.microsoft.com/office/powerpoint/2010/main" val="1488098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computer network&#10;&#10;Description automatically generated with medium confidence">
            <a:extLst>
              <a:ext uri="{FF2B5EF4-FFF2-40B4-BE49-F238E27FC236}">
                <a16:creationId xmlns:a16="http://schemas.microsoft.com/office/drawing/2014/main" id="{C73D6E50-D46F-6E05-9713-7ABF2B7FCF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1" t="40830" r="2289" b="4449"/>
          <a:stretch/>
        </p:blipFill>
        <p:spPr>
          <a:xfrm>
            <a:off x="3714068" y="1805940"/>
            <a:ext cx="7416703" cy="324612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E92E0AF-485B-972F-CB12-4311B2CA012B}"/>
              </a:ext>
            </a:extLst>
          </p:cNvPr>
          <p:cNvCxnSpPr>
            <a:cxnSpLocks/>
          </p:cNvCxnSpPr>
          <p:nvPr/>
        </p:nvCxnSpPr>
        <p:spPr>
          <a:xfrm>
            <a:off x="3502310" y="4436284"/>
            <a:ext cx="19986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5006E7F-572D-EF3F-1033-BB1733015ED1}"/>
              </a:ext>
            </a:extLst>
          </p:cNvPr>
          <p:cNvSpPr txBox="1"/>
          <p:nvPr/>
        </p:nvSpPr>
        <p:spPr>
          <a:xfrm>
            <a:off x="1303532" y="4168656"/>
            <a:ext cx="2185852" cy="83099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connection interface lib for user to connect to the virtual or physical level0 OT device </a:t>
            </a:r>
            <a:endParaRPr lang="en-SG" sz="1200" b="1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2948DE0-5F13-B054-A191-BB54216945FC}"/>
              </a:ext>
            </a:extLst>
          </p:cNvPr>
          <p:cNvCxnSpPr>
            <a:cxnSpLocks/>
          </p:cNvCxnSpPr>
          <p:nvPr/>
        </p:nvCxnSpPr>
        <p:spPr>
          <a:xfrm>
            <a:off x="3502310" y="3951458"/>
            <a:ext cx="2166970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C50945C-1B8E-3F39-D589-87177729FE57}"/>
              </a:ext>
            </a:extLst>
          </p:cNvPr>
          <p:cNvSpPr txBox="1"/>
          <p:nvPr/>
        </p:nvSpPr>
        <p:spPr>
          <a:xfrm>
            <a:off x="1303532" y="3179254"/>
            <a:ext cx="2198778" cy="83099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PLC and RTU simulation program for user to build different Level1 field controller </a:t>
            </a:r>
            <a:endParaRPr lang="en-SG" sz="12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564BF0-D3FB-DF12-3227-729923F21D8C}"/>
              </a:ext>
            </a:extLst>
          </p:cNvPr>
          <p:cNvSpPr txBox="1"/>
          <p:nvPr/>
        </p:nvSpPr>
        <p:spPr>
          <a:xfrm>
            <a:off x="1303534" y="1954865"/>
            <a:ext cx="2198777" cy="1015663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IEC-60870-5-104 Communication interface for user to build their own HMI and Operation management Zone service </a:t>
            </a:r>
            <a:endParaRPr lang="en-SG" sz="1200" b="1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03602DA-1B4D-506A-0AF2-45B620216B07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3502311" y="2462697"/>
            <a:ext cx="1837785" cy="1307957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3CB2AD7-AA69-D4FB-B463-FF964D2641E6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3502311" y="2462697"/>
            <a:ext cx="1654905" cy="77412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94AB7E7-CB4D-C98D-C9B1-A8286B5B5C0C}"/>
              </a:ext>
            </a:extLst>
          </p:cNvPr>
          <p:cNvSpPr txBox="1"/>
          <p:nvPr/>
        </p:nvSpPr>
        <p:spPr>
          <a:xfrm>
            <a:off x="5831172" y="3891658"/>
            <a:ext cx="5296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PLC</a:t>
            </a:r>
            <a:endParaRPr lang="en-SG" sz="12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FB871E-A1FC-4494-615C-2C42D6B22C86}"/>
              </a:ext>
            </a:extLst>
          </p:cNvPr>
          <p:cNvSpPr txBox="1"/>
          <p:nvPr/>
        </p:nvSpPr>
        <p:spPr>
          <a:xfrm>
            <a:off x="6892764" y="3891657"/>
            <a:ext cx="5296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RTU</a:t>
            </a:r>
            <a:endParaRPr lang="en-SG" sz="12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6A572C-B6D1-D74F-B851-C184FB2DA639}"/>
              </a:ext>
            </a:extLst>
          </p:cNvPr>
          <p:cNvSpPr txBox="1"/>
          <p:nvPr/>
        </p:nvSpPr>
        <p:spPr>
          <a:xfrm>
            <a:off x="5500996" y="3171539"/>
            <a:ext cx="9918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IEC104 Client </a:t>
            </a:r>
            <a:endParaRPr lang="en-SG" sz="12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CE31EDE-1481-DB57-27B8-F701BB074798}"/>
              </a:ext>
            </a:extLst>
          </p:cNvPr>
          <p:cNvSpPr txBox="1"/>
          <p:nvPr/>
        </p:nvSpPr>
        <p:spPr>
          <a:xfrm>
            <a:off x="5340096" y="3689972"/>
            <a:ext cx="12018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IEC104 Server</a:t>
            </a:r>
            <a:endParaRPr lang="en-SG" sz="12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661ACB-550B-D42C-8585-CAA25544D5E3}"/>
              </a:ext>
            </a:extLst>
          </p:cNvPr>
          <p:cNvSpPr txBox="1"/>
          <p:nvPr/>
        </p:nvSpPr>
        <p:spPr>
          <a:xfrm>
            <a:off x="7879037" y="3456252"/>
            <a:ext cx="30094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Electrical Signal Simulation Link Clients</a:t>
            </a:r>
            <a:endParaRPr lang="en-SG" sz="1200" b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7D85581-947F-BB1C-6947-3B65D4FB1F78}"/>
              </a:ext>
            </a:extLst>
          </p:cNvPr>
          <p:cNvCxnSpPr>
            <a:cxnSpLocks/>
            <a:stCxn id="26" idx="1"/>
          </p:cNvCxnSpPr>
          <p:nvPr/>
        </p:nvCxnSpPr>
        <p:spPr>
          <a:xfrm flipH="1">
            <a:off x="7295308" y="3594752"/>
            <a:ext cx="583729" cy="59631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4CED1937-09A1-F2E1-7AAD-AFE4EB515F49}"/>
              </a:ext>
            </a:extLst>
          </p:cNvPr>
          <p:cNvSpPr txBox="1"/>
          <p:nvPr/>
        </p:nvSpPr>
        <p:spPr>
          <a:xfrm>
            <a:off x="7879037" y="4483061"/>
            <a:ext cx="30094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Electrical Signal Simulation Link Server</a:t>
            </a:r>
            <a:endParaRPr lang="en-SG" sz="1200" b="1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D04A119-ABCA-7D6F-4807-E4F02D806873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7295308" y="4621561"/>
            <a:ext cx="58372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0858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4E04BA6-1FA4-6585-22EE-4BD06DBB1FB9}"/>
              </a:ext>
            </a:extLst>
          </p:cNvPr>
          <p:cNvCxnSpPr/>
          <p:nvPr/>
        </p:nvCxnSpPr>
        <p:spPr>
          <a:xfrm>
            <a:off x="1301215" y="1623056"/>
            <a:ext cx="0" cy="42672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EB95DA1-65B0-7BB3-F7DB-A613AB7E7318}"/>
              </a:ext>
            </a:extLst>
          </p:cNvPr>
          <p:cNvCxnSpPr>
            <a:cxnSpLocks/>
          </p:cNvCxnSpPr>
          <p:nvPr/>
        </p:nvCxnSpPr>
        <p:spPr>
          <a:xfrm flipV="1">
            <a:off x="1692552" y="1623056"/>
            <a:ext cx="1460" cy="42672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8D0B765-FA56-CB9F-BF44-BFBC7DD848BC}"/>
              </a:ext>
            </a:extLst>
          </p:cNvPr>
          <p:cNvCxnSpPr>
            <a:cxnSpLocks/>
          </p:cNvCxnSpPr>
          <p:nvPr/>
        </p:nvCxnSpPr>
        <p:spPr>
          <a:xfrm>
            <a:off x="1301215" y="1623730"/>
            <a:ext cx="392066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2609C86-16D3-228B-DE4A-0A650DE4339E}"/>
              </a:ext>
            </a:extLst>
          </p:cNvPr>
          <p:cNvCxnSpPr>
            <a:cxnSpLocks/>
          </p:cNvCxnSpPr>
          <p:nvPr/>
        </p:nvCxnSpPr>
        <p:spPr>
          <a:xfrm>
            <a:off x="1692552" y="2049776"/>
            <a:ext cx="3068387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65FC113-3C1F-9900-9AC1-CD94499FDE01}"/>
              </a:ext>
            </a:extLst>
          </p:cNvPr>
          <p:cNvCxnSpPr/>
          <p:nvPr/>
        </p:nvCxnSpPr>
        <p:spPr>
          <a:xfrm>
            <a:off x="4760939" y="1623056"/>
            <a:ext cx="0" cy="42672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D34150F-B6C0-C5A5-F533-F260439E9E00}"/>
              </a:ext>
            </a:extLst>
          </p:cNvPr>
          <p:cNvCxnSpPr>
            <a:cxnSpLocks/>
          </p:cNvCxnSpPr>
          <p:nvPr/>
        </p:nvCxnSpPr>
        <p:spPr>
          <a:xfrm flipH="1">
            <a:off x="4760939" y="1623056"/>
            <a:ext cx="421683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43E73BE-F633-1EC4-8F0E-86F2A206E56A}"/>
              </a:ext>
            </a:extLst>
          </p:cNvPr>
          <p:cNvCxnSpPr/>
          <p:nvPr/>
        </p:nvCxnSpPr>
        <p:spPr>
          <a:xfrm>
            <a:off x="5176522" y="1623056"/>
            <a:ext cx="0" cy="42672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0A0BB0D-069C-E607-982F-7369D5EA555D}"/>
              </a:ext>
            </a:extLst>
          </p:cNvPr>
          <p:cNvCxnSpPr>
            <a:cxnSpLocks/>
          </p:cNvCxnSpPr>
          <p:nvPr/>
        </p:nvCxnSpPr>
        <p:spPr>
          <a:xfrm>
            <a:off x="5176522" y="2049776"/>
            <a:ext cx="72135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B69FA4-D062-E879-FB03-C17C0678E9C3}"/>
              </a:ext>
            </a:extLst>
          </p:cNvPr>
          <p:cNvCxnSpPr>
            <a:cxnSpLocks/>
          </p:cNvCxnSpPr>
          <p:nvPr/>
        </p:nvCxnSpPr>
        <p:spPr>
          <a:xfrm>
            <a:off x="857079" y="2049776"/>
            <a:ext cx="444136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5A0F380-D395-F875-D4D4-C482DCA1BCC5}"/>
              </a:ext>
            </a:extLst>
          </p:cNvPr>
          <p:cNvCxnSpPr>
            <a:cxnSpLocks/>
          </p:cNvCxnSpPr>
          <p:nvPr/>
        </p:nvCxnSpPr>
        <p:spPr>
          <a:xfrm>
            <a:off x="1301215" y="891540"/>
            <a:ext cx="28906" cy="494919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5AB779C-FF3D-0F78-D397-F122354B461C}"/>
              </a:ext>
            </a:extLst>
          </p:cNvPr>
          <p:cNvSpPr txBox="1"/>
          <p:nvPr/>
        </p:nvSpPr>
        <p:spPr>
          <a:xfrm>
            <a:off x="1129195" y="704072"/>
            <a:ext cx="573871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SG" sz="1200" b="1" dirty="0"/>
              <a:t>0S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5800CB4-B48D-217F-8BEE-D570D8C93DC6}"/>
              </a:ext>
            </a:extLst>
          </p:cNvPr>
          <p:cNvCxnSpPr/>
          <p:nvPr/>
        </p:nvCxnSpPr>
        <p:spPr>
          <a:xfrm>
            <a:off x="1311270" y="2757147"/>
            <a:ext cx="0" cy="42672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1E82D25-0883-3603-F274-1BE580AB9270}"/>
              </a:ext>
            </a:extLst>
          </p:cNvPr>
          <p:cNvCxnSpPr>
            <a:cxnSpLocks/>
          </p:cNvCxnSpPr>
          <p:nvPr/>
        </p:nvCxnSpPr>
        <p:spPr>
          <a:xfrm>
            <a:off x="1311270" y="2757821"/>
            <a:ext cx="2994332" cy="7547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D22EA55-6D83-4AF8-C234-9F0F86F13B82}"/>
              </a:ext>
            </a:extLst>
          </p:cNvPr>
          <p:cNvCxnSpPr/>
          <p:nvPr/>
        </p:nvCxnSpPr>
        <p:spPr>
          <a:xfrm>
            <a:off x="4307478" y="2765368"/>
            <a:ext cx="0" cy="42672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1DF4115-2DA7-C42F-6D8F-0DB36895856C}"/>
              </a:ext>
            </a:extLst>
          </p:cNvPr>
          <p:cNvCxnSpPr>
            <a:cxnSpLocks/>
          </p:cNvCxnSpPr>
          <p:nvPr/>
        </p:nvCxnSpPr>
        <p:spPr>
          <a:xfrm flipH="1">
            <a:off x="4305602" y="3186384"/>
            <a:ext cx="421683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5102B2D-71B4-1432-6699-383535CD3020}"/>
              </a:ext>
            </a:extLst>
          </p:cNvPr>
          <p:cNvCxnSpPr/>
          <p:nvPr/>
        </p:nvCxnSpPr>
        <p:spPr>
          <a:xfrm>
            <a:off x="5186577" y="2757147"/>
            <a:ext cx="0" cy="42672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9E56929-0EF5-A73E-286F-CBD936C87FAF}"/>
              </a:ext>
            </a:extLst>
          </p:cNvPr>
          <p:cNvCxnSpPr>
            <a:cxnSpLocks/>
          </p:cNvCxnSpPr>
          <p:nvPr/>
        </p:nvCxnSpPr>
        <p:spPr>
          <a:xfrm>
            <a:off x="5186577" y="3183867"/>
            <a:ext cx="711303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F04A19C-62DA-CA46-54CA-57EB60C4F1F2}"/>
              </a:ext>
            </a:extLst>
          </p:cNvPr>
          <p:cNvCxnSpPr>
            <a:cxnSpLocks/>
          </p:cNvCxnSpPr>
          <p:nvPr/>
        </p:nvCxnSpPr>
        <p:spPr>
          <a:xfrm>
            <a:off x="867134" y="3183867"/>
            <a:ext cx="444136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80EDCB8-96B7-D01F-23CB-EF2DE61960AA}"/>
              </a:ext>
            </a:extLst>
          </p:cNvPr>
          <p:cNvCxnSpPr>
            <a:cxnSpLocks/>
          </p:cNvCxnSpPr>
          <p:nvPr/>
        </p:nvCxnSpPr>
        <p:spPr>
          <a:xfrm>
            <a:off x="1311270" y="3117181"/>
            <a:ext cx="0" cy="459401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8D9813C-5698-C9E5-B051-E091506F6E3C}"/>
              </a:ext>
            </a:extLst>
          </p:cNvPr>
          <p:cNvCxnSpPr>
            <a:cxnSpLocks/>
          </p:cNvCxnSpPr>
          <p:nvPr/>
        </p:nvCxnSpPr>
        <p:spPr>
          <a:xfrm>
            <a:off x="5205325" y="1623056"/>
            <a:ext cx="73894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F8A345-17E2-36AB-54BF-167528E114A8}"/>
              </a:ext>
            </a:extLst>
          </p:cNvPr>
          <p:cNvCxnSpPr>
            <a:cxnSpLocks/>
          </p:cNvCxnSpPr>
          <p:nvPr/>
        </p:nvCxnSpPr>
        <p:spPr>
          <a:xfrm>
            <a:off x="2117409" y="872286"/>
            <a:ext cx="28906" cy="494919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281373C-881A-20DD-D404-157966C8D4FE}"/>
              </a:ext>
            </a:extLst>
          </p:cNvPr>
          <p:cNvCxnSpPr>
            <a:cxnSpLocks/>
          </p:cNvCxnSpPr>
          <p:nvPr/>
        </p:nvCxnSpPr>
        <p:spPr>
          <a:xfrm>
            <a:off x="2837274" y="891540"/>
            <a:ext cx="28906" cy="494919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2430185-D2BD-2516-A349-FE9F66E07315}"/>
              </a:ext>
            </a:extLst>
          </p:cNvPr>
          <p:cNvCxnSpPr>
            <a:cxnSpLocks/>
          </p:cNvCxnSpPr>
          <p:nvPr/>
        </p:nvCxnSpPr>
        <p:spPr>
          <a:xfrm>
            <a:off x="3590671" y="891540"/>
            <a:ext cx="28906" cy="494919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06B3DB9-FC7E-8302-3621-56FA9551744E}"/>
              </a:ext>
            </a:extLst>
          </p:cNvPr>
          <p:cNvCxnSpPr>
            <a:cxnSpLocks/>
          </p:cNvCxnSpPr>
          <p:nvPr/>
        </p:nvCxnSpPr>
        <p:spPr>
          <a:xfrm>
            <a:off x="4302712" y="891540"/>
            <a:ext cx="28906" cy="494919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6981686-95E6-5F6F-B8C1-904255B7B806}"/>
              </a:ext>
            </a:extLst>
          </p:cNvPr>
          <p:cNvCxnSpPr>
            <a:cxnSpLocks/>
          </p:cNvCxnSpPr>
          <p:nvPr/>
        </p:nvCxnSpPr>
        <p:spPr>
          <a:xfrm>
            <a:off x="5190872" y="872286"/>
            <a:ext cx="28906" cy="494919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DA9D2B4-0D6F-18BB-FFCF-9377040EE5DA}"/>
              </a:ext>
            </a:extLst>
          </p:cNvPr>
          <p:cNvCxnSpPr/>
          <p:nvPr/>
        </p:nvCxnSpPr>
        <p:spPr>
          <a:xfrm>
            <a:off x="4760939" y="2765368"/>
            <a:ext cx="0" cy="42672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DE5452D-5F4B-4098-AD72-D2A54F4FC49C}"/>
              </a:ext>
            </a:extLst>
          </p:cNvPr>
          <p:cNvCxnSpPr>
            <a:cxnSpLocks/>
          </p:cNvCxnSpPr>
          <p:nvPr/>
        </p:nvCxnSpPr>
        <p:spPr>
          <a:xfrm flipH="1">
            <a:off x="4760939" y="2765368"/>
            <a:ext cx="421683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43D9C8-2A90-A621-1A62-2D63C7F17ADF}"/>
              </a:ext>
            </a:extLst>
          </p:cNvPr>
          <p:cNvCxnSpPr>
            <a:cxnSpLocks/>
          </p:cNvCxnSpPr>
          <p:nvPr/>
        </p:nvCxnSpPr>
        <p:spPr>
          <a:xfrm>
            <a:off x="885985" y="3804897"/>
            <a:ext cx="1594325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715A863-BB57-7552-0770-1709C414A04D}"/>
              </a:ext>
            </a:extLst>
          </p:cNvPr>
          <p:cNvCxnSpPr/>
          <p:nvPr/>
        </p:nvCxnSpPr>
        <p:spPr>
          <a:xfrm>
            <a:off x="2480310" y="3804897"/>
            <a:ext cx="0" cy="42672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E1F49C6-8AD9-20BD-2F84-C85ED081320D}"/>
              </a:ext>
            </a:extLst>
          </p:cNvPr>
          <p:cNvCxnSpPr/>
          <p:nvPr/>
        </p:nvCxnSpPr>
        <p:spPr>
          <a:xfrm>
            <a:off x="3954780" y="3804897"/>
            <a:ext cx="0" cy="42672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E220A9B-58D4-7961-FC3C-76B246E5A1FA}"/>
              </a:ext>
            </a:extLst>
          </p:cNvPr>
          <p:cNvCxnSpPr>
            <a:cxnSpLocks/>
          </p:cNvCxnSpPr>
          <p:nvPr/>
        </p:nvCxnSpPr>
        <p:spPr>
          <a:xfrm>
            <a:off x="2480310" y="4231617"/>
            <a:ext cx="147447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566C53F-6DCD-3C4F-CA63-F1C8D696D906}"/>
              </a:ext>
            </a:extLst>
          </p:cNvPr>
          <p:cNvCxnSpPr>
            <a:cxnSpLocks/>
          </p:cNvCxnSpPr>
          <p:nvPr/>
        </p:nvCxnSpPr>
        <p:spPr>
          <a:xfrm>
            <a:off x="3939038" y="3804897"/>
            <a:ext cx="1958842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48B9DB4-4EC6-5E78-2BD0-9037241C7007}"/>
              </a:ext>
            </a:extLst>
          </p:cNvPr>
          <p:cNvCxnSpPr>
            <a:cxnSpLocks/>
          </p:cNvCxnSpPr>
          <p:nvPr/>
        </p:nvCxnSpPr>
        <p:spPr>
          <a:xfrm>
            <a:off x="867134" y="5088867"/>
            <a:ext cx="197014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964D2F8-BCCA-9AB2-812E-5FE6CD8E4F79}"/>
              </a:ext>
            </a:extLst>
          </p:cNvPr>
          <p:cNvCxnSpPr/>
          <p:nvPr/>
        </p:nvCxnSpPr>
        <p:spPr>
          <a:xfrm>
            <a:off x="2866180" y="4662147"/>
            <a:ext cx="0" cy="42672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FA0C837-5342-BA72-3AE1-14104821E61A}"/>
              </a:ext>
            </a:extLst>
          </p:cNvPr>
          <p:cNvCxnSpPr>
            <a:cxnSpLocks/>
          </p:cNvCxnSpPr>
          <p:nvPr/>
        </p:nvCxnSpPr>
        <p:spPr>
          <a:xfrm flipH="1">
            <a:off x="2866180" y="4676695"/>
            <a:ext cx="753397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B6DACD4-CB95-62AC-CF90-3E4F31FEFA92}"/>
              </a:ext>
            </a:extLst>
          </p:cNvPr>
          <p:cNvCxnSpPr/>
          <p:nvPr/>
        </p:nvCxnSpPr>
        <p:spPr>
          <a:xfrm>
            <a:off x="3619577" y="4662147"/>
            <a:ext cx="0" cy="42672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28D9842-B688-FE61-867A-B9079DB912E8}"/>
              </a:ext>
            </a:extLst>
          </p:cNvPr>
          <p:cNvCxnSpPr>
            <a:cxnSpLocks/>
          </p:cNvCxnSpPr>
          <p:nvPr/>
        </p:nvCxnSpPr>
        <p:spPr>
          <a:xfrm>
            <a:off x="3619577" y="5088867"/>
            <a:ext cx="712041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A07B8956-EB03-C8D8-F023-288068E6745C}"/>
              </a:ext>
            </a:extLst>
          </p:cNvPr>
          <p:cNvCxnSpPr>
            <a:cxnSpLocks/>
          </p:cNvCxnSpPr>
          <p:nvPr/>
        </p:nvCxnSpPr>
        <p:spPr>
          <a:xfrm flipH="1">
            <a:off x="4331618" y="4676695"/>
            <a:ext cx="883865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A3551EA-56D6-63E7-0B1C-C506177B191C}"/>
              </a:ext>
            </a:extLst>
          </p:cNvPr>
          <p:cNvCxnSpPr/>
          <p:nvPr/>
        </p:nvCxnSpPr>
        <p:spPr>
          <a:xfrm>
            <a:off x="4325572" y="4676695"/>
            <a:ext cx="0" cy="42672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861B18C-2686-33D7-9F3B-CD255E23F2B2}"/>
              </a:ext>
            </a:extLst>
          </p:cNvPr>
          <p:cNvCxnSpPr/>
          <p:nvPr/>
        </p:nvCxnSpPr>
        <p:spPr>
          <a:xfrm>
            <a:off x="5186577" y="4662147"/>
            <a:ext cx="0" cy="42672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307E12C-D3D1-65D2-AAC2-03DB37F51712}"/>
              </a:ext>
            </a:extLst>
          </p:cNvPr>
          <p:cNvCxnSpPr>
            <a:cxnSpLocks/>
          </p:cNvCxnSpPr>
          <p:nvPr/>
        </p:nvCxnSpPr>
        <p:spPr>
          <a:xfrm flipH="1">
            <a:off x="5186577" y="5088867"/>
            <a:ext cx="711303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F0CF9779-D3C9-86A1-F8D9-99A75B824F22}"/>
              </a:ext>
            </a:extLst>
          </p:cNvPr>
          <p:cNvSpPr txBox="1"/>
          <p:nvPr/>
        </p:nvSpPr>
        <p:spPr>
          <a:xfrm>
            <a:off x="1947836" y="686391"/>
            <a:ext cx="573871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SG" sz="1200" b="1" dirty="0"/>
              <a:t>2S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1C276E0-A524-BA9A-72AF-ED8AB3232D49}"/>
              </a:ext>
            </a:extLst>
          </p:cNvPr>
          <p:cNvSpPr txBox="1"/>
          <p:nvPr/>
        </p:nvSpPr>
        <p:spPr>
          <a:xfrm>
            <a:off x="2674675" y="698287"/>
            <a:ext cx="573871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SG" sz="1200" b="1" dirty="0"/>
              <a:t>4S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E01DF01-A6CA-699E-3491-58CA649DD892}"/>
              </a:ext>
            </a:extLst>
          </p:cNvPr>
          <p:cNvSpPr txBox="1"/>
          <p:nvPr/>
        </p:nvSpPr>
        <p:spPr>
          <a:xfrm>
            <a:off x="3425998" y="681677"/>
            <a:ext cx="573871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SG" sz="1200" b="1" dirty="0"/>
              <a:t>6S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B1C6F3A-9590-87BF-07B6-E329DEFAB601}"/>
              </a:ext>
            </a:extLst>
          </p:cNvPr>
          <p:cNvSpPr txBox="1"/>
          <p:nvPr/>
        </p:nvSpPr>
        <p:spPr>
          <a:xfrm>
            <a:off x="4124842" y="681676"/>
            <a:ext cx="573871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SG" sz="1200" b="1" dirty="0"/>
              <a:t>8S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1C548AF-8EF2-BA8F-252E-1B024628987A}"/>
              </a:ext>
            </a:extLst>
          </p:cNvPr>
          <p:cNvSpPr txBox="1"/>
          <p:nvPr/>
        </p:nvSpPr>
        <p:spPr>
          <a:xfrm>
            <a:off x="4971780" y="659156"/>
            <a:ext cx="573871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SG" sz="1200" b="1" dirty="0"/>
              <a:t>10S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4C3F9548-FAD1-6A1B-90E0-014251C30B35}"/>
              </a:ext>
            </a:extLst>
          </p:cNvPr>
          <p:cNvCxnSpPr>
            <a:cxnSpLocks/>
          </p:cNvCxnSpPr>
          <p:nvPr/>
        </p:nvCxnSpPr>
        <p:spPr>
          <a:xfrm>
            <a:off x="5915363" y="836787"/>
            <a:ext cx="28906" cy="494919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E078B6FB-4D93-8160-0395-79D3C5D5CC25}"/>
              </a:ext>
            </a:extLst>
          </p:cNvPr>
          <p:cNvSpPr txBox="1"/>
          <p:nvPr/>
        </p:nvSpPr>
        <p:spPr>
          <a:xfrm>
            <a:off x="5711859" y="620806"/>
            <a:ext cx="573871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SG" sz="1200" b="1" dirty="0"/>
              <a:t>12S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0753B36-0E81-3B7E-91E5-C5024E9C73C8}"/>
              </a:ext>
            </a:extLst>
          </p:cNvPr>
          <p:cNvCxnSpPr>
            <a:cxnSpLocks/>
          </p:cNvCxnSpPr>
          <p:nvPr/>
        </p:nvCxnSpPr>
        <p:spPr>
          <a:xfrm>
            <a:off x="5215483" y="2765368"/>
            <a:ext cx="69988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4408D15F-943E-33C0-262F-09860BAE2CCC}"/>
              </a:ext>
            </a:extLst>
          </p:cNvPr>
          <p:cNvCxnSpPr>
            <a:cxnSpLocks/>
          </p:cNvCxnSpPr>
          <p:nvPr/>
        </p:nvCxnSpPr>
        <p:spPr>
          <a:xfrm>
            <a:off x="3954780" y="4234735"/>
            <a:ext cx="1989489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95B77BD-B53A-2EBB-DF69-B67C251EF35A}"/>
              </a:ext>
            </a:extLst>
          </p:cNvPr>
          <p:cNvCxnSpPr>
            <a:cxnSpLocks/>
          </p:cNvCxnSpPr>
          <p:nvPr/>
        </p:nvCxnSpPr>
        <p:spPr>
          <a:xfrm>
            <a:off x="5244389" y="4653835"/>
            <a:ext cx="69988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4D9E291E-427B-474A-2546-55E1D550275D}"/>
              </a:ext>
            </a:extLst>
          </p:cNvPr>
          <p:cNvSpPr txBox="1"/>
          <p:nvPr/>
        </p:nvSpPr>
        <p:spPr>
          <a:xfrm>
            <a:off x="5929816" y="1392223"/>
            <a:ext cx="964907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SG" sz="1200" dirty="0"/>
              <a:t>Voltage Hight [5V] 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9859B0B-A2DB-731D-C756-74EF27CD52E1}"/>
              </a:ext>
            </a:extLst>
          </p:cNvPr>
          <p:cNvSpPr txBox="1"/>
          <p:nvPr/>
        </p:nvSpPr>
        <p:spPr>
          <a:xfrm>
            <a:off x="5937043" y="1853888"/>
            <a:ext cx="964907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SG" sz="1200" dirty="0"/>
              <a:t>Voltage Low [0V] 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9C41EC6-5783-9B38-126A-DE7CD07403E0}"/>
              </a:ext>
            </a:extLst>
          </p:cNvPr>
          <p:cNvSpPr txBox="1"/>
          <p:nvPr/>
        </p:nvSpPr>
        <p:spPr>
          <a:xfrm>
            <a:off x="5908137" y="2507234"/>
            <a:ext cx="964907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SG" sz="1200" dirty="0"/>
              <a:t>Voltage Hight [5V] 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390C557-0C80-CC8C-9F4B-C74E58F38A96}"/>
              </a:ext>
            </a:extLst>
          </p:cNvPr>
          <p:cNvSpPr txBox="1"/>
          <p:nvPr/>
        </p:nvSpPr>
        <p:spPr>
          <a:xfrm>
            <a:off x="5951495" y="2962613"/>
            <a:ext cx="964907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SG" sz="1200" dirty="0"/>
              <a:t>Voltage Low [0V] 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95E565C-EC8C-A884-58CF-F68E179D8C25}"/>
              </a:ext>
            </a:extLst>
          </p:cNvPr>
          <p:cNvSpPr txBox="1"/>
          <p:nvPr/>
        </p:nvSpPr>
        <p:spPr>
          <a:xfrm>
            <a:off x="5958618" y="3991328"/>
            <a:ext cx="964907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SG" sz="1200" dirty="0"/>
              <a:t>Voltage Low [0V]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1FEA637-E5F1-7AC8-E8F5-F411830D14B2}"/>
              </a:ext>
            </a:extLst>
          </p:cNvPr>
          <p:cNvSpPr txBox="1"/>
          <p:nvPr/>
        </p:nvSpPr>
        <p:spPr>
          <a:xfrm>
            <a:off x="5977969" y="4890055"/>
            <a:ext cx="964907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SG" sz="1200" dirty="0"/>
              <a:t>Voltage Low [0V]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4910DB-4AC6-B2C9-C9C0-8860E4DC41CB}"/>
              </a:ext>
            </a:extLst>
          </p:cNvPr>
          <p:cNvSpPr txBox="1"/>
          <p:nvPr/>
        </p:nvSpPr>
        <p:spPr>
          <a:xfrm>
            <a:off x="5944931" y="3561938"/>
            <a:ext cx="964907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SG" sz="1200" dirty="0"/>
              <a:t>Voltage Hight [5V] 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53F0EBD-4803-881E-42C6-7A88A4AB9EC0}"/>
              </a:ext>
            </a:extLst>
          </p:cNvPr>
          <p:cNvSpPr txBox="1"/>
          <p:nvPr/>
        </p:nvSpPr>
        <p:spPr>
          <a:xfrm>
            <a:off x="5968880" y="4480697"/>
            <a:ext cx="964907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SG" sz="1200" dirty="0"/>
              <a:t>Voltage Hight [5V] 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85B2107-A972-EB01-8ED3-6BAEAA8B3715}"/>
              </a:ext>
            </a:extLst>
          </p:cNvPr>
          <p:cNvSpPr txBox="1"/>
          <p:nvPr/>
        </p:nvSpPr>
        <p:spPr>
          <a:xfrm>
            <a:off x="60663" y="1513250"/>
            <a:ext cx="1068532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SG" sz="1200" dirty="0"/>
              <a:t>PLC physical Contacts wire 1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4BA0FD0-0419-B75F-8EB3-D26C8C91A133}"/>
              </a:ext>
            </a:extLst>
          </p:cNvPr>
          <p:cNvSpPr txBox="1"/>
          <p:nvPr/>
        </p:nvSpPr>
        <p:spPr>
          <a:xfrm>
            <a:off x="116253" y="2729564"/>
            <a:ext cx="1068532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SG" sz="1200" dirty="0"/>
              <a:t>PLC physical Contacts wire 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79F5790-36C2-94E2-9913-D5AA4BE37D66}"/>
              </a:ext>
            </a:extLst>
          </p:cNvPr>
          <p:cNvSpPr txBox="1"/>
          <p:nvPr/>
        </p:nvSpPr>
        <p:spPr>
          <a:xfrm>
            <a:off x="116253" y="3714006"/>
            <a:ext cx="1068532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SG" sz="1200" dirty="0"/>
              <a:t>PLC physical Contacts wire 3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3C37458-B92D-BB6B-BDFB-4054245E1CC7}"/>
              </a:ext>
            </a:extLst>
          </p:cNvPr>
          <p:cNvSpPr txBox="1"/>
          <p:nvPr/>
        </p:nvSpPr>
        <p:spPr>
          <a:xfrm>
            <a:off x="132255" y="4552341"/>
            <a:ext cx="1068532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SG" sz="1200" dirty="0"/>
              <a:t>PLC physical Contacts wire 4</a:t>
            </a: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A2722FD5-C4DF-279A-EA7F-2C0AE6311A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392565"/>
              </p:ext>
            </p:extLst>
          </p:nvPr>
        </p:nvGraphicFramePr>
        <p:xfrm>
          <a:off x="7039252" y="872286"/>
          <a:ext cx="4974116" cy="439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294">
                  <a:extLst>
                    <a:ext uri="{9D8B030D-6E8A-4147-A177-3AD203B41FA5}">
                      <a16:colId xmlns:a16="http://schemas.microsoft.com/office/drawing/2014/main" val="3665562435"/>
                    </a:ext>
                  </a:extLst>
                </a:gridCol>
                <a:gridCol w="355294">
                  <a:extLst>
                    <a:ext uri="{9D8B030D-6E8A-4147-A177-3AD203B41FA5}">
                      <a16:colId xmlns:a16="http://schemas.microsoft.com/office/drawing/2014/main" val="2416590360"/>
                    </a:ext>
                  </a:extLst>
                </a:gridCol>
                <a:gridCol w="355294">
                  <a:extLst>
                    <a:ext uri="{9D8B030D-6E8A-4147-A177-3AD203B41FA5}">
                      <a16:colId xmlns:a16="http://schemas.microsoft.com/office/drawing/2014/main" val="837016703"/>
                    </a:ext>
                  </a:extLst>
                </a:gridCol>
                <a:gridCol w="355294">
                  <a:extLst>
                    <a:ext uri="{9D8B030D-6E8A-4147-A177-3AD203B41FA5}">
                      <a16:colId xmlns:a16="http://schemas.microsoft.com/office/drawing/2014/main" val="3497816643"/>
                    </a:ext>
                  </a:extLst>
                </a:gridCol>
                <a:gridCol w="355294">
                  <a:extLst>
                    <a:ext uri="{9D8B030D-6E8A-4147-A177-3AD203B41FA5}">
                      <a16:colId xmlns:a16="http://schemas.microsoft.com/office/drawing/2014/main" val="3375987162"/>
                    </a:ext>
                  </a:extLst>
                </a:gridCol>
                <a:gridCol w="355294">
                  <a:extLst>
                    <a:ext uri="{9D8B030D-6E8A-4147-A177-3AD203B41FA5}">
                      <a16:colId xmlns:a16="http://schemas.microsoft.com/office/drawing/2014/main" val="892342173"/>
                    </a:ext>
                  </a:extLst>
                </a:gridCol>
                <a:gridCol w="355294">
                  <a:extLst>
                    <a:ext uri="{9D8B030D-6E8A-4147-A177-3AD203B41FA5}">
                      <a16:colId xmlns:a16="http://schemas.microsoft.com/office/drawing/2014/main" val="4055363881"/>
                    </a:ext>
                  </a:extLst>
                </a:gridCol>
                <a:gridCol w="355294">
                  <a:extLst>
                    <a:ext uri="{9D8B030D-6E8A-4147-A177-3AD203B41FA5}">
                      <a16:colId xmlns:a16="http://schemas.microsoft.com/office/drawing/2014/main" val="2375926077"/>
                    </a:ext>
                  </a:extLst>
                </a:gridCol>
                <a:gridCol w="355294">
                  <a:extLst>
                    <a:ext uri="{9D8B030D-6E8A-4147-A177-3AD203B41FA5}">
                      <a16:colId xmlns:a16="http://schemas.microsoft.com/office/drawing/2014/main" val="4213474844"/>
                    </a:ext>
                  </a:extLst>
                </a:gridCol>
                <a:gridCol w="355294">
                  <a:extLst>
                    <a:ext uri="{9D8B030D-6E8A-4147-A177-3AD203B41FA5}">
                      <a16:colId xmlns:a16="http://schemas.microsoft.com/office/drawing/2014/main" val="3623908359"/>
                    </a:ext>
                  </a:extLst>
                </a:gridCol>
                <a:gridCol w="355294">
                  <a:extLst>
                    <a:ext uri="{9D8B030D-6E8A-4147-A177-3AD203B41FA5}">
                      <a16:colId xmlns:a16="http://schemas.microsoft.com/office/drawing/2014/main" val="1039046465"/>
                    </a:ext>
                  </a:extLst>
                </a:gridCol>
                <a:gridCol w="355294">
                  <a:extLst>
                    <a:ext uri="{9D8B030D-6E8A-4147-A177-3AD203B41FA5}">
                      <a16:colId xmlns:a16="http://schemas.microsoft.com/office/drawing/2014/main" val="2233994037"/>
                    </a:ext>
                  </a:extLst>
                </a:gridCol>
                <a:gridCol w="355294">
                  <a:extLst>
                    <a:ext uri="{9D8B030D-6E8A-4147-A177-3AD203B41FA5}">
                      <a16:colId xmlns:a16="http://schemas.microsoft.com/office/drawing/2014/main" val="2203341326"/>
                    </a:ext>
                  </a:extLst>
                </a:gridCol>
                <a:gridCol w="355294">
                  <a:extLst>
                    <a:ext uri="{9D8B030D-6E8A-4147-A177-3AD203B41FA5}">
                      <a16:colId xmlns:a16="http://schemas.microsoft.com/office/drawing/2014/main" val="3191529351"/>
                    </a:ext>
                  </a:extLst>
                </a:gridCol>
              </a:tblGrid>
              <a:tr h="878544">
                <a:tc>
                  <a:txBody>
                    <a:bodyPr/>
                    <a:lstStyle/>
                    <a:p>
                      <a:pPr algn="ctr"/>
                      <a:endParaRPr lang="en-SG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200" dirty="0"/>
                        <a:t>0s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200" dirty="0"/>
                        <a:t>1s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200" dirty="0"/>
                        <a:t>2s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200" dirty="0"/>
                        <a:t>3s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200" dirty="0"/>
                        <a:t>4s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200" dirty="0"/>
                        <a:t>5s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200" dirty="0"/>
                        <a:t>6s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200" dirty="0"/>
                        <a:t>7s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200" dirty="0"/>
                        <a:t>8s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200" dirty="0"/>
                        <a:t>9s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200" dirty="0"/>
                        <a:t>10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200" dirty="0"/>
                        <a:t>11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200" dirty="0"/>
                        <a:t>12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286248441"/>
                  </a:ext>
                </a:extLst>
              </a:tr>
              <a:tr h="878544">
                <a:tc>
                  <a:txBody>
                    <a:bodyPr/>
                    <a:lstStyle/>
                    <a:p>
                      <a:pPr algn="ctr"/>
                      <a:r>
                        <a:rPr lang="en-SG" sz="1100" dirty="0"/>
                        <a:t>W1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871063659"/>
                  </a:ext>
                </a:extLst>
              </a:tr>
              <a:tr h="878544">
                <a:tc>
                  <a:txBody>
                    <a:bodyPr/>
                    <a:lstStyle/>
                    <a:p>
                      <a:pPr algn="ctr"/>
                      <a:r>
                        <a:rPr lang="en-SG" sz="1100" dirty="0"/>
                        <a:t>W2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289889412"/>
                  </a:ext>
                </a:extLst>
              </a:tr>
              <a:tr h="878544">
                <a:tc>
                  <a:txBody>
                    <a:bodyPr/>
                    <a:lstStyle/>
                    <a:p>
                      <a:pPr algn="ctr"/>
                      <a:r>
                        <a:rPr lang="en-SG" sz="1100" dirty="0"/>
                        <a:t>W3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579818583"/>
                  </a:ext>
                </a:extLst>
              </a:tr>
              <a:tr h="878544">
                <a:tc>
                  <a:txBody>
                    <a:bodyPr/>
                    <a:lstStyle/>
                    <a:p>
                      <a:pPr algn="ctr"/>
                      <a:r>
                        <a:rPr lang="en-SG" sz="1100" dirty="0"/>
                        <a:t>W4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1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SG" sz="1100" b="1" dirty="0"/>
                        <a:t>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2811499"/>
                  </a:ext>
                </a:extLst>
              </a:tr>
            </a:tbl>
          </a:graphicData>
        </a:graphic>
      </p:graphicFrame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1E0FBF02-79D2-5D77-AF52-91942795F46E}"/>
              </a:ext>
            </a:extLst>
          </p:cNvPr>
          <p:cNvCxnSpPr>
            <a:cxnSpLocks/>
          </p:cNvCxnSpPr>
          <p:nvPr/>
        </p:nvCxnSpPr>
        <p:spPr>
          <a:xfrm>
            <a:off x="8629650" y="5314883"/>
            <a:ext cx="0" cy="3016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6" name="Picture 105">
            <a:extLst>
              <a:ext uri="{FF2B5EF4-FFF2-40B4-BE49-F238E27FC236}">
                <a16:creationId xmlns:a16="http://schemas.microsoft.com/office/drawing/2014/main" id="{30742227-93AF-D0AD-401F-867D784F2A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368" y="5616543"/>
            <a:ext cx="4591740" cy="391856"/>
          </a:xfrm>
          <a:prstGeom prst="rect">
            <a:avLst/>
          </a:prstGeom>
        </p:spPr>
      </p:pic>
      <p:sp>
        <p:nvSpPr>
          <p:cNvPr id="107" name="Rectangle 106">
            <a:extLst>
              <a:ext uri="{FF2B5EF4-FFF2-40B4-BE49-F238E27FC236}">
                <a16:creationId xmlns:a16="http://schemas.microsoft.com/office/drawing/2014/main" id="{B8828BC9-4393-34C9-889E-707ABC4C285F}"/>
              </a:ext>
            </a:extLst>
          </p:cNvPr>
          <p:cNvSpPr/>
          <p:nvPr/>
        </p:nvSpPr>
        <p:spPr>
          <a:xfrm>
            <a:off x="8507579" y="1105786"/>
            <a:ext cx="302437" cy="4224020"/>
          </a:xfrm>
          <a:prstGeom prst="rect">
            <a:avLst/>
          </a:prstGeom>
          <a:noFill/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9A7D594-6EE4-AADB-B224-4BB19C19C31A}"/>
              </a:ext>
            </a:extLst>
          </p:cNvPr>
          <p:cNvSpPr txBox="1"/>
          <p:nvPr/>
        </p:nvSpPr>
        <p:spPr>
          <a:xfrm>
            <a:off x="6639855" y="5204540"/>
            <a:ext cx="20527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Physical electrical signal simulation message : </a:t>
            </a:r>
            <a:endParaRPr lang="en-SG" sz="1200" b="1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7219A7C-E89A-2E00-34DF-79A30BD6B4EE}"/>
              </a:ext>
            </a:extLst>
          </p:cNvPr>
          <p:cNvSpPr txBox="1"/>
          <p:nvPr/>
        </p:nvSpPr>
        <p:spPr>
          <a:xfrm>
            <a:off x="489766" y="225828"/>
            <a:ext cx="52220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Physical electrical signal change to real PLC Contacts</a:t>
            </a:r>
            <a:endParaRPr lang="en-SG" sz="1600" b="1" dirty="0"/>
          </a:p>
        </p:txBody>
      </p:sp>
      <p:sp>
        <p:nvSpPr>
          <p:cNvPr id="110" name="Arrow: Right 109">
            <a:extLst>
              <a:ext uri="{FF2B5EF4-FFF2-40B4-BE49-F238E27FC236}">
                <a16:creationId xmlns:a16="http://schemas.microsoft.com/office/drawing/2014/main" id="{3482E8CC-2882-7A9F-9B06-49CEDC48BC02}"/>
              </a:ext>
            </a:extLst>
          </p:cNvPr>
          <p:cNvSpPr/>
          <p:nvPr/>
        </p:nvSpPr>
        <p:spPr>
          <a:xfrm>
            <a:off x="5958618" y="341106"/>
            <a:ext cx="837477" cy="14861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85CCD32-F13C-5EFD-004C-05AC4499D993}"/>
              </a:ext>
            </a:extLst>
          </p:cNvPr>
          <p:cNvSpPr txBox="1"/>
          <p:nvPr/>
        </p:nvSpPr>
        <p:spPr>
          <a:xfrm>
            <a:off x="6894723" y="242571"/>
            <a:ext cx="48098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Simulated electrical signal change to virtual PLC  </a:t>
            </a:r>
            <a:endParaRPr lang="en-SG" sz="1600" b="1" dirty="0"/>
          </a:p>
        </p:txBody>
      </p:sp>
    </p:spTree>
    <p:extLst>
      <p:ext uri="{BB962C8B-B14F-4D97-AF65-F5344CB8AC3E}">
        <p14:creationId xmlns:p14="http://schemas.microsoft.com/office/powerpoint/2010/main" val="7104961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een squares with black lines&#10;&#10;Description automatically generated">
            <a:extLst>
              <a:ext uri="{FF2B5EF4-FFF2-40B4-BE49-F238E27FC236}">
                <a16:creationId xmlns:a16="http://schemas.microsoft.com/office/drawing/2014/main" id="{A8BA9922-ACAF-D0EF-424E-454537296E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6369" y="939041"/>
            <a:ext cx="1935629" cy="1137431"/>
          </a:xfrm>
          <a:prstGeom prst="rect">
            <a:avLst/>
          </a:prstGeom>
        </p:spPr>
      </p:pic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4C3CD89E-04ED-8B38-0263-A481AF150E82}"/>
              </a:ext>
            </a:extLst>
          </p:cNvPr>
          <p:cNvSpPr/>
          <p:nvPr/>
        </p:nvSpPr>
        <p:spPr>
          <a:xfrm rot="16200000">
            <a:off x="4356016" y="1176285"/>
            <a:ext cx="847725" cy="714456"/>
          </a:xfrm>
          <a:prstGeom prst="triangle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EE86A51-E949-EFFF-043A-C36B008DB048}"/>
              </a:ext>
            </a:extLst>
          </p:cNvPr>
          <p:cNvCxnSpPr>
            <a:cxnSpLocks/>
          </p:cNvCxnSpPr>
          <p:nvPr/>
        </p:nvCxnSpPr>
        <p:spPr>
          <a:xfrm flipH="1">
            <a:off x="5137107" y="1109650"/>
            <a:ext cx="581022" cy="1516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DB5B7CF-D6ED-DF20-9A12-D0BAE24A50CB}"/>
              </a:ext>
            </a:extLst>
          </p:cNvPr>
          <p:cNvSpPr txBox="1"/>
          <p:nvPr/>
        </p:nvSpPr>
        <p:spPr>
          <a:xfrm>
            <a:off x="5728845" y="805951"/>
            <a:ext cx="15853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Front sensor detection area</a:t>
            </a:r>
            <a:endParaRPr lang="en-SG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650D5EF-92A1-33DB-E466-C306270D7A7B}"/>
              </a:ext>
            </a:extLst>
          </p:cNvPr>
          <p:cNvCxnSpPr>
            <a:cxnSpLocks/>
          </p:cNvCxnSpPr>
          <p:nvPr/>
        </p:nvCxnSpPr>
        <p:spPr>
          <a:xfrm flipH="1">
            <a:off x="4344710" y="857485"/>
            <a:ext cx="10386" cy="5555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DEE6CFA-8E55-17F5-1090-9DF09FB65318}"/>
              </a:ext>
            </a:extLst>
          </p:cNvPr>
          <p:cNvSpPr txBox="1"/>
          <p:nvPr/>
        </p:nvSpPr>
        <p:spPr>
          <a:xfrm>
            <a:off x="4111958" y="599889"/>
            <a:ext cx="17879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Front detection sensor</a:t>
            </a:r>
            <a:endParaRPr lang="en-SG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13A0594-73CA-9E97-B9F6-1603DA6B2E2B}"/>
              </a:ext>
            </a:extLst>
          </p:cNvPr>
          <p:cNvCxnSpPr>
            <a:cxnSpLocks/>
          </p:cNvCxnSpPr>
          <p:nvPr/>
        </p:nvCxnSpPr>
        <p:spPr>
          <a:xfrm>
            <a:off x="4143480" y="650727"/>
            <a:ext cx="0" cy="7622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EB4190D-D0C6-C37B-C6BC-02E960FFA911}"/>
              </a:ext>
            </a:extLst>
          </p:cNvPr>
          <p:cNvSpPr txBox="1"/>
          <p:nvPr/>
        </p:nvSpPr>
        <p:spPr>
          <a:xfrm>
            <a:off x="3853828" y="440995"/>
            <a:ext cx="15853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Speed sensor  </a:t>
            </a:r>
            <a:endParaRPr lang="en-SG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13D1C83-4A1E-E33A-1987-D3D69EAFA8FB}"/>
              </a:ext>
            </a:extLst>
          </p:cNvPr>
          <p:cNvCxnSpPr>
            <a:cxnSpLocks/>
          </p:cNvCxnSpPr>
          <p:nvPr/>
        </p:nvCxnSpPr>
        <p:spPr>
          <a:xfrm>
            <a:off x="3558413" y="717994"/>
            <a:ext cx="432667" cy="7060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498248B-A420-63C2-9D4D-FCD054B79C8A}"/>
              </a:ext>
            </a:extLst>
          </p:cNvPr>
          <p:cNvSpPr txBox="1"/>
          <p:nvPr/>
        </p:nvSpPr>
        <p:spPr>
          <a:xfrm>
            <a:off x="2660539" y="486809"/>
            <a:ext cx="15853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Throttle &amp; break</a:t>
            </a:r>
            <a:endParaRPr lang="en-SG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F3023E-F42B-9F0B-2B73-85E5B28FCCA6}"/>
              </a:ext>
            </a:extLst>
          </p:cNvPr>
          <p:cNvSpPr/>
          <p:nvPr/>
        </p:nvSpPr>
        <p:spPr>
          <a:xfrm>
            <a:off x="2535570" y="2847722"/>
            <a:ext cx="3152775" cy="1758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AB37E31-F434-DF5F-F6E3-ED2067B7E1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3854" y="4272849"/>
            <a:ext cx="421420" cy="2486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21206E1-39A1-3596-5F33-3D727BC60419}"/>
              </a:ext>
            </a:extLst>
          </p:cNvPr>
          <p:cNvSpPr txBox="1"/>
          <p:nvPr/>
        </p:nvSpPr>
        <p:spPr>
          <a:xfrm>
            <a:off x="4604756" y="2964507"/>
            <a:ext cx="599768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HR0</a:t>
            </a:r>
            <a:endParaRPr lang="en-SG" dirty="0">
              <a:solidFill>
                <a:schemeClr val="bg1"/>
              </a:solidFill>
            </a:endParaRP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92A7035-855C-18CD-EB31-45A0AE24DE39}"/>
              </a:ext>
            </a:extLst>
          </p:cNvPr>
          <p:cNvCxnSpPr>
            <a:endCxn id="16" idx="3"/>
          </p:cNvCxnSpPr>
          <p:nvPr/>
        </p:nvCxnSpPr>
        <p:spPr>
          <a:xfrm rot="16200000" flipH="1">
            <a:off x="4028872" y="1973520"/>
            <a:ext cx="1501877" cy="849428"/>
          </a:xfrm>
          <a:prstGeom prst="bentConnector4">
            <a:avLst>
              <a:gd name="adj1" fmla="val 43852"/>
              <a:gd name="adj2" fmla="val 126912"/>
            </a:avLst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7E83538-82E4-192C-BD61-EF3F85E210B3}"/>
              </a:ext>
            </a:extLst>
          </p:cNvPr>
          <p:cNvSpPr txBox="1"/>
          <p:nvPr/>
        </p:nvSpPr>
        <p:spPr>
          <a:xfrm>
            <a:off x="2641654" y="3612525"/>
            <a:ext cx="849429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Coil00</a:t>
            </a:r>
            <a:endParaRPr lang="en-SG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C51008-48DB-B117-308D-11904F861362}"/>
              </a:ext>
            </a:extLst>
          </p:cNvPr>
          <p:cNvSpPr txBox="1"/>
          <p:nvPr/>
        </p:nvSpPr>
        <p:spPr>
          <a:xfrm>
            <a:off x="2660539" y="4109178"/>
            <a:ext cx="825321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Coil01</a:t>
            </a:r>
            <a:endParaRPr lang="en-SG" dirty="0">
              <a:solidFill>
                <a:schemeClr val="bg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D2CB106-ADF3-2AD9-CE1B-A5FAFC0E955E}"/>
              </a:ext>
            </a:extLst>
          </p:cNvPr>
          <p:cNvCxnSpPr>
            <a:cxnSpLocks/>
          </p:cNvCxnSpPr>
          <p:nvPr/>
        </p:nvCxnSpPr>
        <p:spPr>
          <a:xfrm>
            <a:off x="2730562" y="1109650"/>
            <a:ext cx="986378" cy="3143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2D8F11B-DCAC-16D4-8C9E-7004FAB81A98}"/>
              </a:ext>
            </a:extLst>
          </p:cNvPr>
          <p:cNvSpPr txBox="1"/>
          <p:nvPr/>
        </p:nvSpPr>
        <p:spPr>
          <a:xfrm>
            <a:off x="2122356" y="744972"/>
            <a:ext cx="9863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Overall train </a:t>
            </a:r>
          </a:p>
          <a:p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power</a:t>
            </a:r>
            <a:endParaRPr lang="en-SG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3F2D4AB-83C4-6B81-70DA-2125A9742AA2}"/>
              </a:ext>
            </a:extLst>
          </p:cNvPr>
          <p:cNvSpPr txBox="1"/>
          <p:nvPr/>
        </p:nvSpPr>
        <p:spPr>
          <a:xfrm>
            <a:off x="4702114" y="3600503"/>
            <a:ext cx="599768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HR1</a:t>
            </a:r>
            <a:endParaRPr lang="en-SG" dirty="0">
              <a:solidFill>
                <a:schemeClr val="bg1"/>
              </a:solidFill>
            </a:endParaRP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445CFE30-8CC1-E507-01E7-EBD26353F822}"/>
              </a:ext>
            </a:extLst>
          </p:cNvPr>
          <p:cNvCxnSpPr>
            <a:cxnSpLocks/>
          </p:cNvCxnSpPr>
          <p:nvPr/>
        </p:nvCxnSpPr>
        <p:spPr>
          <a:xfrm rot="16200000" flipH="1">
            <a:off x="3505417" y="2286204"/>
            <a:ext cx="1959956" cy="683827"/>
          </a:xfrm>
          <a:prstGeom prst="bentConnector3">
            <a:avLst>
              <a:gd name="adj1" fmla="val 90132"/>
            </a:avLst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1974B76-B7CB-CDC8-6C0D-AF4DF2756FDB}"/>
              </a:ext>
            </a:extLst>
          </p:cNvPr>
          <p:cNvCxnSpPr>
            <a:cxnSpLocks/>
          </p:cNvCxnSpPr>
          <p:nvPr/>
        </p:nvCxnSpPr>
        <p:spPr>
          <a:xfrm flipH="1">
            <a:off x="4300500" y="3214773"/>
            <a:ext cx="304255" cy="550412"/>
          </a:xfrm>
          <a:prstGeom prst="straightConnector1">
            <a:avLst/>
          </a:prstGeom>
          <a:ln w="19050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Picture 24">
            <a:extLst>
              <a:ext uri="{FF2B5EF4-FFF2-40B4-BE49-F238E27FC236}">
                <a16:creationId xmlns:a16="http://schemas.microsoft.com/office/drawing/2014/main" id="{A812B3B0-3F53-41E1-CAE2-9F5F9EDC7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0336" y="3524812"/>
            <a:ext cx="610493" cy="520714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7A73203-E401-06ED-6E13-C56E1A23C167}"/>
              </a:ext>
            </a:extLst>
          </p:cNvPr>
          <p:cNvCxnSpPr>
            <a:cxnSpLocks/>
            <a:stCxn id="25" idx="1"/>
            <a:endCxn id="18" idx="3"/>
          </p:cNvCxnSpPr>
          <p:nvPr/>
        </p:nvCxnSpPr>
        <p:spPr>
          <a:xfrm flipH="1">
            <a:off x="3491083" y="3785169"/>
            <a:ext cx="209253" cy="12022"/>
          </a:xfrm>
          <a:prstGeom prst="straightConnector1">
            <a:avLst/>
          </a:prstGeom>
          <a:ln w="19050"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2E03F7E5-569F-FC7A-4C69-CE345DD66C68}"/>
              </a:ext>
            </a:extLst>
          </p:cNvPr>
          <p:cNvCxnSpPr>
            <a:cxnSpLocks/>
            <a:endCxn id="18" idx="0"/>
          </p:cNvCxnSpPr>
          <p:nvPr/>
        </p:nvCxnSpPr>
        <p:spPr>
          <a:xfrm rot="5400000">
            <a:off x="2544326" y="2192688"/>
            <a:ext cx="1941881" cy="897793"/>
          </a:xfrm>
          <a:prstGeom prst="bentConnector3">
            <a:avLst>
              <a:gd name="adj1" fmla="val 50000"/>
            </a:avLst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945A849-CA0A-DB72-764A-2968E7747B01}"/>
              </a:ext>
            </a:extLst>
          </p:cNvPr>
          <p:cNvCxnSpPr>
            <a:cxnSpLocks/>
            <a:endCxn id="19" idx="1"/>
          </p:cNvCxnSpPr>
          <p:nvPr/>
        </p:nvCxnSpPr>
        <p:spPr>
          <a:xfrm rot="5400000">
            <a:off x="1891025" y="2387589"/>
            <a:ext cx="2675769" cy="1136740"/>
          </a:xfrm>
          <a:prstGeom prst="bentConnector4">
            <a:avLst>
              <a:gd name="adj1" fmla="val 27682"/>
              <a:gd name="adj2" fmla="val 120110"/>
            </a:avLst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8B0FC40-9E90-E50E-7F60-49685A68667D}"/>
              </a:ext>
            </a:extLst>
          </p:cNvPr>
          <p:cNvSpPr txBox="1"/>
          <p:nvPr/>
        </p:nvSpPr>
        <p:spPr>
          <a:xfrm>
            <a:off x="4315005" y="2637860"/>
            <a:ext cx="13466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Front sensor state holding register </a:t>
            </a:r>
            <a:endParaRPr lang="en-SG" sz="1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F7C6C4-357A-F7BE-55A3-D869C8417963}"/>
              </a:ext>
            </a:extLst>
          </p:cNvPr>
          <p:cNvSpPr txBox="1"/>
          <p:nvPr/>
        </p:nvSpPr>
        <p:spPr>
          <a:xfrm>
            <a:off x="5253814" y="3467834"/>
            <a:ext cx="93775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Speed sensor state holding register </a:t>
            </a:r>
            <a:endParaRPr lang="en-SG" sz="1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12B4DB3-30CB-3386-BB81-DBC07C376326}"/>
              </a:ext>
            </a:extLst>
          </p:cNvPr>
          <p:cNvSpPr txBox="1"/>
          <p:nvPr/>
        </p:nvSpPr>
        <p:spPr>
          <a:xfrm>
            <a:off x="2569565" y="3234735"/>
            <a:ext cx="11179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Coil output to throttle &amp; break</a:t>
            </a:r>
            <a:endParaRPr lang="en-SG" sz="1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34D43C-B489-2751-6845-F82268B505F4}"/>
              </a:ext>
            </a:extLst>
          </p:cNvPr>
          <p:cNvSpPr txBox="1"/>
          <p:nvPr/>
        </p:nvSpPr>
        <p:spPr>
          <a:xfrm>
            <a:off x="3432105" y="4095936"/>
            <a:ext cx="11179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Coil output to train power</a:t>
            </a:r>
            <a:endParaRPr lang="en-SG" sz="1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33" name="Picture 32" descr="A screen shot of a device&#10;&#10;Description automatically generated">
            <a:extLst>
              <a:ext uri="{FF2B5EF4-FFF2-40B4-BE49-F238E27FC236}">
                <a16:creationId xmlns:a16="http://schemas.microsoft.com/office/drawing/2014/main" id="{0E839675-FBA8-748E-550F-3859AFE50E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7821" y="2810586"/>
            <a:ext cx="1931347" cy="1795246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048C03B-2E63-0505-8127-E608CEF1412B}"/>
              </a:ext>
            </a:extLst>
          </p:cNvPr>
          <p:cNvSpPr txBox="1"/>
          <p:nvPr/>
        </p:nvSpPr>
        <p:spPr>
          <a:xfrm>
            <a:off x="6290130" y="2499360"/>
            <a:ext cx="17133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Train HMI control panel</a:t>
            </a:r>
            <a:endParaRPr lang="en-SG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7441CA4A-1879-D528-8EED-AB8FAA1E0406}"/>
              </a:ext>
            </a:extLst>
          </p:cNvPr>
          <p:cNvCxnSpPr>
            <a:stCxn id="22" idx="2"/>
          </p:cNvCxnSpPr>
          <p:nvPr/>
        </p:nvCxnSpPr>
        <p:spPr>
          <a:xfrm rot="16200000" flipH="1">
            <a:off x="5650238" y="3321594"/>
            <a:ext cx="139343" cy="1435823"/>
          </a:xfrm>
          <a:prstGeom prst="bentConnector2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6369EB8-DF7C-CC7D-BF4C-0E552323691A}"/>
              </a:ext>
            </a:extLst>
          </p:cNvPr>
          <p:cNvSpPr txBox="1"/>
          <p:nvPr/>
        </p:nvSpPr>
        <p:spPr>
          <a:xfrm>
            <a:off x="5661633" y="4586907"/>
            <a:ext cx="12133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Modbus </a:t>
            </a:r>
            <a:r>
              <a:rPr lang="en-US" sz="1200" b="1" dirty="0" err="1">
                <a:solidFill>
                  <a:schemeClr val="accent6">
                    <a:lumMod val="75000"/>
                  </a:schemeClr>
                </a:solidFill>
              </a:rPr>
              <a:t>cmd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99EB948-7063-2F86-33BD-E8840ABA1104}"/>
              </a:ext>
            </a:extLst>
          </p:cNvPr>
          <p:cNvCxnSpPr>
            <a:stCxn id="33" idx="2"/>
            <a:endCxn id="19" idx="2"/>
          </p:cNvCxnSpPr>
          <p:nvPr/>
        </p:nvCxnSpPr>
        <p:spPr>
          <a:xfrm rot="5400000" flipH="1">
            <a:off x="5174687" y="2377024"/>
            <a:ext cx="127322" cy="4330295"/>
          </a:xfrm>
          <a:prstGeom prst="bentConnector3">
            <a:avLst>
              <a:gd name="adj1" fmla="val -179545"/>
            </a:avLst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B1F919B-A827-B67E-C8EA-9650E040A152}"/>
              </a:ext>
            </a:extLst>
          </p:cNvPr>
          <p:cNvCxnSpPr>
            <a:cxnSpLocks/>
          </p:cNvCxnSpPr>
          <p:nvPr/>
        </p:nvCxnSpPr>
        <p:spPr>
          <a:xfrm flipH="1">
            <a:off x="5214184" y="2183340"/>
            <a:ext cx="1196925" cy="87704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B3AFD5B-E0BB-2F43-0B6F-9F35FD7B2D6B}"/>
              </a:ext>
            </a:extLst>
          </p:cNvPr>
          <p:cNvSpPr txBox="1"/>
          <p:nvPr/>
        </p:nvSpPr>
        <p:spPr>
          <a:xfrm>
            <a:off x="5427618" y="1883510"/>
            <a:ext cx="13471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False Modbus </a:t>
            </a:r>
            <a:r>
              <a:rPr lang="en-US" sz="1200" b="1" dirty="0" err="1">
                <a:solidFill>
                  <a:srgbClr val="FF0000"/>
                </a:solidFill>
              </a:rPr>
              <a:t>cmd</a:t>
            </a:r>
            <a:r>
              <a:rPr lang="en-US" sz="1200" b="1" dirty="0">
                <a:solidFill>
                  <a:srgbClr val="FF0000"/>
                </a:solidFill>
              </a:rPr>
              <a:t>/data </a:t>
            </a:r>
            <a:endParaRPr lang="en-SG" sz="1200" b="1" dirty="0">
              <a:solidFill>
                <a:srgbClr val="FF0000"/>
              </a:solidFill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5A954C6F-6BE3-F57E-C85B-654FCFF86C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2545" y="1968132"/>
            <a:ext cx="417996" cy="292597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9E02D705-EF63-C01A-4843-7ABABFD1AF22}"/>
              </a:ext>
            </a:extLst>
          </p:cNvPr>
          <p:cNvSpPr txBox="1"/>
          <p:nvPr/>
        </p:nvSpPr>
        <p:spPr>
          <a:xfrm>
            <a:off x="3575437" y="3162776"/>
            <a:ext cx="13091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Train Auto control logic </a:t>
            </a:r>
            <a:endParaRPr lang="en-SG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17DE7FD-7371-8122-3EC1-0D24D9B9C2CF}"/>
              </a:ext>
            </a:extLst>
          </p:cNvPr>
          <p:cNvSpPr txBox="1"/>
          <p:nvPr/>
        </p:nvSpPr>
        <p:spPr>
          <a:xfrm>
            <a:off x="5681918" y="3879632"/>
            <a:ext cx="7775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Modbus data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543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9962A4AD-77BC-3C4F-146F-68E995CC99B8}"/>
              </a:ext>
            </a:extLst>
          </p:cNvPr>
          <p:cNvSpPr/>
          <p:nvPr/>
        </p:nvSpPr>
        <p:spPr>
          <a:xfrm>
            <a:off x="4599007" y="1502664"/>
            <a:ext cx="3764376" cy="46694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F94F508-0E63-A8B0-4AFC-01A2330280AE}"/>
              </a:ext>
            </a:extLst>
          </p:cNvPr>
          <p:cNvCxnSpPr>
            <a:cxnSpLocks/>
          </p:cNvCxnSpPr>
          <p:nvPr/>
        </p:nvCxnSpPr>
        <p:spPr>
          <a:xfrm>
            <a:off x="4240637" y="1071548"/>
            <a:ext cx="0" cy="537802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43F286D-9BD1-56BB-59F9-6B6E3B4B205E}"/>
              </a:ext>
            </a:extLst>
          </p:cNvPr>
          <p:cNvSpPr/>
          <p:nvPr/>
        </p:nvSpPr>
        <p:spPr>
          <a:xfrm>
            <a:off x="470047" y="1502664"/>
            <a:ext cx="3476351" cy="46694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4" name="Picture 3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F31B7559-7C94-252A-22D0-63B172D4F5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505" y="1810441"/>
            <a:ext cx="3290555" cy="1863919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EAA913-A29B-D91E-B019-B340E80FDE59}"/>
              </a:ext>
            </a:extLst>
          </p:cNvPr>
          <p:cNvSpPr txBox="1"/>
          <p:nvPr/>
        </p:nvSpPr>
        <p:spPr>
          <a:xfrm>
            <a:off x="408758" y="1059286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OT Physical Field I/O Devices </a:t>
            </a:r>
            <a:endParaRPr lang="en-SG" sz="14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3114E0-A6D3-730A-DA37-3038D4FDF4DE}"/>
              </a:ext>
            </a:extLst>
          </p:cNvPr>
          <p:cNvSpPr/>
          <p:nvPr/>
        </p:nvSpPr>
        <p:spPr>
          <a:xfrm>
            <a:off x="3592767" y="4072131"/>
            <a:ext cx="1478344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Electrical Signal Measure Interface </a:t>
            </a:r>
            <a:endParaRPr lang="en-SG" sz="105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E869A-F5A6-2EEE-EB85-695572B0278F}"/>
              </a:ext>
            </a:extLst>
          </p:cNvPr>
          <p:cNvSpPr txBox="1"/>
          <p:nvPr/>
        </p:nvSpPr>
        <p:spPr>
          <a:xfrm>
            <a:off x="470047" y="1530091"/>
            <a:ext cx="25282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Virtual Power Grid Simulator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6169345-CD59-858A-D168-0175864E63EE}"/>
              </a:ext>
            </a:extLst>
          </p:cNvPr>
          <p:cNvCxnSpPr/>
          <p:nvPr/>
        </p:nvCxnSpPr>
        <p:spPr>
          <a:xfrm>
            <a:off x="764286" y="3674360"/>
            <a:ext cx="0" cy="22082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0350E997-534A-3CB9-264F-6AAA1526C42B}"/>
              </a:ext>
            </a:extLst>
          </p:cNvPr>
          <p:cNvSpPr/>
          <p:nvPr/>
        </p:nvSpPr>
        <p:spPr>
          <a:xfrm>
            <a:off x="986292" y="3852565"/>
            <a:ext cx="1892977" cy="295727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Virtual Voltage Meters Unit</a:t>
            </a:r>
            <a:endParaRPr lang="en-SG" sz="1050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3973C2-7D9E-5CA7-BDC3-BF564838FC68}"/>
              </a:ext>
            </a:extLst>
          </p:cNvPr>
          <p:cNvSpPr/>
          <p:nvPr/>
        </p:nvSpPr>
        <p:spPr>
          <a:xfrm>
            <a:off x="986292" y="4326497"/>
            <a:ext cx="2076186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Virtual Current age Meters Unit</a:t>
            </a:r>
            <a:endParaRPr lang="en-SG" sz="105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AA0F87-D125-13AC-C43F-CF9FC1571D60}"/>
              </a:ext>
            </a:extLst>
          </p:cNvPr>
          <p:cNvSpPr/>
          <p:nvPr/>
        </p:nvSpPr>
        <p:spPr>
          <a:xfrm>
            <a:off x="986292" y="4754709"/>
            <a:ext cx="1783578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Virtual RPM Meters Unit</a:t>
            </a:r>
            <a:endParaRPr lang="en-SG" sz="105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0A68DBE-A868-FFB8-EB9E-5D0BFFA821FF}"/>
              </a:ext>
            </a:extLst>
          </p:cNvPr>
          <p:cNvSpPr/>
          <p:nvPr/>
        </p:nvSpPr>
        <p:spPr>
          <a:xfrm>
            <a:off x="986282" y="5210349"/>
            <a:ext cx="2092701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Virtual Breaker Position Sensor </a:t>
            </a:r>
            <a:endParaRPr lang="en-SG" sz="1050" b="1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22C805C-A032-DF1A-7C03-D44793A04553}"/>
              </a:ext>
            </a:extLst>
          </p:cNvPr>
          <p:cNvSpPr/>
          <p:nvPr/>
        </p:nvSpPr>
        <p:spPr>
          <a:xfrm>
            <a:off x="3576762" y="5380449"/>
            <a:ext cx="1478340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Electrical Signal Control Interface </a:t>
            </a:r>
            <a:endParaRPr lang="en-SG" sz="1050" b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39DF91-A8B2-730E-FFA1-BDF0D574BBD9}"/>
              </a:ext>
            </a:extLst>
          </p:cNvPr>
          <p:cNvSpPr/>
          <p:nvPr/>
        </p:nvSpPr>
        <p:spPr>
          <a:xfrm>
            <a:off x="970539" y="5702569"/>
            <a:ext cx="2076196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Virtual Breaker Motor Control</a:t>
            </a:r>
            <a:endParaRPr lang="en-SG" sz="1050" b="1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9F2BDED-FDBF-7FDD-B2BE-73B8E7ADBDBF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764286" y="4000429"/>
            <a:ext cx="22200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289AE06-8109-79F3-E31D-63C376FAA7A6}"/>
              </a:ext>
            </a:extLst>
          </p:cNvPr>
          <p:cNvCxnSpPr>
            <a:cxnSpLocks/>
          </p:cNvCxnSpPr>
          <p:nvPr/>
        </p:nvCxnSpPr>
        <p:spPr>
          <a:xfrm>
            <a:off x="764286" y="4483607"/>
            <a:ext cx="22200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9428395-9AC9-B7C7-6DFF-81BCFA3EF1FE}"/>
              </a:ext>
            </a:extLst>
          </p:cNvPr>
          <p:cNvCxnSpPr>
            <a:cxnSpLocks/>
          </p:cNvCxnSpPr>
          <p:nvPr/>
        </p:nvCxnSpPr>
        <p:spPr>
          <a:xfrm>
            <a:off x="764286" y="4911781"/>
            <a:ext cx="22200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6792B7D-4A52-604D-DE58-ECACBF938F9B}"/>
              </a:ext>
            </a:extLst>
          </p:cNvPr>
          <p:cNvCxnSpPr>
            <a:cxnSpLocks/>
          </p:cNvCxnSpPr>
          <p:nvPr/>
        </p:nvCxnSpPr>
        <p:spPr>
          <a:xfrm>
            <a:off x="764286" y="5329220"/>
            <a:ext cx="22200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E268C3D-7220-04E8-B292-2B0A15542367}"/>
              </a:ext>
            </a:extLst>
          </p:cNvPr>
          <p:cNvCxnSpPr>
            <a:cxnSpLocks/>
          </p:cNvCxnSpPr>
          <p:nvPr/>
        </p:nvCxnSpPr>
        <p:spPr>
          <a:xfrm>
            <a:off x="764286" y="5882640"/>
            <a:ext cx="22200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1DF1156-A8E8-8D10-E66C-D80B284856C0}"/>
              </a:ext>
            </a:extLst>
          </p:cNvPr>
          <p:cNvCxnSpPr>
            <a:cxnSpLocks/>
            <a:stCxn id="16" idx="3"/>
            <a:endCxn id="7" idx="1"/>
          </p:cNvCxnSpPr>
          <p:nvPr/>
        </p:nvCxnSpPr>
        <p:spPr>
          <a:xfrm flipV="1">
            <a:off x="3078983" y="4286960"/>
            <a:ext cx="513784" cy="1074265"/>
          </a:xfrm>
          <a:prstGeom prst="bentConnector3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2237C6B-C3C9-40AB-2F00-C5E6959F08B2}"/>
              </a:ext>
            </a:extLst>
          </p:cNvPr>
          <p:cNvCxnSpPr>
            <a:cxnSpLocks/>
          </p:cNvCxnSpPr>
          <p:nvPr/>
        </p:nvCxnSpPr>
        <p:spPr>
          <a:xfrm flipV="1">
            <a:off x="2769870" y="4911781"/>
            <a:ext cx="554736" cy="4501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C3D2E37-B51B-CFE0-0112-9B047BE32432}"/>
              </a:ext>
            </a:extLst>
          </p:cNvPr>
          <p:cNvCxnSpPr>
            <a:cxnSpLocks/>
          </p:cNvCxnSpPr>
          <p:nvPr/>
        </p:nvCxnSpPr>
        <p:spPr>
          <a:xfrm>
            <a:off x="3062478" y="4483607"/>
            <a:ext cx="262128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6492C1D-56B5-4956-E7A2-1230DFE1AC92}"/>
              </a:ext>
            </a:extLst>
          </p:cNvPr>
          <p:cNvCxnSpPr>
            <a:cxnSpLocks/>
          </p:cNvCxnSpPr>
          <p:nvPr/>
        </p:nvCxnSpPr>
        <p:spPr>
          <a:xfrm>
            <a:off x="2879269" y="4004930"/>
            <a:ext cx="445337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A98EAC0-926A-867D-035F-11D1A074B0DE}"/>
              </a:ext>
            </a:extLst>
          </p:cNvPr>
          <p:cNvCxnSpPr>
            <a:cxnSpLocks/>
          </p:cNvCxnSpPr>
          <p:nvPr/>
        </p:nvCxnSpPr>
        <p:spPr>
          <a:xfrm>
            <a:off x="3333750" y="4000429"/>
            <a:ext cx="0" cy="391739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9AD3ADC8-A06D-2E21-F661-B3F58E1C3656}"/>
              </a:ext>
            </a:extLst>
          </p:cNvPr>
          <p:cNvCxnSpPr>
            <a:cxnSpLocks/>
            <a:stCxn id="18" idx="3"/>
            <a:endCxn id="17" idx="1"/>
          </p:cNvCxnSpPr>
          <p:nvPr/>
        </p:nvCxnSpPr>
        <p:spPr>
          <a:xfrm flipV="1">
            <a:off x="3046735" y="5595278"/>
            <a:ext cx="530027" cy="258167"/>
          </a:xfrm>
          <a:prstGeom prst="bentConnector3">
            <a:avLst>
              <a:gd name="adj1" fmla="val 5000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3A7C4FE-59D4-DB55-6480-BA0AD44A69D7}"/>
              </a:ext>
            </a:extLst>
          </p:cNvPr>
          <p:cNvSpPr txBox="1"/>
          <p:nvPr/>
        </p:nvSpPr>
        <p:spPr>
          <a:xfrm>
            <a:off x="4651060" y="1530091"/>
            <a:ext cx="34375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PLC/RTU Station Simulation Framework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E29B4C-04C6-3BB3-AD78-7DE58C8D2B6D}"/>
              </a:ext>
            </a:extLst>
          </p:cNvPr>
          <p:cNvSpPr txBox="1"/>
          <p:nvPr/>
        </p:nvSpPr>
        <p:spPr>
          <a:xfrm>
            <a:off x="4599007" y="1071548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OT Controller Devices </a:t>
            </a:r>
            <a:endParaRPr lang="en-SG" sz="1400" b="1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ABB435E-D1C5-2A1D-D5B6-FF9D65A294BC}"/>
              </a:ext>
            </a:extLst>
          </p:cNvPr>
          <p:cNvSpPr/>
          <p:nvPr/>
        </p:nvSpPr>
        <p:spPr>
          <a:xfrm>
            <a:off x="5404483" y="3983699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050" b="1" dirty="0"/>
              <a:t>M_SP_NA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219C6DC-E430-B27D-ED11-6AB2DA7DEA0C}"/>
              </a:ext>
            </a:extLst>
          </p:cNvPr>
          <p:cNvSpPr/>
          <p:nvPr/>
        </p:nvSpPr>
        <p:spPr>
          <a:xfrm>
            <a:off x="5400792" y="4369256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050" b="1" dirty="0"/>
              <a:t>M_DP_NA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B23D02C-51CF-53CB-D764-1F98322F2306}"/>
              </a:ext>
            </a:extLst>
          </p:cNvPr>
          <p:cNvSpPr/>
          <p:nvPr/>
        </p:nvSpPr>
        <p:spPr>
          <a:xfrm>
            <a:off x="5400791" y="4736525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050" b="1" dirty="0"/>
              <a:t>M_ME_NB</a:t>
            </a:r>
          </a:p>
        </p:txBody>
      </p: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E7DEB4B8-1FDC-0C57-7FF9-3EFB3B9A11F4}"/>
              </a:ext>
            </a:extLst>
          </p:cNvPr>
          <p:cNvCxnSpPr>
            <a:cxnSpLocks/>
            <a:stCxn id="62" idx="1"/>
            <a:endCxn id="7" idx="3"/>
          </p:cNvCxnSpPr>
          <p:nvPr/>
        </p:nvCxnSpPr>
        <p:spPr>
          <a:xfrm rot="10800000">
            <a:off x="5071111" y="4286961"/>
            <a:ext cx="329680" cy="597429"/>
          </a:xfrm>
          <a:prstGeom prst="bentConnector3">
            <a:avLst>
              <a:gd name="adj1" fmla="val 5000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FC8D18B1-2871-3609-9064-4C63D393655B}"/>
              </a:ext>
            </a:extLst>
          </p:cNvPr>
          <p:cNvCxnSpPr>
            <a:cxnSpLocks/>
            <a:endCxn id="61" idx="1"/>
          </p:cNvCxnSpPr>
          <p:nvPr/>
        </p:nvCxnSpPr>
        <p:spPr>
          <a:xfrm>
            <a:off x="5235950" y="4517119"/>
            <a:ext cx="164842" cy="1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34B51537-1489-D4A1-ED38-B4E1D45DE9F6}"/>
              </a:ext>
            </a:extLst>
          </p:cNvPr>
          <p:cNvCxnSpPr>
            <a:cxnSpLocks/>
            <a:endCxn id="60" idx="1"/>
          </p:cNvCxnSpPr>
          <p:nvPr/>
        </p:nvCxnSpPr>
        <p:spPr>
          <a:xfrm rot="5400000" flipH="1" flipV="1">
            <a:off x="5201370" y="4166144"/>
            <a:ext cx="237693" cy="168533"/>
          </a:xfrm>
          <a:prstGeom prst="bentConnector2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01E8581F-D3D3-6078-F256-4DE00D9D11B5}"/>
              </a:ext>
            </a:extLst>
          </p:cNvPr>
          <p:cNvSpPr txBox="1"/>
          <p:nvPr/>
        </p:nvSpPr>
        <p:spPr>
          <a:xfrm>
            <a:off x="5071110" y="3714065"/>
            <a:ext cx="14783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Measured Points</a:t>
            </a:r>
            <a:endParaRPr lang="en-SG" sz="1200" b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C89F931-948C-FB41-750A-25BFC21F47BD}"/>
              </a:ext>
            </a:extLst>
          </p:cNvPr>
          <p:cNvSpPr txBox="1"/>
          <p:nvPr/>
        </p:nvSpPr>
        <p:spPr>
          <a:xfrm>
            <a:off x="5010214" y="5105832"/>
            <a:ext cx="1539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Changeable Points </a:t>
            </a:r>
            <a:endParaRPr lang="en-SG" sz="1200" b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509DE3B-F28B-FCA3-D312-3F785FAAF02C}"/>
              </a:ext>
            </a:extLst>
          </p:cNvPr>
          <p:cNvSpPr/>
          <p:nvPr/>
        </p:nvSpPr>
        <p:spPr>
          <a:xfrm>
            <a:off x="5393679" y="5397846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050" b="1" dirty="0"/>
              <a:t>C_SC_NA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B8376AD-E98C-75F6-B109-4AB484A0B338}"/>
              </a:ext>
            </a:extLst>
          </p:cNvPr>
          <p:cNvSpPr/>
          <p:nvPr/>
        </p:nvSpPr>
        <p:spPr>
          <a:xfrm>
            <a:off x="5389988" y="5783403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050" b="1" dirty="0"/>
              <a:t>C_RC_NA</a:t>
            </a:r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19EBCB34-FCEB-B46C-85FD-1BD2A50DC921}"/>
              </a:ext>
            </a:extLst>
          </p:cNvPr>
          <p:cNvCxnSpPr>
            <a:cxnSpLocks/>
            <a:stCxn id="76" idx="1"/>
            <a:endCxn id="17" idx="3"/>
          </p:cNvCxnSpPr>
          <p:nvPr/>
        </p:nvCxnSpPr>
        <p:spPr>
          <a:xfrm rot="10800000">
            <a:off x="5055102" y="5595279"/>
            <a:ext cx="334886" cy="335989"/>
          </a:xfrm>
          <a:prstGeom prst="bentConnector3">
            <a:avLst>
              <a:gd name="adj1" fmla="val 5000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B4B69282-1241-EEB0-A408-5695FD769DF8}"/>
              </a:ext>
            </a:extLst>
          </p:cNvPr>
          <p:cNvCxnSpPr>
            <a:cxnSpLocks/>
            <a:stCxn id="75" idx="1"/>
          </p:cNvCxnSpPr>
          <p:nvPr/>
        </p:nvCxnSpPr>
        <p:spPr>
          <a:xfrm rot="10800000" flipV="1">
            <a:off x="5214093" y="5545709"/>
            <a:ext cx="179586" cy="44863"/>
          </a:xfrm>
          <a:prstGeom prst="bentConnector3">
            <a:avLst>
              <a:gd name="adj1" fmla="val 106009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DB6FAB05-7EEB-3FF6-A03D-BAC61FA46D30}"/>
              </a:ext>
            </a:extLst>
          </p:cNvPr>
          <p:cNvSpPr/>
          <p:nvPr/>
        </p:nvSpPr>
        <p:spPr>
          <a:xfrm>
            <a:off x="6981081" y="4267164"/>
            <a:ext cx="713346" cy="736098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LD/ST Input Map module  </a:t>
            </a:r>
            <a:endParaRPr lang="en-SG" sz="1050" b="1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C6982E0-F568-FDEB-F36D-A8A4B4ECAAC2}"/>
              </a:ext>
            </a:extLst>
          </p:cNvPr>
          <p:cNvSpPr/>
          <p:nvPr/>
        </p:nvSpPr>
        <p:spPr>
          <a:xfrm>
            <a:off x="6995575" y="5268222"/>
            <a:ext cx="713345" cy="736098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LD/ST Output Map module  </a:t>
            </a:r>
            <a:endParaRPr lang="en-SG" sz="1050" b="1" dirty="0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DEF1424-FF7D-72FE-F53F-C306F472F681}"/>
              </a:ext>
            </a:extLst>
          </p:cNvPr>
          <p:cNvCxnSpPr>
            <a:cxnSpLocks/>
          </p:cNvCxnSpPr>
          <p:nvPr/>
        </p:nvCxnSpPr>
        <p:spPr>
          <a:xfrm>
            <a:off x="6556939" y="3494802"/>
            <a:ext cx="0" cy="25026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EC170D48-8F6A-6ACC-6BD2-39E1B423908D}"/>
              </a:ext>
            </a:extLst>
          </p:cNvPr>
          <p:cNvCxnSpPr>
            <a:cxnSpLocks/>
          </p:cNvCxnSpPr>
          <p:nvPr/>
        </p:nvCxnSpPr>
        <p:spPr>
          <a:xfrm flipH="1">
            <a:off x="6756718" y="3674360"/>
            <a:ext cx="0" cy="2156584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6AC5BF7B-F30B-85AD-888E-1245DF1BA572}"/>
              </a:ext>
            </a:extLst>
          </p:cNvPr>
          <p:cNvCxnSpPr>
            <a:cxnSpLocks/>
          </p:cNvCxnSpPr>
          <p:nvPr/>
        </p:nvCxnSpPr>
        <p:spPr>
          <a:xfrm>
            <a:off x="6200902" y="4174164"/>
            <a:ext cx="347200" cy="0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1283D1D9-C238-DC3C-7E8C-8C1EA3C003A3}"/>
              </a:ext>
            </a:extLst>
          </p:cNvPr>
          <p:cNvCxnSpPr/>
          <p:nvPr/>
        </p:nvCxnSpPr>
        <p:spPr>
          <a:xfrm>
            <a:off x="6200902" y="4516341"/>
            <a:ext cx="348552" cy="0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59848069-2338-6BB6-3F3A-2C8BAD5035A6}"/>
              </a:ext>
            </a:extLst>
          </p:cNvPr>
          <p:cNvCxnSpPr/>
          <p:nvPr/>
        </p:nvCxnSpPr>
        <p:spPr>
          <a:xfrm>
            <a:off x="6190099" y="4884388"/>
            <a:ext cx="348552" cy="0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B4EE6678-E54C-E2F8-DBEB-DAABEA3B66C2}"/>
              </a:ext>
            </a:extLst>
          </p:cNvPr>
          <p:cNvCxnSpPr/>
          <p:nvPr/>
        </p:nvCxnSpPr>
        <p:spPr>
          <a:xfrm>
            <a:off x="6190099" y="5545709"/>
            <a:ext cx="348552" cy="0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4531199D-9058-BBD1-891B-7943E0AA56CE}"/>
              </a:ext>
            </a:extLst>
          </p:cNvPr>
          <p:cNvCxnSpPr/>
          <p:nvPr/>
        </p:nvCxnSpPr>
        <p:spPr>
          <a:xfrm>
            <a:off x="6191758" y="5977248"/>
            <a:ext cx="348552" cy="0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894F9FEA-B53E-AF57-9F5D-D590BA123568}"/>
              </a:ext>
            </a:extLst>
          </p:cNvPr>
          <p:cNvCxnSpPr>
            <a:cxnSpLocks/>
          </p:cNvCxnSpPr>
          <p:nvPr/>
        </p:nvCxnSpPr>
        <p:spPr>
          <a:xfrm flipH="1">
            <a:off x="6548102" y="5903710"/>
            <a:ext cx="41469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B07DB28-A322-EE63-4405-11479194F6BA}"/>
              </a:ext>
            </a:extLst>
          </p:cNvPr>
          <p:cNvCxnSpPr/>
          <p:nvPr/>
        </p:nvCxnSpPr>
        <p:spPr>
          <a:xfrm>
            <a:off x="10676382" y="5512100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475AB02B-30D0-CA26-00CC-A523CD0B2972}"/>
              </a:ext>
            </a:extLst>
          </p:cNvPr>
          <p:cNvCxnSpPr>
            <a:cxnSpLocks/>
          </p:cNvCxnSpPr>
          <p:nvPr/>
        </p:nvCxnSpPr>
        <p:spPr>
          <a:xfrm>
            <a:off x="6224199" y="4018283"/>
            <a:ext cx="531248" cy="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FFC73FE-8022-8E4D-DCC7-1EEAC7E698B8}"/>
              </a:ext>
            </a:extLst>
          </p:cNvPr>
          <p:cNvCxnSpPr>
            <a:cxnSpLocks/>
          </p:cNvCxnSpPr>
          <p:nvPr/>
        </p:nvCxnSpPr>
        <p:spPr>
          <a:xfrm>
            <a:off x="6224199" y="4392168"/>
            <a:ext cx="531248" cy="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C20B75D0-59AA-3E87-1A02-E45A9C712D28}"/>
              </a:ext>
            </a:extLst>
          </p:cNvPr>
          <p:cNvCxnSpPr>
            <a:cxnSpLocks/>
          </p:cNvCxnSpPr>
          <p:nvPr/>
        </p:nvCxnSpPr>
        <p:spPr>
          <a:xfrm>
            <a:off x="6200902" y="4794631"/>
            <a:ext cx="531248" cy="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68ECBA7C-5BD1-ABBA-1601-6F1F1AD6B00C}"/>
              </a:ext>
            </a:extLst>
          </p:cNvPr>
          <p:cNvCxnSpPr>
            <a:cxnSpLocks/>
          </p:cNvCxnSpPr>
          <p:nvPr/>
        </p:nvCxnSpPr>
        <p:spPr>
          <a:xfrm>
            <a:off x="6215055" y="5406990"/>
            <a:ext cx="531248" cy="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76588F49-1FEC-6CCC-95D7-19BA43B6E85C}"/>
              </a:ext>
            </a:extLst>
          </p:cNvPr>
          <p:cNvCxnSpPr>
            <a:cxnSpLocks/>
          </p:cNvCxnSpPr>
          <p:nvPr/>
        </p:nvCxnSpPr>
        <p:spPr>
          <a:xfrm>
            <a:off x="6200902" y="5810107"/>
            <a:ext cx="554545" cy="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1D2339A1-CD2B-659C-7D7E-5D019516BF6A}"/>
              </a:ext>
            </a:extLst>
          </p:cNvPr>
          <p:cNvCxnSpPr>
            <a:cxnSpLocks/>
            <a:stCxn id="86" idx="1"/>
          </p:cNvCxnSpPr>
          <p:nvPr/>
        </p:nvCxnSpPr>
        <p:spPr>
          <a:xfrm flipH="1" flipV="1">
            <a:off x="6755447" y="4620661"/>
            <a:ext cx="225634" cy="0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68D4F4D6-6BC7-C8A5-706C-4FE346D43298}"/>
              </a:ext>
            </a:extLst>
          </p:cNvPr>
          <p:cNvSpPr/>
          <p:nvPr/>
        </p:nvSpPr>
        <p:spPr>
          <a:xfrm>
            <a:off x="4790418" y="1918935"/>
            <a:ext cx="2010494" cy="292817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Station Main Control Module </a:t>
            </a:r>
            <a:endParaRPr lang="en-SG" sz="1050" b="1" dirty="0"/>
          </a:p>
        </p:txBody>
      </p:sp>
      <p:pic>
        <p:nvPicPr>
          <p:cNvPr id="116" name="Picture 115">
            <a:extLst>
              <a:ext uri="{FF2B5EF4-FFF2-40B4-BE49-F238E27FC236}">
                <a16:creationId xmlns:a16="http://schemas.microsoft.com/office/drawing/2014/main" id="{0C33FDE4-EC23-3B71-1F53-0228AF9D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397" y="3370261"/>
            <a:ext cx="713345" cy="620803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0D1150F4-9851-0304-CC18-24E65956BD37}"/>
              </a:ext>
            </a:extLst>
          </p:cNvPr>
          <p:cNvSpPr txBox="1"/>
          <p:nvPr/>
        </p:nvSpPr>
        <p:spPr>
          <a:xfrm>
            <a:off x="6832071" y="2915517"/>
            <a:ext cx="16319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Ladder Logic or ST calculation module </a:t>
            </a:r>
            <a:endParaRPr lang="en-SG" sz="1200" b="1" dirty="0"/>
          </a:p>
        </p:txBody>
      </p: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C2A1C5C-1EDC-66F4-5EFF-42FE62B9D3B8}"/>
              </a:ext>
            </a:extLst>
          </p:cNvPr>
          <p:cNvCxnSpPr>
            <a:cxnSpLocks/>
            <a:stCxn id="116" idx="1"/>
            <a:endCxn id="86" idx="3"/>
          </p:cNvCxnSpPr>
          <p:nvPr/>
        </p:nvCxnSpPr>
        <p:spPr>
          <a:xfrm rot="10800000" flipH="1" flipV="1">
            <a:off x="7200397" y="3680663"/>
            <a:ext cx="494030" cy="954550"/>
          </a:xfrm>
          <a:prstGeom prst="bentConnector5">
            <a:avLst>
              <a:gd name="adj1" fmla="val -46272"/>
              <a:gd name="adj2" fmla="val 46980"/>
              <a:gd name="adj3" fmla="val 14627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74886A93-2416-71D2-AB40-E3149EF0F594}"/>
              </a:ext>
            </a:extLst>
          </p:cNvPr>
          <p:cNvCxnSpPr>
            <a:cxnSpLocks/>
            <a:stCxn id="116" idx="3"/>
            <a:endCxn id="87" idx="3"/>
          </p:cNvCxnSpPr>
          <p:nvPr/>
        </p:nvCxnSpPr>
        <p:spPr>
          <a:xfrm flipH="1">
            <a:off x="7708920" y="3680663"/>
            <a:ext cx="204822" cy="1955608"/>
          </a:xfrm>
          <a:prstGeom prst="bentConnector3">
            <a:avLst>
              <a:gd name="adj1" fmla="val -111609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ectangle 123">
            <a:extLst>
              <a:ext uri="{FF2B5EF4-FFF2-40B4-BE49-F238E27FC236}">
                <a16:creationId xmlns:a16="http://schemas.microsoft.com/office/drawing/2014/main" id="{8E457287-FD3B-719A-C531-5C8E600AEC27}"/>
              </a:ext>
            </a:extLst>
          </p:cNvPr>
          <p:cNvSpPr/>
          <p:nvPr/>
        </p:nvSpPr>
        <p:spPr>
          <a:xfrm>
            <a:off x="4807207" y="3198788"/>
            <a:ext cx="2046968" cy="29601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Memory Management Module </a:t>
            </a:r>
            <a:endParaRPr lang="en-SG" sz="1050" b="1" dirty="0"/>
          </a:p>
        </p:txBody>
      </p: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E38D72A9-33E9-FDF4-75A4-6F27C6195F75}"/>
              </a:ext>
            </a:extLst>
          </p:cNvPr>
          <p:cNvCxnSpPr/>
          <p:nvPr/>
        </p:nvCxnSpPr>
        <p:spPr>
          <a:xfrm>
            <a:off x="6773734" y="3455269"/>
            <a:ext cx="4085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F4BF7FD1-140F-8503-EA2B-F5BA599B5DF9}"/>
              </a:ext>
            </a:extLst>
          </p:cNvPr>
          <p:cNvCxnSpPr>
            <a:cxnSpLocks/>
            <a:endCxn id="124" idx="2"/>
          </p:cNvCxnSpPr>
          <p:nvPr/>
        </p:nvCxnSpPr>
        <p:spPr>
          <a:xfrm rot="10800000">
            <a:off x="5830691" y="3494802"/>
            <a:ext cx="913756" cy="167140"/>
          </a:xfrm>
          <a:prstGeom prst="bentConnector2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29DAE77B-05F9-5219-D6D6-7D69A843B78E}"/>
              </a:ext>
            </a:extLst>
          </p:cNvPr>
          <p:cNvCxnSpPr>
            <a:cxnSpLocks/>
          </p:cNvCxnSpPr>
          <p:nvPr/>
        </p:nvCxnSpPr>
        <p:spPr>
          <a:xfrm>
            <a:off x="5213178" y="2211752"/>
            <a:ext cx="0" cy="98703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>
            <a:extLst>
              <a:ext uri="{FF2B5EF4-FFF2-40B4-BE49-F238E27FC236}">
                <a16:creationId xmlns:a16="http://schemas.microsoft.com/office/drawing/2014/main" id="{5FE92F7D-928C-1178-B356-6B2C0362C822}"/>
              </a:ext>
            </a:extLst>
          </p:cNvPr>
          <p:cNvSpPr/>
          <p:nvPr/>
        </p:nvSpPr>
        <p:spPr>
          <a:xfrm>
            <a:off x="7168158" y="2012334"/>
            <a:ext cx="1070290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IEC 104 Server </a:t>
            </a:r>
            <a:endParaRPr lang="en-SG" sz="1050" b="1" dirty="0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652B0B69-35D6-ABFC-C5C9-69A313D0CF43}"/>
              </a:ext>
            </a:extLst>
          </p:cNvPr>
          <p:cNvSpPr/>
          <p:nvPr/>
        </p:nvSpPr>
        <p:spPr>
          <a:xfrm>
            <a:off x="7159282" y="2550373"/>
            <a:ext cx="1070290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IEC 104 Server </a:t>
            </a:r>
            <a:endParaRPr lang="en-SG" sz="1050" b="1" dirty="0"/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7201F8AB-0A67-9824-708D-9A3030A5795A}"/>
              </a:ext>
            </a:extLst>
          </p:cNvPr>
          <p:cNvSpPr/>
          <p:nvPr/>
        </p:nvSpPr>
        <p:spPr>
          <a:xfrm>
            <a:off x="5565290" y="2465442"/>
            <a:ext cx="1070291" cy="457697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Connection Management Module </a:t>
            </a:r>
            <a:endParaRPr lang="en-SG" sz="1050" b="1" dirty="0"/>
          </a:p>
        </p:txBody>
      </p: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DAE5D238-321C-CB22-42B1-9BAEF666F111}"/>
              </a:ext>
            </a:extLst>
          </p:cNvPr>
          <p:cNvCxnSpPr>
            <a:cxnSpLocks/>
            <a:endCxn id="156" idx="1"/>
          </p:cNvCxnSpPr>
          <p:nvPr/>
        </p:nvCxnSpPr>
        <p:spPr>
          <a:xfrm rot="16200000" flipH="1">
            <a:off x="5225256" y="2354256"/>
            <a:ext cx="476019" cy="204050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214F8916-E5B9-A19D-325E-0207AC3AF000}"/>
              </a:ext>
            </a:extLst>
          </p:cNvPr>
          <p:cNvCxnSpPr>
            <a:cxnSpLocks/>
            <a:stCxn id="156" idx="3"/>
            <a:endCxn id="150" idx="1"/>
          </p:cNvCxnSpPr>
          <p:nvPr/>
        </p:nvCxnSpPr>
        <p:spPr>
          <a:xfrm flipV="1">
            <a:off x="6635581" y="2152842"/>
            <a:ext cx="532577" cy="541449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7BD7F53A-2A1E-D6EF-502B-A6884177ABC5}"/>
              </a:ext>
            </a:extLst>
          </p:cNvPr>
          <p:cNvCxnSpPr>
            <a:cxnSpLocks/>
            <a:stCxn id="156" idx="3"/>
            <a:endCxn id="151" idx="1"/>
          </p:cNvCxnSpPr>
          <p:nvPr/>
        </p:nvCxnSpPr>
        <p:spPr>
          <a:xfrm flipV="1">
            <a:off x="6635581" y="2690881"/>
            <a:ext cx="523701" cy="3410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8EC21AE7-940A-A782-B415-D8135DE4BCD8}"/>
              </a:ext>
            </a:extLst>
          </p:cNvPr>
          <p:cNvCxnSpPr>
            <a:cxnSpLocks/>
          </p:cNvCxnSpPr>
          <p:nvPr/>
        </p:nvCxnSpPr>
        <p:spPr>
          <a:xfrm>
            <a:off x="8562701" y="1071548"/>
            <a:ext cx="0" cy="537802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ectangle 166">
            <a:extLst>
              <a:ext uri="{FF2B5EF4-FFF2-40B4-BE49-F238E27FC236}">
                <a16:creationId xmlns:a16="http://schemas.microsoft.com/office/drawing/2014/main" id="{A18B5A0A-6969-7F67-02FE-B5FCC3964F98}"/>
              </a:ext>
            </a:extLst>
          </p:cNvPr>
          <p:cNvSpPr/>
          <p:nvPr/>
        </p:nvSpPr>
        <p:spPr>
          <a:xfrm>
            <a:off x="8774590" y="1502664"/>
            <a:ext cx="3005023" cy="466946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1A359336-8DCF-D73D-017F-3F3B60206625}"/>
              </a:ext>
            </a:extLst>
          </p:cNvPr>
          <p:cNvSpPr txBox="1"/>
          <p:nvPr/>
        </p:nvSpPr>
        <p:spPr>
          <a:xfrm>
            <a:off x="8783298" y="1530091"/>
            <a:ext cx="30483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SCADA HMI/Console Program</a:t>
            </a:r>
            <a:endParaRPr lang="en-SG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7B9AD8BA-0A38-B24A-BA46-1739A68B1F64}"/>
              </a:ext>
            </a:extLst>
          </p:cNvPr>
          <p:cNvSpPr/>
          <p:nvPr/>
        </p:nvSpPr>
        <p:spPr>
          <a:xfrm>
            <a:off x="9082678" y="2550373"/>
            <a:ext cx="1070290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IEC 104 Client </a:t>
            </a:r>
            <a:endParaRPr lang="en-SG" sz="1050" b="1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5D986BDA-B97C-1D36-6641-8EDD8EA94031}"/>
              </a:ext>
            </a:extLst>
          </p:cNvPr>
          <p:cNvSpPr txBox="1"/>
          <p:nvPr/>
        </p:nvSpPr>
        <p:spPr>
          <a:xfrm>
            <a:off x="7106433" y="2264588"/>
            <a:ext cx="13285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chemeClr val="accent6">
                    <a:lumMod val="75000"/>
                  </a:schemeClr>
                </a:solidFill>
              </a:rPr>
              <a:t>RTU report mode</a:t>
            </a:r>
            <a:endParaRPr lang="en-SG" sz="10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946E22B4-F81D-0EDA-D38C-5B8D90F21D5E}"/>
              </a:ext>
            </a:extLst>
          </p:cNvPr>
          <p:cNvSpPr txBox="1"/>
          <p:nvPr/>
        </p:nvSpPr>
        <p:spPr>
          <a:xfrm>
            <a:off x="7144379" y="2780056"/>
            <a:ext cx="12476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chemeClr val="accent6">
                    <a:lumMod val="75000"/>
                  </a:schemeClr>
                </a:solidFill>
              </a:rPr>
              <a:t>PLC Fetch mode</a:t>
            </a:r>
            <a:endParaRPr lang="en-SG" sz="10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E81F40CF-233A-6A23-E3ED-3D7D7080726B}"/>
              </a:ext>
            </a:extLst>
          </p:cNvPr>
          <p:cNvSpPr/>
          <p:nvPr/>
        </p:nvSpPr>
        <p:spPr>
          <a:xfrm>
            <a:off x="10303226" y="2550373"/>
            <a:ext cx="1070290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IEC 104 Client </a:t>
            </a:r>
            <a:endParaRPr lang="en-SG" sz="1050" b="1" dirty="0"/>
          </a:p>
        </p:txBody>
      </p: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A322FFCA-3C00-0610-83F4-E07AE9DD7520}"/>
              </a:ext>
            </a:extLst>
          </p:cNvPr>
          <p:cNvCxnSpPr>
            <a:cxnSpLocks/>
            <a:stCxn id="151" idx="3"/>
          </p:cNvCxnSpPr>
          <p:nvPr/>
        </p:nvCxnSpPr>
        <p:spPr>
          <a:xfrm>
            <a:off x="8229572" y="2690881"/>
            <a:ext cx="853106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TextBox 176">
            <a:extLst>
              <a:ext uri="{FF2B5EF4-FFF2-40B4-BE49-F238E27FC236}">
                <a16:creationId xmlns:a16="http://schemas.microsoft.com/office/drawing/2014/main" id="{183E1CEC-6EF2-2118-A6BD-8A8BB9AABEF5}"/>
              </a:ext>
            </a:extLst>
          </p:cNvPr>
          <p:cNvSpPr txBox="1"/>
          <p:nvPr/>
        </p:nvSpPr>
        <p:spPr>
          <a:xfrm>
            <a:off x="8762020" y="1071548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Level2 OT Control Center (HQ)</a:t>
            </a:r>
            <a:endParaRPr lang="en-SG" sz="1400" b="1" dirty="0"/>
          </a:p>
        </p:txBody>
      </p:sp>
      <p:cxnSp>
        <p:nvCxnSpPr>
          <p:cNvPr id="179" name="Connector: Elbow 178">
            <a:extLst>
              <a:ext uri="{FF2B5EF4-FFF2-40B4-BE49-F238E27FC236}">
                <a16:creationId xmlns:a16="http://schemas.microsoft.com/office/drawing/2014/main" id="{46EA7B79-40E8-94AA-AB51-4D2173FF6FAF}"/>
              </a:ext>
            </a:extLst>
          </p:cNvPr>
          <p:cNvCxnSpPr>
            <a:stCxn id="150" idx="3"/>
            <a:endCxn id="173" idx="0"/>
          </p:cNvCxnSpPr>
          <p:nvPr/>
        </p:nvCxnSpPr>
        <p:spPr>
          <a:xfrm>
            <a:off x="8238448" y="2152842"/>
            <a:ext cx="2599923" cy="39753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5F81AAC6-5F5D-A560-B887-CDADD9CBD953}"/>
              </a:ext>
            </a:extLst>
          </p:cNvPr>
          <p:cNvSpPr txBox="1"/>
          <p:nvPr/>
        </p:nvSpPr>
        <p:spPr>
          <a:xfrm>
            <a:off x="8723942" y="2293350"/>
            <a:ext cx="14783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Real time control </a:t>
            </a:r>
            <a:endParaRPr lang="en-SG" sz="1200" b="1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6832DE67-645D-10F3-7277-C215577A5EE7}"/>
              </a:ext>
            </a:extLst>
          </p:cNvPr>
          <p:cNvSpPr txBox="1"/>
          <p:nvPr/>
        </p:nvSpPr>
        <p:spPr>
          <a:xfrm>
            <a:off x="10824866" y="2088708"/>
            <a:ext cx="10923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Periodic report</a:t>
            </a:r>
            <a:endParaRPr lang="en-SG" sz="1200" b="1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336FBDB4-95D0-A4E6-BF7A-284ACAC6D9A0}"/>
              </a:ext>
            </a:extLst>
          </p:cNvPr>
          <p:cNvSpPr/>
          <p:nvPr/>
        </p:nvSpPr>
        <p:spPr>
          <a:xfrm>
            <a:off x="9115902" y="3440783"/>
            <a:ext cx="1544041" cy="29601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PLC Control Module </a:t>
            </a:r>
            <a:endParaRPr lang="en-SG" sz="1050" b="1" dirty="0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2E366B65-6910-8E8C-B84D-C869F19A4847}"/>
              </a:ext>
            </a:extLst>
          </p:cNvPr>
          <p:cNvSpPr/>
          <p:nvPr/>
        </p:nvSpPr>
        <p:spPr>
          <a:xfrm>
            <a:off x="9617823" y="3023349"/>
            <a:ext cx="1830550" cy="29601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RTU Monitoring  Module </a:t>
            </a:r>
            <a:endParaRPr lang="en-SG" sz="1050" b="1" dirty="0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461C8798-2CED-933B-9A2E-EDBCC40D2E20}"/>
              </a:ext>
            </a:extLst>
          </p:cNvPr>
          <p:cNvCxnSpPr>
            <a:cxnSpLocks/>
          </p:cNvCxnSpPr>
          <p:nvPr/>
        </p:nvCxnSpPr>
        <p:spPr>
          <a:xfrm>
            <a:off x="9286494" y="2831389"/>
            <a:ext cx="0" cy="6238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EAE3611A-F216-FE63-90FE-82D7223D2F9B}"/>
              </a:ext>
            </a:extLst>
          </p:cNvPr>
          <p:cNvCxnSpPr>
            <a:cxnSpLocks/>
          </p:cNvCxnSpPr>
          <p:nvPr/>
        </p:nvCxnSpPr>
        <p:spPr>
          <a:xfrm>
            <a:off x="10819638" y="2831389"/>
            <a:ext cx="0" cy="1948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1A9C928-D12A-50AF-DE53-7624DFF194CF}"/>
              </a:ext>
            </a:extLst>
          </p:cNvPr>
          <p:cNvCxnSpPr>
            <a:cxnSpLocks/>
          </p:cNvCxnSpPr>
          <p:nvPr/>
        </p:nvCxnSpPr>
        <p:spPr>
          <a:xfrm>
            <a:off x="9841230" y="3751526"/>
            <a:ext cx="0" cy="1651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EFBE141E-5289-8DE0-1496-67854A0D9C6E}"/>
              </a:ext>
            </a:extLst>
          </p:cNvPr>
          <p:cNvCxnSpPr>
            <a:cxnSpLocks/>
          </p:cNvCxnSpPr>
          <p:nvPr/>
        </p:nvCxnSpPr>
        <p:spPr>
          <a:xfrm>
            <a:off x="10844022" y="3306008"/>
            <a:ext cx="0" cy="6369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B1BE6ED6-1107-D589-AFB3-A7846AE2B158}"/>
              </a:ext>
            </a:extLst>
          </p:cNvPr>
          <p:cNvCxnSpPr>
            <a:cxnSpLocks/>
          </p:cNvCxnSpPr>
          <p:nvPr/>
        </p:nvCxnSpPr>
        <p:spPr>
          <a:xfrm>
            <a:off x="10066789" y="4238928"/>
            <a:ext cx="0" cy="24467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ectangle 187">
            <a:extLst>
              <a:ext uri="{FF2B5EF4-FFF2-40B4-BE49-F238E27FC236}">
                <a16:creationId xmlns:a16="http://schemas.microsoft.com/office/drawing/2014/main" id="{E04E0445-5CB2-9692-08F8-3535A7295FBE}"/>
              </a:ext>
            </a:extLst>
          </p:cNvPr>
          <p:cNvSpPr/>
          <p:nvPr/>
        </p:nvSpPr>
        <p:spPr>
          <a:xfrm>
            <a:off x="9115902" y="3927983"/>
            <a:ext cx="2046968" cy="29601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Data Management Module </a:t>
            </a:r>
            <a:endParaRPr lang="en-SG" sz="1050" b="1" dirty="0"/>
          </a:p>
        </p:txBody>
      </p:sp>
      <p:pic>
        <p:nvPicPr>
          <p:cNvPr id="193" name="Picture 192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6EDAA246-5F46-4860-8CE2-C35A05FF67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4373" y="4443351"/>
            <a:ext cx="2677947" cy="153389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096BB40-06A0-F31E-0148-DA298030457F}"/>
              </a:ext>
            </a:extLst>
          </p:cNvPr>
          <p:cNvSpPr txBox="1"/>
          <p:nvPr/>
        </p:nvSpPr>
        <p:spPr>
          <a:xfrm>
            <a:off x="470047" y="460438"/>
            <a:ext cx="9813723" cy="40011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2000" b="1" dirty="0"/>
              <a:t>Python Virtual PLC/RTU  Simulator with IEC-60870-5-104 Communication Protocol </a:t>
            </a:r>
            <a:endParaRPr lang="en-SG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D987F9-0801-DEA6-8F29-D80CA2A95758}"/>
              </a:ext>
            </a:extLst>
          </p:cNvPr>
          <p:cNvSpPr txBox="1"/>
          <p:nvPr/>
        </p:nvSpPr>
        <p:spPr>
          <a:xfrm>
            <a:off x="3277079" y="4560425"/>
            <a:ext cx="11715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Simulated </a:t>
            </a:r>
          </a:p>
          <a:p>
            <a:r>
              <a:rPr lang="en-US" sz="1000" b="1" dirty="0"/>
              <a:t>analog /digital electrical </a:t>
            </a:r>
          </a:p>
          <a:p>
            <a:r>
              <a:rPr lang="en-US" sz="1000" b="1" dirty="0"/>
              <a:t>signals</a:t>
            </a:r>
            <a:endParaRPr lang="en-SG" sz="1000" b="1" dirty="0"/>
          </a:p>
        </p:txBody>
      </p:sp>
    </p:spTree>
    <p:extLst>
      <p:ext uri="{BB962C8B-B14F-4D97-AF65-F5344CB8AC3E}">
        <p14:creationId xmlns:p14="http://schemas.microsoft.com/office/powerpoint/2010/main" val="13140845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71675EC-0BAF-32C0-B50B-602795616657}"/>
              </a:ext>
            </a:extLst>
          </p:cNvPr>
          <p:cNvSpPr/>
          <p:nvPr/>
        </p:nvSpPr>
        <p:spPr>
          <a:xfrm>
            <a:off x="3349255" y="1499509"/>
            <a:ext cx="1625082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IEC 104 Measured Point Object</a:t>
            </a:r>
            <a:endParaRPr lang="en-SG" sz="1050" b="1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3DF8FB9-F1BE-1550-6FA0-C7B960888A4A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4974337" y="1687015"/>
            <a:ext cx="13350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47B04BE-F653-1463-9316-3368D0565BDE}"/>
              </a:ext>
            </a:extLst>
          </p:cNvPr>
          <p:cNvSpPr txBox="1"/>
          <p:nvPr/>
        </p:nvSpPr>
        <p:spPr>
          <a:xfrm>
            <a:off x="5100458" y="1039264"/>
            <a:ext cx="133502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IEC104 Value</a:t>
            </a:r>
          </a:p>
          <a:p>
            <a:r>
              <a:rPr lang="en-US" sz="1000" b="1" dirty="0"/>
              <a:t>Example: M_SP_NA_TRUE </a:t>
            </a:r>
            <a:endParaRPr lang="en-SG" sz="1000" b="1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ED1D3E-F992-E262-0ABC-2787BABD220D}"/>
              </a:ext>
            </a:extLst>
          </p:cNvPr>
          <p:cNvSpPr/>
          <p:nvPr/>
        </p:nvSpPr>
        <p:spPr>
          <a:xfrm>
            <a:off x="6309360" y="1499509"/>
            <a:ext cx="1829297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LD/ST Input Map module  </a:t>
            </a:r>
            <a:endParaRPr lang="en-SG" sz="105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03BBC2-3F85-8BCF-FAF9-8B889CB246FF}"/>
              </a:ext>
            </a:extLst>
          </p:cNvPr>
          <p:cNvSpPr txBox="1"/>
          <p:nvPr/>
        </p:nvSpPr>
        <p:spPr>
          <a:xfrm>
            <a:off x="8275032" y="1246135"/>
            <a:ext cx="23972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LD Components Value</a:t>
            </a:r>
          </a:p>
          <a:p>
            <a:r>
              <a:rPr lang="en-US" sz="1000" b="1" dirty="0"/>
              <a:t>Example: Holding Register Set Val=1</a:t>
            </a:r>
            <a:endParaRPr lang="en-SG" sz="1000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2DD4F69-9A1B-C8DF-3630-108F0BEC86A5}"/>
              </a:ext>
            </a:extLst>
          </p:cNvPr>
          <p:cNvSpPr/>
          <p:nvPr/>
        </p:nvSpPr>
        <p:spPr>
          <a:xfrm>
            <a:off x="8263254" y="2005584"/>
            <a:ext cx="2506854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Ladder Logic or ST calculation module </a:t>
            </a:r>
            <a:endParaRPr lang="en-SG" sz="1050" b="1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6DBB44F-6D16-4CB1-E5C5-094F3D80E0B1}"/>
              </a:ext>
            </a:extLst>
          </p:cNvPr>
          <p:cNvCxnSpPr>
            <a:stCxn id="11" idx="3"/>
            <a:endCxn id="14" idx="0"/>
          </p:cNvCxnSpPr>
          <p:nvPr/>
        </p:nvCxnSpPr>
        <p:spPr>
          <a:xfrm>
            <a:off x="8138657" y="1687015"/>
            <a:ext cx="1378024" cy="31856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68CBE30-D3FA-8C3E-1B0F-6386226EF08C}"/>
              </a:ext>
            </a:extLst>
          </p:cNvPr>
          <p:cNvSpPr/>
          <p:nvPr/>
        </p:nvSpPr>
        <p:spPr>
          <a:xfrm>
            <a:off x="1319615" y="1499509"/>
            <a:ext cx="1161785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Virtual Meter </a:t>
            </a:r>
            <a:endParaRPr lang="en-SG" sz="1050" b="1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3A273FC-F917-1A2B-1CB4-4AA7B7590AD1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2481400" y="1687014"/>
            <a:ext cx="86785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C721A1F-833E-5F16-CF99-D976F7A6ED62}"/>
              </a:ext>
            </a:extLst>
          </p:cNvPr>
          <p:cNvSpPr txBox="1"/>
          <p:nvPr/>
        </p:nvSpPr>
        <p:spPr>
          <a:xfrm>
            <a:off x="2464965" y="1209960"/>
            <a:ext cx="11917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Electrical Signal Example: 5V</a:t>
            </a:r>
            <a:endParaRPr lang="en-SG" sz="1000" b="1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2404ECD-80F5-75EE-05C2-6E6C64F9CF7C}"/>
              </a:ext>
            </a:extLst>
          </p:cNvPr>
          <p:cNvSpPr/>
          <p:nvPr/>
        </p:nvSpPr>
        <p:spPr>
          <a:xfrm>
            <a:off x="6309360" y="2666893"/>
            <a:ext cx="1829297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LD/ST Output Map module  </a:t>
            </a:r>
            <a:endParaRPr lang="en-SG" sz="1050" b="1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D80C18B6-86FD-6570-C7D3-76EF9BB42BD9}"/>
              </a:ext>
            </a:extLst>
          </p:cNvPr>
          <p:cNvCxnSpPr>
            <a:cxnSpLocks/>
            <a:stCxn id="14" idx="2"/>
            <a:endCxn id="21" idx="3"/>
          </p:cNvCxnSpPr>
          <p:nvPr/>
        </p:nvCxnSpPr>
        <p:spPr>
          <a:xfrm rot="5400000">
            <a:off x="8590767" y="1928485"/>
            <a:ext cx="473804" cy="137802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12BF0C61-E303-04BD-6781-44F1516B20D7}"/>
              </a:ext>
            </a:extLst>
          </p:cNvPr>
          <p:cNvSpPr txBox="1"/>
          <p:nvPr/>
        </p:nvSpPr>
        <p:spPr>
          <a:xfrm>
            <a:off x="8473632" y="2829300"/>
            <a:ext cx="21972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LD Components Value</a:t>
            </a:r>
          </a:p>
          <a:p>
            <a:r>
              <a:rPr lang="en-US" sz="1000" b="1" dirty="0"/>
              <a:t>Example: Coil Set Val=0</a:t>
            </a:r>
            <a:endParaRPr lang="en-SG" sz="1000" b="1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41A8613-F9D1-3329-F277-137FA5DDE4C5}"/>
              </a:ext>
            </a:extLst>
          </p:cNvPr>
          <p:cNvCxnSpPr>
            <a:cxnSpLocks/>
          </p:cNvCxnSpPr>
          <p:nvPr/>
        </p:nvCxnSpPr>
        <p:spPr>
          <a:xfrm flipH="1">
            <a:off x="5037397" y="2854398"/>
            <a:ext cx="12719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549BC44-E360-23FA-25C8-C48A0962661A}"/>
              </a:ext>
            </a:extLst>
          </p:cNvPr>
          <p:cNvSpPr txBox="1"/>
          <p:nvPr/>
        </p:nvSpPr>
        <p:spPr>
          <a:xfrm>
            <a:off x="5087977" y="2093653"/>
            <a:ext cx="231437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IEC104 Value</a:t>
            </a:r>
          </a:p>
          <a:p>
            <a:r>
              <a:rPr lang="en-US" sz="1000" b="1" dirty="0"/>
              <a:t>Example: </a:t>
            </a:r>
          </a:p>
          <a:p>
            <a:r>
              <a:rPr lang="en-US" sz="1000" b="1" dirty="0"/>
              <a:t>C_RC_NA_STEP_HIGHER</a:t>
            </a:r>
            <a:endParaRPr lang="en-SG" sz="1000" b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F826858-3DB7-6BD3-FF6C-AC27BB07D3CF}"/>
              </a:ext>
            </a:extLst>
          </p:cNvPr>
          <p:cNvSpPr/>
          <p:nvPr/>
        </p:nvSpPr>
        <p:spPr>
          <a:xfrm>
            <a:off x="3349255" y="2666893"/>
            <a:ext cx="1688142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IEC 104 Changeable Point Object</a:t>
            </a:r>
            <a:endParaRPr lang="en-SG" sz="1050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5ACF59B-8B48-74CE-0AED-3EB362EC2C3E}"/>
              </a:ext>
            </a:extLst>
          </p:cNvPr>
          <p:cNvCxnSpPr>
            <a:cxnSpLocks/>
          </p:cNvCxnSpPr>
          <p:nvPr/>
        </p:nvCxnSpPr>
        <p:spPr>
          <a:xfrm flipH="1">
            <a:off x="2492111" y="2854398"/>
            <a:ext cx="8571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40546D7-C0EB-733F-CA9F-87504E974245}"/>
              </a:ext>
            </a:extLst>
          </p:cNvPr>
          <p:cNvSpPr/>
          <p:nvPr/>
        </p:nvSpPr>
        <p:spPr>
          <a:xfrm>
            <a:off x="1343399" y="2666893"/>
            <a:ext cx="1161785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Virtual Motor Controller </a:t>
            </a:r>
            <a:endParaRPr lang="en-SG" sz="1050" b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927BD27-3613-1239-ECA4-37AE8D2E853E}"/>
              </a:ext>
            </a:extLst>
          </p:cNvPr>
          <p:cNvSpPr txBox="1"/>
          <p:nvPr/>
        </p:nvSpPr>
        <p:spPr>
          <a:xfrm>
            <a:off x="2492111" y="2258156"/>
            <a:ext cx="11917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Electrical Signal Example: 0V</a:t>
            </a:r>
            <a:endParaRPr lang="en-SG" sz="1000" b="1" dirty="0"/>
          </a:p>
        </p:txBody>
      </p:sp>
    </p:spTree>
    <p:extLst>
      <p:ext uri="{BB962C8B-B14F-4D97-AF65-F5344CB8AC3E}">
        <p14:creationId xmlns:p14="http://schemas.microsoft.com/office/powerpoint/2010/main" val="3478707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8081F3-FB43-94D6-5BDD-32B6477220F2}"/>
              </a:ext>
            </a:extLst>
          </p:cNvPr>
          <p:cNvSpPr/>
          <p:nvPr/>
        </p:nvSpPr>
        <p:spPr>
          <a:xfrm>
            <a:off x="1953928" y="1164657"/>
            <a:ext cx="6766560" cy="3869356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D63E1C-AC98-C5D5-17C7-8EA79E07D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2857" y="2752615"/>
            <a:ext cx="868243" cy="89718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7" name="Picture 6" descr="A close-up of a device&#10;&#10;Description automatically generated">
            <a:extLst>
              <a:ext uri="{FF2B5EF4-FFF2-40B4-BE49-F238E27FC236}">
                <a16:creationId xmlns:a16="http://schemas.microsoft.com/office/drawing/2014/main" id="{AEC03487-A73E-27A8-D6B7-95B976707C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7736" y="1729757"/>
            <a:ext cx="1265535" cy="126553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9" name="Picture 8" descr="A grey electronic device with green lights&#10;&#10;Description automatically generated">
            <a:extLst>
              <a:ext uri="{FF2B5EF4-FFF2-40B4-BE49-F238E27FC236}">
                <a16:creationId xmlns:a16="http://schemas.microsoft.com/office/drawing/2014/main" id="{E1438CBD-90B4-E7F6-4EC2-BE9ECE31E7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7736" y="3516296"/>
            <a:ext cx="1265536" cy="120225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7BB0F2A-4DEE-1FF0-A71C-1819411D444E}"/>
              </a:ext>
            </a:extLst>
          </p:cNvPr>
          <p:cNvCxnSpPr/>
          <p:nvPr/>
        </p:nvCxnSpPr>
        <p:spPr>
          <a:xfrm>
            <a:off x="3760237" y="2752615"/>
            <a:ext cx="1617499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AF886CB0-4B69-538E-5861-CD01D4ECC2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3953" y="4039757"/>
            <a:ext cx="907150" cy="547289"/>
          </a:xfrm>
          <a:prstGeom prst="rect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94BCD-5C6E-2039-85E3-B369E83C78C4}"/>
              </a:ext>
            </a:extLst>
          </p:cNvPr>
          <p:cNvCxnSpPr/>
          <p:nvPr/>
        </p:nvCxnSpPr>
        <p:spPr>
          <a:xfrm>
            <a:off x="3760237" y="3709897"/>
            <a:ext cx="1617499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A green sign with arrows&#10;&#10;Description automatically generated">
            <a:extLst>
              <a:ext uri="{FF2B5EF4-FFF2-40B4-BE49-F238E27FC236}">
                <a16:creationId xmlns:a16="http://schemas.microsoft.com/office/drawing/2014/main" id="{F4C77BE7-2365-9A70-C352-8B6244E0CDE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9587" y="1613612"/>
            <a:ext cx="761285" cy="91500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B713988F-3A63-8C45-4F37-173FDA5A166E}"/>
              </a:ext>
            </a:extLst>
          </p:cNvPr>
          <p:cNvSpPr txBox="1"/>
          <p:nvPr/>
        </p:nvSpPr>
        <p:spPr>
          <a:xfrm>
            <a:off x="5260771" y="1299391"/>
            <a:ext cx="14994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b="1" dirty="0"/>
              <a:t>Schneider </a:t>
            </a:r>
            <a:r>
              <a:rPr lang="en-SG" sz="1200" b="1" dirty="0" err="1"/>
              <a:t>Modicon</a:t>
            </a:r>
            <a:r>
              <a:rPr lang="en-SG" sz="1200" b="1" dirty="0"/>
              <a:t> M221 PLC 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F118082-8CD8-2389-2A25-B98479F99050}"/>
              </a:ext>
            </a:extLst>
          </p:cNvPr>
          <p:cNvCxnSpPr>
            <a:cxnSpLocks/>
          </p:cNvCxnSpPr>
          <p:nvPr/>
        </p:nvCxnSpPr>
        <p:spPr>
          <a:xfrm>
            <a:off x="3760237" y="2752615"/>
            <a:ext cx="0" cy="9751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83E0E98-7A7C-EC0E-2E1E-DCD4849EAEA7}"/>
              </a:ext>
            </a:extLst>
          </p:cNvPr>
          <p:cNvCxnSpPr>
            <a:stCxn id="5" idx="3"/>
          </p:cNvCxnSpPr>
          <p:nvPr/>
        </p:nvCxnSpPr>
        <p:spPr>
          <a:xfrm>
            <a:off x="3471100" y="3201207"/>
            <a:ext cx="2891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2992B44B-4EFC-2E2F-D6F3-65B7867CAFD7}"/>
              </a:ext>
            </a:extLst>
          </p:cNvPr>
          <p:cNvSpPr txBox="1"/>
          <p:nvPr/>
        </p:nvSpPr>
        <p:spPr>
          <a:xfrm>
            <a:off x="5260771" y="3081528"/>
            <a:ext cx="14994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b="1" dirty="0"/>
              <a:t>Siemens  SIMATIC S7-1200 PLC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6F7A6E0-7BB3-6FDC-DACE-974031832732}"/>
              </a:ext>
            </a:extLst>
          </p:cNvPr>
          <p:cNvCxnSpPr>
            <a:cxnSpLocks/>
          </p:cNvCxnSpPr>
          <p:nvPr/>
        </p:nvCxnSpPr>
        <p:spPr>
          <a:xfrm>
            <a:off x="6994165" y="2362525"/>
            <a:ext cx="0" cy="179832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E2912AD-AC23-E0B7-C02B-0674E53F05AD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643271" y="2362525"/>
            <a:ext cx="350894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7EAE026-93BC-F41A-A403-9B6D16B58EC7}"/>
              </a:ext>
            </a:extLst>
          </p:cNvPr>
          <p:cNvCxnSpPr>
            <a:cxnSpLocks/>
          </p:cNvCxnSpPr>
          <p:nvPr/>
        </p:nvCxnSpPr>
        <p:spPr>
          <a:xfrm>
            <a:off x="6643271" y="4160845"/>
            <a:ext cx="350894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2B33945-B0F5-517B-7867-39B26D93A07A}"/>
              </a:ext>
            </a:extLst>
          </p:cNvPr>
          <p:cNvCxnSpPr/>
          <p:nvPr/>
        </p:nvCxnSpPr>
        <p:spPr>
          <a:xfrm>
            <a:off x="7005493" y="2512137"/>
            <a:ext cx="211307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5E1633FB-10F9-A704-9AF1-9698C36095D3}"/>
              </a:ext>
            </a:extLst>
          </p:cNvPr>
          <p:cNvSpPr/>
          <p:nvPr/>
        </p:nvSpPr>
        <p:spPr>
          <a:xfrm>
            <a:off x="7239431" y="2424630"/>
            <a:ext cx="942692" cy="23157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OT Device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2C43FAB-8818-8F3C-0382-06A8F453B121}"/>
              </a:ext>
            </a:extLst>
          </p:cNvPr>
          <p:cNvCxnSpPr>
            <a:cxnSpLocks/>
          </p:cNvCxnSpPr>
          <p:nvPr/>
        </p:nvCxnSpPr>
        <p:spPr>
          <a:xfrm>
            <a:off x="4310229" y="2424630"/>
            <a:ext cx="0" cy="3394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7BB87FF-6068-B917-9B21-BEEE2868BD1C}"/>
              </a:ext>
            </a:extLst>
          </p:cNvPr>
          <p:cNvCxnSpPr>
            <a:cxnSpLocks/>
          </p:cNvCxnSpPr>
          <p:nvPr/>
        </p:nvCxnSpPr>
        <p:spPr>
          <a:xfrm>
            <a:off x="4295139" y="3700272"/>
            <a:ext cx="0" cy="3394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C33CAD22-70E7-27EC-F472-B240D48524FA}"/>
              </a:ext>
            </a:extLst>
          </p:cNvPr>
          <p:cNvSpPr txBox="1"/>
          <p:nvPr/>
        </p:nvSpPr>
        <p:spPr>
          <a:xfrm>
            <a:off x="6818718" y="1894324"/>
            <a:ext cx="8513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b="1" dirty="0">
                <a:solidFill>
                  <a:schemeClr val="accent2">
                    <a:lumMod val="75000"/>
                  </a:schemeClr>
                </a:solidFill>
              </a:rPr>
              <a:t>Electrical signals 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B5E576C0-70A9-8EAC-3C86-E1A987E610EE}"/>
              </a:ext>
            </a:extLst>
          </p:cNvPr>
          <p:cNvCxnSpPr/>
          <p:nvPr/>
        </p:nvCxnSpPr>
        <p:spPr>
          <a:xfrm>
            <a:off x="6994165" y="3649799"/>
            <a:ext cx="211307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650EC162-98DB-601E-1CAA-4AD9C0E91002}"/>
              </a:ext>
            </a:extLst>
          </p:cNvPr>
          <p:cNvSpPr/>
          <p:nvPr/>
        </p:nvSpPr>
        <p:spPr>
          <a:xfrm>
            <a:off x="7254522" y="3512731"/>
            <a:ext cx="916272" cy="23157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Sensors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8F046D9-24B6-6A81-FBAD-FE468C1F5124}"/>
              </a:ext>
            </a:extLst>
          </p:cNvPr>
          <p:cNvCxnSpPr/>
          <p:nvPr/>
        </p:nvCxnSpPr>
        <p:spPr>
          <a:xfrm>
            <a:off x="6994164" y="4019764"/>
            <a:ext cx="211307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1F4BE228-5D43-A29A-4C7C-49115E1FC5E0}"/>
              </a:ext>
            </a:extLst>
          </p:cNvPr>
          <p:cNvSpPr/>
          <p:nvPr/>
        </p:nvSpPr>
        <p:spPr>
          <a:xfrm>
            <a:off x="7254522" y="3903979"/>
            <a:ext cx="942692" cy="23157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Signals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0CF2299-1131-345B-83F4-DD5747DB0483}"/>
              </a:ext>
            </a:extLst>
          </p:cNvPr>
          <p:cNvSpPr txBox="1"/>
          <p:nvPr/>
        </p:nvSpPr>
        <p:spPr>
          <a:xfrm>
            <a:off x="2525967" y="2314237"/>
            <a:ext cx="1175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b="1" dirty="0"/>
              <a:t>Python Program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039414D-6C45-7B2C-64C5-1CFB3F3064EF}"/>
              </a:ext>
            </a:extLst>
          </p:cNvPr>
          <p:cNvSpPr txBox="1"/>
          <p:nvPr/>
        </p:nvSpPr>
        <p:spPr>
          <a:xfrm>
            <a:off x="3909536" y="2988111"/>
            <a:ext cx="11757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b="1" dirty="0">
                <a:solidFill>
                  <a:srgbClr val="0070C0"/>
                </a:solidFill>
              </a:rPr>
              <a:t>SCADA Network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2092E7D-3DCA-DA32-FA39-B7FA369122EE}"/>
              </a:ext>
            </a:extLst>
          </p:cNvPr>
          <p:cNvCxnSpPr/>
          <p:nvPr/>
        </p:nvCxnSpPr>
        <p:spPr>
          <a:xfrm>
            <a:off x="7005493" y="2868863"/>
            <a:ext cx="211307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FFF5128-555D-2DFC-6CF4-F676FDD678CF}"/>
              </a:ext>
            </a:extLst>
          </p:cNvPr>
          <p:cNvSpPr/>
          <p:nvPr/>
        </p:nvSpPr>
        <p:spPr>
          <a:xfrm>
            <a:off x="7239431" y="2781356"/>
            <a:ext cx="942692" cy="23157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Motors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F2FF647-C46D-7391-6292-C6754E7E046F}"/>
              </a:ext>
            </a:extLst>
          </p:cNvPr>
          <p:cNvCxnSpPr/>
          <p:nvPr/>
        </p:nvCxnSpPr>
        <p:spPr>
          <a:xfrm>
            <a:off x="7003948" y="3232703"/>
            <a:ext cx="211307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030CBDDC-4F6B-3917-EFCA-91CA19944877}"/>
              </a:ext>
            </a:extLst>
          </p:cNvPr>
          <p:cNvSpPr/>
          <p:nvPr/>
        </p:nvSpPr>
        <p:spPr>
          <a:xfrm>
            <a:off x="7252977" y="3116918"/>
            <a:ext cx="942692" cy="23157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Pumps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08DDEB-00FA-2F45-E8FF-10DD130F1164}"/>
              </a:ext>
            </a:extLst>
          </p:cNvPr>
          <p:cNvSpPr txBox="1"/>
          <p:nvPr/>
        </p:nvSpPr>
        <p:spPr>
          <a:xfrm>
            <a:off x="4295139" y="2466809"/>
            <a:ext cx="11757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50000"/>
                  </a:schemeClr>
                </a:solidFill>
              </a:rPr>
              <a:t>Modbus-TCP</a:t>
            </a:r>
            <a:endParaRPr lang="en-SG" sz="12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677088-D7C6-CB05-F3BD-D1EF748ABB06}"/>
              </a:ext>
            </a:extLst>
          </p:cNvPr>
          <p:cNvSpPr txBox="1"/>
          <p:nvPr/>
        </p:nvSpPr>
        <p:spPr>
          <a:xfrm>
            <a:off x="4368818" y="3742765"/>
            <a:ext cx="11757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</a:rPr>
              <a:t>S7Comm</a:t>
            </a:r>
            <a:endParaRPr lang="en-SG" sz="12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50519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35B4EB7-6687-1495-BCC8-56255BEDD9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4095" y="395666"/>
            <a:ext cx="6923809" cy="60666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99D8725-D8E1-7C25-A297-BE818685B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120" y="6224238"/>
            <a:ext cx="238095" cy="2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895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843622B-86E6-2173-F794-329E1FE9A9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215" y="630936"/>
            <a:ext cx="8732658" cy="217912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5E9EEE2-0CC1-0DFC-09F2-9CDF06EBEB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5838" y="787348"/>
            <a:ext cx="209524" cy="1809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AA5AB1-03DC-0E60-11B8-F9CCD3B65C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5838" y="1539548"/>
            <a:ext cx="209524" cy="18095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9DF523E-7192-B84A-1DAD-6569A4586F6A}"/>
              </a:ext>
            </a:extLst>
          </p:cNvPr>
          <p:cNvSpPr/>
          <p:nvPr/>
        </p:nvSpPr>
        <p:spPr>
          <a:xfrm>
            <a:off x="8138160" y="708279"/>
            <a:ext cx="274320" cy="12156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917438-A1DD-7454-E2F7-C8AC1D6032F7}"/>
              </a:ext>
            </a:extLst>
          </p:cNvPr>
          <p:cNvSpPr/>
          <p:nvPr/>
        </p:nvSpPr>
        <p:spPr>
          <a:xfrm>
            <a:off x="1633728" y="647498"/>
            <a:ext cx="274320" cy="1398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F7B813-5A5C-3ECB-FB35-BBA1909A1D6F}"/>
              </a:ext>
            </a:extLst>
          </p:cNvPr>
          <p:cNvSpPr/>
          <p:nvPr/>
        </p:nvSpPr>
        <p:spPr>
          <a:xfrm>
            <a:off x="1633728" y="1412601"/>
            <a:ext cx="274320" cy="12156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54D2CBF-E5A7-2C18-9A8A-7997A9C8ED3A}"/>
              </a:ext>
            </a:extLst>
          </p:cNvPr>
          <p:cNvSpPr/>
          <p:nvPr/>
        </p:nvSpPr>
        <p:spPr>
          <a:xfrm>
            <a:off x="8138160" y="1455093"/>
            <a:ext cx="274320" cy="12156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02468F-1F2B-EB67-4EFA-4AC88569A3CA}"/>
              </a:ext>
            </a:extLst>
          </p:cNvPr>
          <p:cNvSpPr/>
          <p:nvPr/>
        </p:nvSpPr>
        <p:spPr>
          <a:xfrm>
            <a:off x="1633728" y="2168559"/>
            <a:ext cx="274320" cy="12156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347FE5-8021-E930-9450-823270B36701}"/>
              </a:ext>
            </a:extLst>
          </p:cNvPr>
          <p:cNvSpPr/>
          <p:nvPr/>
        </p:nvSpPr>
        <p:spPr>
          <a:xfrm>
            <a:off x="8138160" y="2229339"/>
            <a:ext cx="274320" cy="12156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B2A6D6-9AE7-8FDA-619C-0156247843AD}"/>
              </a:ext>
            </a:extLst>
          </p:cNvPr>
          <p:cNvSpPr txBox="1"/>
          <p:nvPr/>
        </p:nvSpPr>
        <p:spPr>
          <a:xfrm>
            <a:off x="8057299" y="593826"/>
            <a:ext cx="553301" cy="3009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000" b="1" dirty="0"/>
              <a:t>%M10</a:t>
            </a:r>
            <a:endParaRPr lang="en-SG" sz="10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48E629-858F-15EB-F71F-45B06CDCDDE5}"/>
              </a:ext>
            </a:extLst>
          </p:cNvPr>
          <p:cNvSpPr txBox="1"/>
          <p:nvPr/>
        </p:nvSpPr>
        <p:spPr>
          <a:xfrm>
            <a:off x="1631397" y="544872"/>
            <a:ext cx="553301" cy="3009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000" b="1" dirty="0"/>
              <a:t>%I0.1</a:t>
            </a:r>
            <a:endParaRPr lang="en-SG" sz="10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3AA356-2885-3D58-8811-E3C1D7815D23}"/>
              </a:ext>
            </a:extLst>
          </p:cNvPr>
          <p:cNvSpPr txBox="1"/>
          <p:nvPr/>
        </p:nvSpPr>
        <p:spPr>
          <a:xfrm>
            <a:off x="1631396" y="1286336"/>
            <a:ext cx="553301" cy="3009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000" b="1" dirty="0"/>
              <a:t>%M10</a:t>
            </a:r>
            <a:endParaRPr lang="en-SG" sz="1000" b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99FF1A-CFDF-A7E0-A96E-FB1ED12F525E}"/>
              </a:ext>
            </a:extLst>
          </p:cNvPr>
          <p:cNvSpPr/>
          <p:nvPr/>
        </p:nvSpPr>
        <p:spPr>
          <a:xfrm>
            <a:off x="3465576" y="1479534"/>
            <a:ext cx="2386584" cy="3009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Ladder Logic section</a:t>
            </a:r>
            <a:endParaRPr lang="en-SG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E3EF7B-B57D-947C-8A09-67572C166DEC}"/>
              </a:ext>
            </a:extLst>
          </p:cNvPr>
          <p:cNvSpPr txBox="1"/>
          <p:nvPr/>
        </p:nvSpPr>
        <p:spPr>
          <a:xfrm>
            <a:off x="8057299" y="1344226"/>
            <a:ext cx="553301" cy="3009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000" b="1" dirty="0"/>
              <a:t>%M60</a:t>
            </a:r>
            <a:endParaRPr lang="en-SG" sz="10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5C3C5B-BBE7-4477-1825-C64F792B0AF5}"/>
              </a:ext>
            </a:extLst>
          </p:cNvPr>
          <p:cNvSpPr txBox="1"/>
          <p:nvPr/>
        </p:nvSpPr>
        <p:spPr>
          <a:xfrm>
            <a:off x="1631395" y="2046297"/>
            <a:ext cx="553301" cy="3009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000" b="1" dirty="0"/>
              <a:t>%M60</a:t>
            </a:r>
            <a:endParaRPr lang="en-SG" sz="10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48342B-C485-7B9B-893B-3FE68809474D}"/>
              </a:ext>
            </a:extLst>
          </p:cNvPr>
          <p:cNvSpPr txBox="1"/>
          <p:nvPr/>
        </p:nvSpPr>
        <p:spPr>
          <a:xfrm>
            <a:off x="8021133" y="2111609"/>
            <a:ext cx="694229" cy="3009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000" b="1" dirty="0"/>
              <a:t>%Q0.6</a:t>
            </a:r>
            <a:endParaRPr lang="en-SG" sz="1000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2D2D6FE-B2A3-7F92-98D1-470B96CF71C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9743" y="3547722"/>
            <a:ext cx="7545619" cy="257309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7BD2BA2C-603C-2D71-0CA3-AB8B72C4DE59}"/>
              </a:ext>
            </a:extLst>
          </p:cNvPr>
          <p:cNvSpPr/>
          <p:nvPr/>
        </p:nvSpPr>
        <p:spPr>
          <a:xfrm>
            <a:off x="1433364" y="3606226"/>
            <a:ext cx="1502664" cy="980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sz="14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5184922-B1C1-AA3D-2277-187ACDA805D4}"/>
              </a:ext>
            </a:extLst>
          </p:cNvPr>
          <p:cNvSpPr/>
          <p:nvPr/>
        </p:nvSpPr>
        <p:spPr>
          <a:xfrm>
            <a:off x="4149212" y="3704280"/>
            <a:ext cx="943996" cy="172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sz="1400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C9EF583-AE27-21CB-54D5-250FA7BA36F4}"/>
              </a:ext>
            </a:extLst>
          </p:cNvPr>
          <p:cNvCxnSpPr/>
          <p:nvPr/>
        </p:nvCxnSpPr>
        <p:spPr>
          <a:xfrm flipH="1">
            <a:off x="7863840" y="5311467"/>
            <a:ext cx="420624" cy="18288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CF0FCDC4-1992-AB4F-CB6A-864B73819F21}"/>
              </a:ext>
            </a:extLst>
          </p:cNvPr>
          <p:cNvSpPr/>
          <p:nvPr/>
        </p:nvSpPr>
        <p:spPr>
          <a:xfrm>
            <a:off x="4942552" y="4416552"/>
            <a:ext cx="943996" cy="2845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sz="1400" dirty="0"/>
          </a:p>
        </p:txBody>
      </p:sp>
    </p:spTree>
    <p:extLst>
      <p:ext uri="{BB962C8B-B14F-4D97-AF65-F5344CB8AC3E}">
        <p14:creationId xmlns:p14="http://schemas.microsoft.com/office/powerpoint/2010/main" val="40999372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data packet&#10;&#10;Description automatically generated">
            <a:extLst>
              <a:ext uri="{FF2B5EF4-FFF2-40B4-BE49-F238E27FC236}">
                <a16:creationId xmlns:a16="http://schemas.microsoft.com/office/drawing/2014/main" id="{A9E1273B-BC99-689E-0375-613845ED7C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3799" y="370137"/>
            <a:ext cx="6054866" cy="30764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84696D-1B67-DF07-4761-C20ECB8374C2}"/>
              </a:ext>
            </a:extLst>
          </p:cNvPr>
          <p:cNvSpPr txBox="1"/>
          <p:nvPr/>
        </p:nvSpPr>
        <p:spPr>
          <a:xfrm>
            <a:off x="2888351" y="3507029"/>
            <a:ext cx="5520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b="0" dirty="0">
                <a:solidFill>
                  <a:srgbClr val="CE9178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0000</a:t>
            </a:r>
            <a:endParaRPr lang="en-SG" sz="1200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19F1F3-05B1-A4F2-C50A-1C86832A6C8E}"/>
              </a:ext>
            </a:extLst>
          </p:cNvPr>
          <p:cNvSpPr txBox="1"/>
          <p:nvPr/>
        </p:nvSpPr>
        <p:spPr>
          <a:xfrm>
            <a:off x="4297919" y="3230030"/>
            <a:ext cx="5520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b="0" dirty="0">
                <a:solidFill>
                  <a:srgbClr val="CE9178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01</a:t>
            </a:r>
            <a:endParaRPr lang="en-SG" sz="1200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41A61F1F-3DA9-DEAF-F66B-80A9A6464B21}"/>
              </a:ext>
            </a:extLst>
          </p:cNvPr>
          <p:cNvCxnSpPr>
            <a:cxnSpLocks/>
            <a:endCxn id="11" idx="1"/>
          </p:cNvCxnSpPr>
          <p:nvPr/>
        </p:nvCxnSpPr>
        <p:spPr>
          <a:xfrm rot="16200000" flipH="1">
            <a:off x="3852372" y="2922982"/>
            <a:ext cx="703163" cy="18793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06F3442-305A-96E3-87A3-053E67FF4D7F}"/>
              </a:ext>
            </a:extLst>
          </p:cNvPr>
          <p:cNvSpPr txBox="1"/>
          <p:nvPr/>
        </p:nvSpPr>
        <p:spPr>
          <a:xfrm>
            <a:off x="4849928" y="2809199"/>
            <a:ext cx="10927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b="0" dirty="0">
                <a:solidFill>
                  <a:srgbClr val="CE9178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0f or 01</a:t>
            </a:r>
            <a:endParaRPr lang="en-SG" sz="1200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02A3139D-AE42-B4A5-0424-31DD83F91DBA}"/>
              </a:ext>
            </a:extLst>
          </p:cNvPr>
          <p:cNvCxnSpPr>
            <a:cxnSpLocks/>
            <a:endCxn id="15" idx="1"/>
          </p:cNvCxnSpPr>
          <p:nvPr/>
        </p:nvCxnSpPr>
        <p:spPr>
          <a:xfrm rot="16200000" flipH="1">
            <a:off x="4622133" y="2719903"/>
            <a:ext cx="282333" cy="17325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FB6EE08A-6571-B2EE-B371-102D8D17044C}"/>
              </a:ext>
            </a:extLst>
          </p:cNvPr>
          <p:cNvCxnSpPr>
            <a:cxnSpLocks/>
            <a:endCxn id="20" idx="1"/>
          </p:cNvCxnSpPr>
          <p:nvPr/>
        </p:nvCxnSpPr>
        <p:spPr>
          <a:xfrm rot="16200000" flipH="1">
            <a:off x="3066760" y="3115605"/>
            <a:ext cx="938164" cy="13234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14B5AF4-97A7-D896-1451-7F6A549E14D2}"/>
              </a:ext>
            </a:extLst>
          </p:cNvPr>
          <p:cNvSpPr txBox="1"/>
          <p:nvPr/>
        </p:nvSpPr>
        <p:spPr>
          <a:xfrm>
            <a:off x="3602016" y="3512361"/>
            <a:ext cx="1247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b="0" dirty="0">
                <a:solidFill>
                  <a:srgbClr val="CE9178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0008 or 0006</a:t>
            </a:r>
            <a:endParaRPr lang="en-SG" sz="1200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DF349DB7-09DF-D92B-CBB2-C3B86EE15870}"/>
              </a:ext>
            </a:extLst>
          </p:cNvPr>
          <p:cNvCxnSpPr>
            <a:cxnSpLocks/>
            <a:endCxn id="8" idx="1"/>
          </p:cNvCxnSpPr>
          <p:nvPr/>
        </p:nvCxnSpPr>
        <p:spPr>
          <a:xfrm rot="16200000" flipH="1">
            <a:off x="2338548" y="3095726"/>
            <a:ext cx="979994" cy="11961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6DCCCA4E-FD7F-CB49-9FB2-E16194C93E6C}"/>
              </a:ext>
            </a:extLst>
          </p:cNvPr>
          <p:cNvCxnSpPr>
            <a:cxnSpLocks/>
            <a:endCxn id="27" idx="1"/>
          </p:cNvCxnSpPr>
          <p:nvPr/>
        </p:nvCxnSpPr>
        <p:spPr>
          <a:xfrm rot="16200000" flipH="1">
            <a:off x="1623413" y="3072730"/>
            <a:ext cx="947222" cy="15693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6DEAAAD-47A4-902F-F0CA-19EA080154FC}"/>
              </a:ext>
            </a:extLst>
          </p:cNvPr>
          <p:cNvSpPr txBox="1"/>
          <p:nvPr/>
        </p:nvSpPr>
        <p:spPr>
          <a:xfrm>
            <a:off x="2175490" y="3486307"/>
            <a:ext cx="5520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b="0" dirty="0">
                <a:solidFill>
                  <a:srgbClr val="CE9178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0000</a:t>
            </a:r>
            <a:endParaRPr lang="en-SG" sz="1200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</p:txBody>
      </p:sp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6B090E78-3548-496C-8BA1-8558D4B363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6898581"/>
              </p:ext>
            </p:extLst>
          </p:nvPr>
        </p:nvGraphicFramePr>
        <p:xfrm>
          <a:off x="6835939" y="1828606"/>
          <a:ext cx="1822708" cy="457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1354">
                  <a:extLst>
                    <a:ext uri="{9D8B030D-6E8A-4147-A177-3AD203B41FA5}">
                      <a16:colId xmlns:a16="http://schemas.microsoft.com/office/drawing/2014/main" val="1230698725"/>
                    </a:ext>
                  </a:extLst>
                </a:gridCol>
                <a:gridCol w="911354">
                  <a:extLst>
                    <a:ext uri="{9D8B030D-6E8A-4147-A177-3AD203B41FA5}">
                      <a16:colId xmlns:a16="http://schemas.microsoft.com/office/drawing/2014/main" val="1771333324"/>
                    </a:ext>
                  </a:extLst>
                </a:gridCol>
              </a:tblGrid>
              <a:tr h="211483">
                <a:tc>
                  <a:txBody>
                    <a:bodyPr/>
                    <a:lstStyle/>
                    <a:p>
                      <a:pPr algn="dist"/>
                      <a:r>
                        <a:rPr lang="en-US" sz="900" dirty="0"/>
                        <a:t>Memory index 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Bit length</a:t>
                      </a:r>
                      <a:endParaRPr lang="en-SG"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9868115"/>
                  </a:ext>
                </a:extLst>
              </a:tr>
              <a:tr h="211483">
                <a:tc>
                  <a:txBody>
                    <a:bodyPr/>
                    <a:lstStyle/>
                    <a:p>
                      <a:r>
                        <a:rPr lang="en-US" sz="900" dirty="0"/>
                        <a:t>( 2 bytes ) 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dirty="0"/>
                        <a:t>( 2 bytes ) </a:t>
                      </a:r>
                      <a:endParaRPr lang="en-SG"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498223"/>
                  </a:ext>
                </a:extLst>
              </a:tr>
            </a:tbl>
          </a:graphicData>
        </a:graphic>
      </p:graphicFrame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CAC27EB-CDC3-BB23-FBBF-EC96A40C3C32}"/>
              </a:ext>
            </a:extLst>
          </p:cNvPr>
          <p:cNvCxnSpPr>
            <a:cxnSpLocks/>
            <a:stCxn id="53" idx="3"/>
            <a:endCxn id="34" idx="1"/>
          </p:cNvCxnSpPr>
          <p:nvPr/>
        </p:nvCxnSpPr>
        <p:spPr>
          <a:xfrm flipV="1">
            <a:off x="5775957" y="2057206"/>
            <a:ext cx="1059982" cy="31909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B9520B3-CC5C-792B-4087-CF17013C79AF}"/>
              </a:ext>
            </a:extLst>
          </p:cNvPr>
          <p:cNvSpPr txBox="1"/>
          <p:nvPr/>
        </p:nvSpPr>
        <p:spPr>
          <a:xfrm>
            <a:off x="7124132" y="1551380"/>
            <a:ext cx="1917200" cy="3009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000" b="1" dirty="0"/>
              <a:t>Memory Data Read</a:t>
            </a:r>
            <a:endParaRPr lang="en-SG" sz="1000" b="1" dirty="0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04A4E483-2E6C-F270-55DA-A0977988BCF1}"/>
              </a:ext>
            </a:extLst>
          </p:cNvPr>
          <p:cNvCxnSpPr>
            <a:cxnSpLocks/>
            <a:endCxn id="41" idx="1"/>
          </p:cNvCxnSpPr>
          <p:nvPr/>
        </p:nvCxnSpPr>
        <p:spPr>
          <a:xfrm rot="16200000" flipH="1">
            <a:off x="8014721" y="2326734"/>
            <a:ext cx="235746" cy="14367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3222E2A-1E60-5FD5-3C62-4347656362A4}"/>
              </a:ext>
            </a:extLst>
          </p:cNvPr>
          <p:cNvSpPr txBox="1"/>
          <p:nvPr/>
        </p:nvSpPr>
        <p:spPr>
          <a:xfrm>
            <a:off x="8204432" y="2377945"/>
            <a:ext cx="5520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b="0" dirty="0">
                <a:solidFill>
                  <a:srgbClr val="CE9178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0008</a:t>
            </a:r>
            <a:endParaRPr lang="en-SG" sz="1200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8AFEC8B5-EA35-6BA5-6345-D1F872036D83}"/>
              </a:ext>
            </a:extLst>
          </p:cNvPr>
          <p:cNvCxnSpPr>
            <a:cxnSpLocks/>
          </p:cNvCxnSpPr>
          <p:nvPr/>
        </p:nvCxnSpPr>
        <p:spPr>
          <a:xfrm rot="16200000" flipH="1">
            <a:off x="7079410" y="2337154"/>
            <a:ext cx="235746" cy="14367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63549460-8BA7-886A-7695-8E6929EA66A9}"/>
              </a:ext>
            </a:extLst>
          </p:cNvPr>
          <p:cNvSpPr txBox="1"/>
          <p:nvPr/>
        </p:nvSpPr>
        <p:spPr>
          <a:xfrm>
            <a:off x="7220224" y="2388365"/>
            <a:ext cx="5520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b="0" dirty="0">
                <a:solidFill>
                  <a:srgbClr val="CE9178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001e</a:t>
            </a:r>
            <a:endParaRPr lang="en-SG" sz="1200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</p:txBody>
      </p:sp>
      <p:graphicFrame>
        <p:nvGraphicFramePr>
          <p:cNvPr id="45" name="Table 44">
            <a:extLst>
              <a:ext uri="{FF2B5EF4-FFF2-40B4-BE49-F238E27FC236}">
                <a16:creationId xmlns:a16="http://schemas.microsoft.com/office/drawing/2014/main" id="{83012CB2-546D-5B43-CA70-7EEE931C23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6521037"/>
              </p:ext>
            </p:extLst>
          </p:nvPr>
        </p:nvGraphicFramePr>
        <p:xfrm>
          <a:off x="6204132" y="2911329"/>
          <a:ext cx="3208728" cy="457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6419">
                  <a:extLst>
                    <a:ext uri="{9D8B030D-6E8A-4147-A177-3AD203B41FA5}">
                      <a16:colId xmlns:a16="http://schemas.microsoft.com/office/drawing/2014/main" val="1230698725"/>
                    </a:ext>
                  </a:extLst>
                </a:gridCol>
                <a:gridCol w="693019">
                  <a:extLst>
                    <a:ext uri="{9D8B030D-6E8A-4147-A177-3AD203B41FA5}">
                      <a16:colId xmlns:a16="http://schemas.microsoft.com/office/drawing/2014/main" val="1771333324"/>
                    </a:ext>
                  </a:extLst>
                </a:gridCol>
                <a:gridCol w="751415">
                  <a:extLst>
                    <a:ext uri="{9D8B030D-6E8A-4147-A177-3AD203B41FA5}">
                      <a16:colId xmlns:a16="http://schemas.microsoft.com/office/drawing/2014/main" val="2533087118"/>
                    </a:ext>
                  </a:extLst>
                </a:gridCol>
                <a:gridCol w="807875">
                  <a:extLst>
                    <a:ext uri="{9D8B030D-6E8A-4147-A177-3AD203B41FA5}">
                      <a16:colId xmlns:a16="http://schemas.microsoft.com/office/drawing/2014/main" val="28686111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dist"/>
                      <a:r>
                        <a:rPr lang="en-US" sz="900" dirty="0"/>
                        <a:t>Memory index 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Bit Index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Byte Index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Value</a:t>
                      </a:r>
                      <a:endParaRPr lang="en-SG"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9868115"/>
                  </a:ext>
                </a:extLst>
              </a:tr>
              <a:tr h="211483">
                <a:tc>
                  <a:txBody>
                    <a:bodyPr/>
                    <a:lstStyle/>
                    <a:p>
                      <a:r>
                        <a:rPr lang="en-US" sz="900" dirty="0"/>
                        <a:t>( 2 bytes ) 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dirty="0"/>
                        <a:t>( 2 bytes ) 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dirty="0"/>
                        <a:t>( 1 bytes ) </a:t>
                      </a:r>
                      <a:endParaRPr lang="en-SG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dirty="0"/>
                        <a:t>( 1bytes ) </a:t>
                      </a:r>
                      <a:endParaRPr lang="en-SG"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498223"/>
                  </a:ext>
                </a:extLst>
              </a:tr>
            </a:tbl>
          </a:graphicData>
        </a:graphic>
      </p:graphicFrame>
      <p:sp>
        <p:nvSpPr>
          <p:cNvPr id="48" name="TextBox 47">
            <a:extLst>
              <a:ext uri="{FF2B5EF4-FFF2-40B4-BE49-F238E27FC236}">
                <a16:creationId xmlns:a16="http://schemas.microsoft.com/office/drawing/2014/main" id="{DE2F4E9C-B891-F3A8-22E4-31E4DBF17726}"/>
              </a:ext>
            </a:extLst>
          </p:cNvPr>
          <p:cNvSpPr txBox="1"/>
          <p:nvPr/>
        </p:nvSpPr>
        <p:spPr>
          <a:xfrm>
            <a:off x="6385837" y="2577602"/>
            <a:ext cx="1443956" cy="3009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000" b="1" dirty="0"/>
              <a:t>Memory Data Write</a:t>
            </a:r>
            <a:endParaRPr lang="en-SG" sz="1000" b="1" dirty="0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D5642C25-D939-CFCB-836A-20E620C36CF6}"/>
              </a:ext>
            </a:extLst>
          </p:cNvPr>
          <p:cNvCxnSpPr>
            <a:cxnSpLocks/>
            <a:stCxn id="53" idx="3"/>
            <a:endCxn id="45" idx="1"/>
          </p:cNvCxnSpPr>
          <p:nvPr/>
        </p:nvCxnSpPr>
        <p:spPr>
          <a:xfrm>
            <a:off x="5775957" y="2376296"/>
            <a:ext cx="428175" cy="76363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9F51C113-A2D5-F471-48FC-59F29E84B1E5}"/>
              </a:ext>
            </a:extLst>
          </p:cNvPr>
          <p:cNvSpPr/>
          <p:nvPr/>
        </p:nvSpPr>
        <p:spPr>
          <a:xfrm>
            <a:off x="5021744" y="2147696"/>
            <a:ext cx="754213" cy="457200"/>
          </a:xfrm>
          <a:prstGeom prst="rect">
            <a:avLst/>
          </a:prstGeom>
          <a:noFill/>
          <a:ln w="127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902AF3E7-DDB2-1951-38F9-0A9DAE70E71B}"/>
              </a:ext>
            </a:extLst>
          </p:cNvPr>
          <p:cNvCxnSpPr>
            <a:cxnSpLocks/>
            <a:endCxn id="57" idx="1"/>
          </p:cNvCxnSpPr>
          <p:nvPr/>
        </p:nvCxnSpPr>
        <p:spPr>
          <a:xfrm rot="16200000" flipH="1">
            <a:off x="8821855" y="3406285"/>
            <a:ext cx="235746" cy="14367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777F4914-D3B9-2C3E-F510-C8E4190D4A11}"/>
              </a:ext>
            </a:extLst>
          </p:cNvPr>
          <p:cNvSpPr txBox="1"/>
          <p:nvPr/>
        </p:nvSpPr>
        <p:spPr>
          <a:xfrm>
            <a:off x="9011566" y="3457496"/>
            <a:ext cx="5520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b="0" dirty="0">
                <a:solidFill>
                  <a:srgbClr val="CE9178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01</a:t>
            </a:r>
            <a:endParaRPr lang="en-SG" sz="1200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D453F1B8-41FF-90CD-F4ED-690C178D1B50}"/>
              </a:ext>
            </a:extLst>
          </p:cNvPr>
          <p:cNvCxnSpPr>
            <a:cxnSpLocks/>
            <a:endCxn id="59" idx="1"/>
          </p:cNvCxnSpPr>
          <p:nvPr/>
        </p:nvCxnSpPr>
        <p:spPr>
          <a:xfrm rot="16200000" flipH="1">
            <a:off x="7401814" y="3416065"/>
            <a:ext cx="235746" cy="14367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DAD5ADF7-73B8-339F-3EF9-93F2E2241232}"/>
              </a:ext>
            </a:extLst>
          </p:cNvPr>
          <p:cNvSpPr txBox="1"/>
          <p:nvPr/>
        </p:nvSpPr>
        <p:spPr>
          <a:xfrm>
            <a:off x="7591525" y="3467276"/>
            <a:ext cx="5520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b="0" dirty="0">
                <a:solidFill>
                  <a:srgbClr val="CE9178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0001</a:t>
            </a:r>
            <a:endParaRPr lang="en-SG" sz="1200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</p:txBody>
      </p: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9F3F3072-482E-F453-45F6-1E4101D7423D}"/>
              </a:ext>
            </a:extLst>
          </p:cNvPr>
          <p:cNvCxnSpPr>
            <a:cxnSpLocks/>
            <a:endCxn id="61" idx="1"/>
          </p:cNvCxnSpPr>
          <p:nvPr/>
        </p:nvCxnSpPr>
        <p:spPr>
          <a:xfrm rot="16200000" flipH="1">
            <a:off x="8192931" y="3435203"/>
            <a:ext cx="235746" cy="14367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00C527A4-BA28-9F94-6CBD-822D1BEB2F88}"/>
              </a:ext>
            </a:extLst>
          </p:cNvPr>
          <p:cNvSpPr txBox="1"/>
          <p:nvPr/>
        </p:nvSpPr>
        <p:spPr>
          <a:xfrm>
            <a:off x="8382642" y="3486414"/>
            <a:ext cx="5520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b="0" dirty="0">
                <a:solidFill>
                  <a:srgbClr val="CE9178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01</a:t>
            </a:r>
            <a:endParaRPr lang="en-SG" sz="1200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BDD8094A-D32B-2ACD-84B2-2603366C73D7}"/>
              </a:ext>
            </a:extLst>
          </p:cNvPr>
          <p:cNvCxnSpPr>
            <a:cxnSpLocks/>
          </p:cNvCxnSpPr>
          <p:nvPr/>
        </p:nvCxnSpPr>
        <p:spPr>
          <a:xfrm rot="16200000" flipH="1">
            <a:off x="6490214" y="3406285"/>
            <a:ext cx="235746" cy="14367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628769A4-A7C9-B2C0-7EEC-2AB122E50640}"/>
              </a:ext>
            </a:extLst>
          </p:cNvPr>
          <p:cNvSpPr txBox="1"/>
          <p:nvPr/>
        </p:nvSpPr>
        <p:spPr>
          <a:xfrm>
            <a:off x="6631028" y="3457496"/>
            <a:ext cx="5520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b="0" dirty="0">
                <a:solidFill>
                  <a:srgbClr val="CE9178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001e</a:t>
            </a:r>
            <a:endParaRPr lang="en-SG" sz="1200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55237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een squares with black lines&#10;&#10;Description automatically generated">
            <a:extLst>
              <a:ext uri="{FF2B5EF4-FFF2-40B4-BE49-F238E27FC236}">
                <a16:creationId xmlns:a16="http://schemas.microsoft.com/office/drawing/2014/main" id="{5B0DF82B-3946-8F98-ADB4-531073882A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6099" y="1808237"/>
            <a:ext cx="1935629" cy="1137431"/>
          </a:xfrm>
          <a:prstGeom prst="rect">
            <a:avLst/>
          </a:prstGeom>
        </p:spPr>
      </p:pic>
      <p:pic>
        <p:nvPicPr>
          <p:cNvPr id="1026" name="Picture 2" descr="Train Side View: Over 3,932 Royalty-Free Licensable Stock Illustrations &amp;  Drawings | Shutterstock">
            <a:extLst>
              <a:ext uri="{FF2B5EF4-FFF2-40B4-BE49-F238E27FC236}">
                <a16:creationId xmlns:a16="http://schemas.microsoft.com/office/drawing/2014/main" id="{05C84AC5-8E7D-B336-5800-78633156BDA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69" b="33339"/>
          <a:stretch/>
        </p:blipFill>
        <p:spPr bwMode="auto">
          <a:xfrm flipH="1">
            <a:off x="1052290" y="3538833"/>
            <a:ext cx="5674025" cy="1668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BD22889C-A1F1-B0A0-2203-AC5FBF52D7B4}"/>
              </a:ext>
            </a:extLst>
          </p:cNvPr>
          <p:cNvSpPr/>
          <p:nvPr/>
        </p:nvSpPr>
        <p:spPr>
          <a:xfrm rot="16200000">
            <a:off x="4817865" y="1911984"/>
            <a:ext cx="847725" cy="1006603"/>
          </a:xfrm>
          <a:prstGeom prst="triangle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07D77336-6A32-673B-193C-5CA1FE807357}"/>
              </a:ext>
            </a:extLst>
          </p:cNvPr>
          <p:cNvSpPr/>
          <p:nvPr/>
        </p:nvSpPr>
        <p:spPr>
          <a:xfrm rot="16200000">
            <a:off x="6548049" y="3762879"/>
            <a:ext cx="847725" cy="1311809"/>
          </a:xfrm>
          <a:prstGeom prst="triangle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EA51EB4-09A6-B19E-38AD-D6A3EB8EAECD}"/>
              </a:ext>
            </a:extLst>
          </p:cNvPr>
          <p:cNvSpPr/>
          <p:nvPr/>
        </p:nvSpPr>
        <p:spPr>
          <a:xfrm>
            <a:off x="6254013" y="4359188"/>
            <a:ext cx="123987" cy="11919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9" name="Picture 8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B17530AE-2CE8-9259-EF43-F93E2EFC8F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6345" y="482409"/>
            <a:ext cx="641390" cy="703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FBD4F52-1293-433A-4385-4A27C56A1995}"/>
              </a:ext>
            </a:extLst>
          </p:cNvPr>
          <p:cNvCxnSpPr>
            <a:cxnSpLocks/>
          </p:cNvCxnSpPr>
          <p:nvPr/>
        </p:nvCxnSpPr>
        <p:spPr>
          <a:xfrm>
            <a:off x="1143000" y="1382712"/>
            <a:ext cx="6937223" cy="15546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0459E76-8A71-EF31-0B71-E97C2A636750}"/>
              </a:ext>
            </a:extLst>
          </p:cNvPr>
          <p:cNvCxnSpPr>
            <a:cxnSpLocks/>
          </p:cNvCxnSpPr>
          <p:nvPr/>
        </p:nvCxnSpPr>
        <p:spPr>
          <a:xfrm flipH="1">
            <a:off x="2342074" y="1598372"/>
            <a:ext cx="0" cy="282041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E03FE7C-3356-094C-44B5-03945AF6BE20}"/>
              </a:ext>
            </a:extLst>
          </p:cNvPr>
          <p:cNvCxnSpPr>
            <a:cxnSpLocks/>
          </p:cNvCxnSpPr>
          <p:nvPr/>
        </p:nvCxnSpPr>
        <p:spPr>
          <a:xfrm>
            <a:off x="3748707" y="1339164"/>
            <a:ext cx="128371" cy="1987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FF6801A-49EA-B38E-8314-E6488EE0B5E0}"/>
              </a:ext>
            </a:extLst>
          </p:cNvPr>
          <p:cNvSpPr/>
          <p:nvPr/>
        </p:nvSpPr>
        <p:spPr>
          <a:xfrm>
            <a:off x="3683101" y="1277780"/>
            <a:ext cx="157467" cy="193325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DF40B6-AF45-DBE2-DFC0-6FD620C39778}"/>
              </a:ext>
            </a:extLst>
          </p:cNvPr>
          <p:cNvSpPr txBox="1"/>
          <p:nvPr/>
        </p:nvSpPr>
        <p:spPr>
          <a:xfrm>
            <a:off x="432332" y="1040151"/>
            <a:ext cx="17259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Third Rail 750V DC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90B723B-6D23-ED28-D9A1-84FB4720E70C}"/>
              </a:ext>
            </a:extLst>
          </p:cNvPr>
          <p:cNvSpPr txBox="1"/>
          <p:nvPr/>
        </p:nvSpPr>
        <p:spPr>
          <a:xfrm>
            <a:off x="4273913" y="3134653"/>
            <a:ext cx="2736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Train front collision  detection radar</a:t>
            </a:r>
            <a:endParaRPr lang="en-SG" sz="1200" b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84DA85C-CB32-8EE9-F356-8F08B08AD643}"/>
              </a:ext>
            </a:extLst>
          </p:cNvPr>
          <p:cNvCxnSpPr>
            <a:cxnSpLocks/>
          </p:cNvCxnSpPr>
          <p:nvPr/>
        </p:nvCxnSpPr>
        <p:spPr>
          <a:xfrm>
            <a:off x="6289277" y="3442171"/>
            <a:ext cx="0" cy="864869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620A2FC-F4F9-2AC5-84A9-3E4EE73BDF3C}"/>
              </a:ext>
            </a:extLst>
          </p:cNvPr>
          <p:cNvCxnSpPr>
            <a:cxnSpLocks/>
          </p:cNvCxnSpPr>
          <p:nvPr/>
        </p:nvCxnSpPr>
        <p:spPr>
          <a:xfrm>
            <a:off x="2391938" y="1419117"/>
            <a:ext cx="128371" cy="1987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C0263F62-2988-1372-F9CB-6FEF5117DD3E}"/>
              </a:ext>
            </a:extLst>
          </p:cNvPr>
          <p:cNvCxnSpPr>
            <a:cxnSpLocks/>
          </p:cNvCxnSpPr>
          <p:nvPr/>
        </p:nvCxnSpPr>
        <p:spPr>
          <a:xfrm flipV="1">
            <a:off x="4611611" y="2586979"/>
            <a:ext cx="0" cy="503391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07F35FC-0495-5CA2-9FC7-077A4630AF1E}"/>
              </a:ext>
            </a:extLst>
          </p:cNvPr>
          <p:cNvSpPr txBox="1"/>
          <p:nvPr/>
        </p:nvSpPr>
        <p:spPr>
          <a:xfrm>
            <a:off x="6135340" y="2451742"/>
            <a:ext cx="27210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Front radar detection area</a:t>
            </a:r>
            <a:endParaRPr lang="en-SG" sz="1200" b="1" dirty="0"/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2B7CAF1-45F7-323F-CDFD-3CF7795DB710}"/>
              </a:ext>
            </a:extLst>
          </p:cNvPr>
          <p:cNvCxnSpPr>
            <a:cxnSpLocks/>
            <a:stCxn id="59" idx="1"/>
          </p:cNvCxnSpPr>
          <p:nvPr/>
        </p:nvCxnSpPr>
        <p:spPr>
          <a:xfrm flipH="1" flipV="1">
            <a:off x="5745029" y="2586979"/>
            <a:ext cx="390311" cy="3263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24" name="Straight Arrow Connector 1023">
            <a:extLst>
              <a:ext uri="{FF2B5EF4-FFF2-40B4-BE49-F238E27FC236}">
                <a16:creationId xmlns:a16="http://schemas.microsoft.com/office/drawing/2014/main" id="{9A9C2D04-CFD1-36C8-762F-E0336D7AD71B}"/>
              </a:ext>
            </a:extLst>
          </p:cNvPr>
          <p:cNvCxnSpPr>
            <a:cxnSpLocks/>
          </p:cNvCxnSpPr>
          <p:nvPr/>
        </p:nvCxnSpPr>
        <p:spPr>
          <a:xfrm>
            <a:off x="7237505" y="2728741"/>
            <a:ext cx="0" cy="1145864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29" name="Connector: Elbow 1028">
            <a:extLst>
              <a:ext uri="{FF2B5EF4-FFF2-40B4-BE49-F238E27FC236}">
                <a16:creationId xmlns:a16="http://schemas.microsoft.com/office/drawing/2014/main" id="{08888F50-4BD6-325F-E6AB-2891EE4F79A3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5061462" y="-256873"/>
            <a:ext cx="235027" cy="2834280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: Elbow 1031">
            <a:extLst>
              <a:ext uri="{FF2B5EF4-FFF2-40B4-BE49-F238E27FC236}">
                <a16:creationId xmlns:a16="http://schemas.microsoft.com/office/drawing/2014/main" id="{D10888A0-7325-CE2A-5FEF-D60D96686AE7}"/>
              </a:ext>
            </a:extLst>
          </p:cNvPr>
          <p:cNvCxnSpPr>
            <a:cxnSpLocks/>
            <a:stCxn id="15" idx="0"/>
            <a:endCxn id="9" idx="1"/>
          </p:cNvCxnSpPr>
          <p:nvPr/>
        </p:nvCxnSpPr>
        <p:spPr>
          <a:xfrm rot="5400000" flipH="1" flipV="1">
            <a:off x="4247353" y="-1037396"/>
            <a:ext cx="467609" cy="4210375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5" name="Straight Connector 1034">
            <a:extLst>
              <a:ext uri="{FF2B5EF4-FFF2-40B4-BE49-F238E27FC236}">
                <a16:creationId xmlns:a16="http://schemas.microsoft.com/office/drawing/2014/main" id="{FFD7B9B4-4E92-3FCA-9DFC-9BA68529A170}"/>
              </a:ext>
            </a:extLst>
          </p:cNvPr>
          <p:cNvCxnSpPr>
            <a:cxnSpLocks/>
          </p:cNvCxnSpPr>
          <p:nvPr/>
        </p:nvCxnSpPr>
        <p:spPr>
          <a:xfrm>
            <a:off x="3774402" y="1593900"/>
            <a:ext cx="1" cy="73804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43" name="Picture 1042" descr="A black and white circular object with a circular object in the middle&#10;&#10;Description automatically generated">
            <a:extLst>
              <a:ext uri="{FF2B5EF4-FFF2-40B4-BE49-F238E27FC236}">
                <a16:creationId xmlns:a16="http://schemas.microsoft.com/office/drawing/2014/main" id="{95FD3222-8196-ED77-5CB1-B79AB5CF3D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8290" y="4445631"/>
            <a:ext cx="533481" cy="533481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1044" name="Straight Arrow Connector 1043">
            <a:extLst>
              <a:ext uri="{FF2B5EF4-FFF2-40B4-BE49-F238E27FC236}">
                <a16:creationId xmlns:a16="http://schemas.microsoft.com/office/drawing/2014/main" id="{D8BC79F6-9D57-71B9-D94D-061365A4A135}"/>
              </a:ext>
            </a:extLst>
          </p:cNvPr>
          <p:cNvCxnSpPr>
            <a:cxnSpLocks/>
            <a:stCxn id="1053" idx="0"/>
          </p:cNvCxnSpPr>
          <p:nvPr/>
        </p:nvCxnSpPr>
        <p:spPr>
          <a:xfrm flipV="1">
            <a:off x="2919164" y="2516816"/>
            <a:ext cx="781902" cy="715147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47" name="Straight Arrow Connector 1046">
            <a:extLst>
              <a:ext uri="{FF2B5EF4-FFF2-40B4-BE49-F238E27FC236}">
                <a16:creationId xmlns:a16="http://schemas.microsoft.com/office/drawing/2014/main" id="{B828270B-15D1-209D-2501-56D87A297130}"/>
              </a:ext>
            </a:extLst>
          </p:cNvPr>
          <p:cNvCxnSpPr>
            <a:cxnSpLocks/>
          </p:cNvCxnSpPr>
          <p:nvPr/>
        </p:nvCxnSpPr>
        <p:spPr>
          <a:xfrm flipH="1">
            <a:off x="2486694" y="3508962"/>
            <a:ext cx="79801" cy="909821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53" name="TextBox 1052">
            <a:extLst>
              <a:ext uri="{FF2B5EF4-FFF2-40B4-BE49-F238E27FC236}">
                <a16:creationId xmlns:a16="http://schemas.microsoft.com/office/drawing/2014/main" id="{65A1A3D0-3686-6B7A-28C5-CDAF83EF1E07}"/>
              </a:ext>
            </a:extLst>
          </p:cNvPr>
          <p:cNvSpPr txBox="1"/>
          <p:nvPr/>
        </p:nvSpPr>
        <p:spPr>
          <a:xfrm>
            <a:off x="2324853" y="3231963"/>
            <a:ext cx="11886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Train DC moto</a:t>
            </a:r>
            <a:endParaRPr lang="en-SG" sz="1200" b="1" dirty="0"/>
          </a:p>
        </p:txBody>
      </p:sp>
      <p:pic>
        <p:nvPicPr>
          <p:cNvPr id="1056" name="Picture 1055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38D7F0C4-93AA-EEFD-F9D3-B85A38490F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1958" y="5278036"/>
            <a:ext cx="559540" cy="613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5BFEE4BE-CB43-B711-D1E4-2FF44FFC2C80}"/>
              </a:ext>
            </a:extLst>
          </p:cNvPr>
          <p:cNvCxnSpPr>
            <a:cxnSpLocks/>
            <a:stCxn id="1056" idx="3"/>
            <a:endCxn id="8" idx="2"/>
          </p:cNvCxnSpPr>
          <p:nvPr/>
        </p:nvCxnSpPr>
        <p:spPr>
          <a:xfrm flipV="1">
            <a:off x="5521498" y="4478378"/>
            <a:ext cx="794509" cy="1106369"/>
          </a:xfrm>
          <a:prstGeom prst="bentConnector2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0" name="Connector: Elbow 1059">
            <a:extLst>
              <a:ext uri="{FF2B5EF4-FFF2-40B4-BE49-F238E27FC236}">
                <a16:creationId xmlns:a16="http://schemas.microsoft.com/office/drawing/2014/main" id="{404C0C81-7C66-B99D-CF76-31D8C0F0DAEF}"/>
              </a:ext>
            </a:extLst>
          </p:cNvPr>
          <p:cNvCxnSpPr>
            <a:cxnSpLocks/>
            <a:stCxn id="1043" idx="2"/>
            <a:endCxn id="1056" idx="1"/>
          </p:cNvCxnSpPr>
          <p:nvPr/>
        </p:nvCxnSpPr>
        <p:spPr>
          <a:xfrm rot="16200000" flipH="1">
            <a:off x="3390677" y="4013465"/>
            <a:ext cx="605635" cy="2536927"/>
          </a:xfrm>
          <a:prstGeom prst="bentConnector2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9FFF8A3-AC59-0EC7-5E72-7B555735952B}"/>
              </a:ext>
            </a:extLst>
          </p:cNvPr>
          <p:cNvSpPr/>
          <p:nvPr/>
        </p:nvSpPr>
        <p:spPr>
          <a:xfrm>
            <a:off x="2297236" y="1301595"/>
            <a:ext cx="157467" cy="193325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063" name="TextBox 1062">
            <a:extLst>
              <a:ext uri="{FF2B5EF4-FFF2-40B4-BE49-F238E27FC236}">
                <a16:creationId xmlns:a16="http://schemas.microsoft.com/office/drawing/2014/main" id="{A30572B1-AF9B-8ABB-B3A0-E4AC87857E98}"/>
              </a:ext>
            </a:extLst>
          </p:cNvPr>
          <p:cNvSpPr txBox="1"/>
          <p:nvPr/>
        </p:nvSpPr>
        <p:spPr>
          <a:xfrm>
            <a:off x="2303532" y="906204"/>
            <a:ext cx="15370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Third Railway Power Input Switch</a:t>
            </a:r>
            <a:endParaRPr lang="en-SG" sz="1200" b="1" dirty="0"/>
          </a:p>
        </p:txBody>
      </p:sp>
      <p:pic>
        <p:nvPicPr>
          <p:cNvPr id="1065" name="Picture 1064">
            <a:extLst>
              <a:ext uri="{FF2B5EF4-FFF2-40B4-BE49-F238E27FC236}">
                <a16:creationId xmlns:a16="http://schemas.microsoft.com/office/drawing/2014/main" id="{DF2C0F3C-3AD8-E371-8C42-5FB8A53567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0365" y="4893055"/>
            <a:ext cx="642054" cy="456572"/>
          </a:xfrm>
          <a:prstGeom prst="rect">
            <a:avLst/>
          </a:prstGeom>
        </p:spPr>
      </p:pic>
      <p:cxnSp>
        <p:nvCxnSpPr>
          <p:cNvPr id="1067" name="Straight Connector 1066">
            <a:extLst>
              <a:ext uri="{FF2B5EF4-FFF2-40B4-BE49-F238E27FC236}">
                <a16:creationId xmlns:a16="http://schemas.microsoft.com/office/drawing/2014/main" id="{FE4F6AB3-B101-ADE7-6E50-8BDF4131BD85}"/>
              </a:ext>
            </a:extLst>
          </p:cNvPr>
          <p:cNvCxnSpPr>
            <a:cxnSpLocks/>
            <a:endCxn id="1068" idx="3"/>
          </p:cNvCxnSpPr>
          <p:nvPr/>
        </p:nvCxnSpPr>
        <p:spPr>
          <a:xfrm>
            <a:off x="2342074" y="4133271"/>
            <a:ext cx="1498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8" name="Rectangle 1067">
            <a:extLst>
              <a:ext uri="{FF2B5EF4-FFF2-40B4-BE49-F238E27FC236}">
                <a16:creationId xmlns:a16="http://schemas.microsoft.com/office/drawing/2014/main" id="{0750F095-033B-1A77-469F-B2CBB251D5F9}"/>
              </a:ext>
            </a:extLst>
          </p:cNvPr>
          <p:cNvSpPr/>
          <p:nvPr/>
        </p:nvSpPr>
        <p:spPr>
          <a:xfrm flipH="1">
            <a:off x="3840568" y="4053411"/>
            <a:ext cx="146309" cy="15971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1069" name="Straight Arrow Connector 1068">
            <a:extLst>
              <a:ext uri="{FF2B5EF4-FFF2-40B4-BE49-F238E27FC236}">
                <a16:creationId xmlns:a16="http://schemas.microsoft.com/office/drawing/2014/main" id="{9DC6A89D-4721-D1BD-8A3D-A0A308607E9E}"/>
              </a:ext>
            </a:extLst>
          </p:cNvPr>
          <p:cNvCxnSpPr>
            <a:cxnSpLocks/>
          </p:cNvCxnSpPr>
          <p:nvPr/>
        </p:nvCxnSpPr>
        <p:spPr>
          <a:xfrm flipV="1">
            <a:off x="4173771" y="2511141"/>
            <a:ext cx="22764" cy="891527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72" name="Straight Arrow Connector 1071">
            <a:extLst>
              <a:ext uri="{FF2B5EF4-FFF2-40B4-BE49-F238E27FC236}">
                <a16:creationId xmlns:a16="http://schemas.microsoft.com/office/drawing/2014/main" id="{B0FE80D5-6A08-33A4-0A41-F308A38F6B2A}"/>
              </a:ext>
            </a:extLst>
          </p:cNvPr>
          <p:cNvCxnSpPr>
            <a:cxnSpLocks/>
          </p:cNvCxnSpPr>
          <p:nvPr/>
        </p:nvCxnSpPr>
        <p:spPr>
          <a:xfrm flipH="1">
            <a:off x="3919293" y="3681191"/>
            <a:ext cx="0" cy="376696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74" name="TextBox 1073">
            <a:extLst>
              <a:ext uri="{FF2B5EF4-FFF2-40B4-BE49-F238E27FC236}">
                <a16:creationId xmlns:a16="http://schemas.microsoft.com/office/drawing/2014/main" id="{5FDD360D-41DD-15CD-FC32-459089F90A0E}"/>
              </a:ext>
            </a:extLst>
          </p:cNvPr>
          <p:cNvSpPr txBox="1"/>
          <p:nvPr/>
        </p:nvSpPr>
        <p:spPr>
          <a:xfrm>
            <a:off x="3359895" y="3368831"/>
            <a:ext cx="174508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Input voltage sensor</a:t>
            </a:r>
            <a:endParaRPr lang="en-SG" sz="1200" b="1" dirty="0"/>
          </a:p>
        </p:txBody>
      </p:sp>
      <p:sp>
        <p:nvSpPr>
          <p:cNvPr id="1078" name="Rectangle 1077">
            <a:extLst>
              <a:ext uri="{FF2B5EF4-FFF2-40B4-BE49-F238E27FC236}">
                <a16:creationId xmlns:a16="http://schemas.microsoft.com/office/drawing/2014/main" id="{0F474119-F290-8B89-0F0B-8DF87A54DCF3}"/>
              </a:ext>
            </a:extLst>
          </p:cNvPr>
          <p:cNvSpPr/>
          <p:nvPr/>
        </p:nvSpPr>
        <p:spPr>
          <a:xfrm flipH="1">
            <a:off x="2271816" y="4193736"/>
            <a:ext cx="146309" cy="15971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1079" name="Straight Arrow Connector 1078">
            <a:extLst>
              <a:ext uri="{FF2B5EF4-FFF2-40B4-BE49-F238E27FC236}">
                <a16:creationId xmlns:a16="http://schemas.microsoft.com/office/drawing/2014/main" id="{7C2F4718-54C4-C283-A376-8912E943123F}"/>
              </a:ext>
            </a:extLst>
          </p:cNvPr>
          <p:cNvCxnSpPr>
            <a:cxnSpLocks/>
            <a:stCxn id="1210" idx="0"/>
          </p:cNvCxnSpPr>
          <p:nvPr/>
        </p:nvCxnSpPr>
        <p:spPr>
          <a:xfrm flipV="1">
            <a:off x="2891413" y="2225647"/>
            <a:ext cx="730002" cy="136270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82" name="TextBox 1081">
            <a:extLst>
              <a:ext uri="{FF2B5EF4-FFF2-40B4-BE49-F238E27FC236}">
                <a16:creationId xmlns:a16="http://schemas.microsoft.com/office/drawing/2014/main" id="{1BAF3119-7B23-9417-AC0A-CD6000AE670A}"/>
              </a:ext>
            </a:extLst>
          </p:cNvPr>
          <p:cNvSpPr txBox="1"/>
          <p:nvPr/>
        </p:nvSpPr>
        <p:spPr>
          <a:xfrm>
            <a:off x="2651562" y="3559423"/>
            <a:ext cx="12742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Current sensor</a:t>
            </a:r>
            <a:endParaRPr lang="en-SG" sz="1200" b="1" dirty="0"/>
          </a:p>
        </p:txBody>
      </p:sp>
      <p:cxnSp>
        <p:nvCxnSpPr>
          <p:cNvPr id="1084" name="Straight Arrow Connector 1083">
            <a:extLst>
              <a:ext uri="{FF2B5EF4-FFF2-40B4-BE49-F238E27FC236}">
                <a16:creationId xmlns:a16="http://schemas.microsoft.com/office/drawing/2014/main" id="{CEF7A8F0-26E5-BAD9-5763-04FF35853801}"/>
              </a:ext>
            </a:extLst>
          </p:cNvPr>
          <p:cNvCxnSpPr>
            <a:cxnSpLocks/>
            <a:endCxn id="1078" idx="1"/>
          </p:cNvCxnSpPr>
          <p:nvPr/>
        </p:nvCxnSpPr>
        <p:spPr>
          <a:xfrm flipH="1">
            <a:off x="2418125" y="3765209"/>
            <a:ext cx="745439" cy="508387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91" name="Rectangle 1090">
            <a:extLst>
              <a:ext uri="{FF2B5EF4-FFF2-40B4-BE49-F238E27FC236}">
                <a16:creationId xmlns:a16="http://schemas.microsoft.com/office/drawing/2014/main" id="{DA4B398E-C560-CED5-EB98-546825AB7879}"/>
              </a:ext>
            </a:extLst>
          </p:cNvPr>
          <p:cNvSpPr/>
          <p:nvPr/>
        </p:nvSpPr>
        <p:spPr>
          <a:xfrm flipH="1">
            <a:off x="4666394" y="4579019"/>
            <a:ext cx="146309" cy="15971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1092" name="Straight Arrow Connector 1091">
            <a:extLst>
              <a:ext uri="{FF2B5EF4-FFF2-40B4-BE49-F238E27FC236}">
                <a16:creationId xmlns:a16="http://schemas.microsoft.com/office/drawing/2014/main" id="{BB9E4D19-8779-B5D8-AA0D-7FBD44F53D92}"/>
              </a:ext>
            </a:extLst>
          </p:cNvPr>
          <p:cNvCxnSpPr>
            <a:cxnSpLocks/>
          </p:cNvCxnSpPr>
          <p:nvPr/>
        </p:nvCxnSpPr>
        <p:spPr>
          <a:xfrm flipV="1">
            <a:off x="4393031" y="2511141"/>
            <a:ext cx="0" cy="1170050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95" name="TextBox 1094">
            <a:extLst>
              <a:ext uri="{FF2B5EF4-FFF2-40B4-BE49-F238E27FC236}">
                <a16:creationId xmlns:a16="http://schemas.microsoft.com/office/drawing/2014/main" id="{EABD0113-FA0F-E5C8-1153-CDBEE4172D62}"/>
              </a:ext>
            </a:extLst>
          </p:cNvPr>
          <p:cNvSpPr txBox="1"/>
          <p:nvPr/>
        </p:nvSpPr>
        <p:spPr>
          <a:xfrm>
            <a:off x="4127597" y="3688863"/>
            <a:ext cx="15323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Train speed sensor</a:t>
            </a:r>
            <a:endParaRPr lang="en-SG" sz="1200" b="1" dirty="0"/>
          </a:p>
        </p:txBody>
      </p:sp>
      <p:cxnSp>
        <p:nvCxnSpPr>
          <p:cNvPr id="1097" name="Straight Arrow Connector 1096">
            <a:extLst>
              <a:ext uri="{FF2B5EF4-FFF2-40B4-BE49-F238E27FC236}">
                <a16:creationId xmlns:a16="http://schemas.microsoft.com/office/drawing/2014/main" id="{7BE9B290-6664-FEBE-1244-C29FCA9EB397}"/>
              </a:ext>
            </a:extLst>
          </p:cNvPr>
          <p:cNvCxnSpPr>
            <a:cxnSpLocks/>
          </p:cNvCxnSpPr>
          <p:nvPr/>
        </p:nvCxnSpPr>
        <p:spPr>
          <a:xfrm>
            <a:off x="4732316" y="3930344"/>
            <a:ext cx="0" cy="638133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99" name="Connector: Elbow 1098">
            <a:extLst>
              <a:ext uri="{FF2B5EF4-FFF2-40B4-BE49-F238E27FC236}">
                <a16:creationId xmlns:a16="http://schemas.microsoft.com/office/drawing/2014/main" id="{A071B3AB-903E-78C0-2EB5-57FD23AD33CA}"/>
              </a:ext>
            </a:extLst>
          </p:cNvPr>
          <p:cNvCxnSpPr>
            <a:cxnSpLocks/>
            <a:stCxn id="1065" idx="3"/>
            <a:endCxn id="8" idx="1"/>
          </p:cNvCxnSpPr>
          <p:nvPr/>
        </p:nvCxnSpPr>
        <p:spPr>
          <a:xfrm flipV="1">
            <a:off x="4402419" y="4418783"/>
            <a:ext cx="1851594" cy="702558"/>
          </a:xfrm>
          <a:prstGeom prst="bentConnector3">
            <a:avLst>
              <a:gd name="adj1" fmla="val 50000"/>
            </a:avLst>
          </a:prstGeom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Connector: Elbow 1102">
            <a:extLst>
              <a:ext uri="{FF2B5EF4-FFF2-40B4-BE49-F238E27FC236}">
                <a16:creationId xmlns:a16="http://schemas.microsoft.com/office/drawing/2014/main" id="{648905BF-77AF-974E-870B-A15A344AAD7E}"/>
              </a:ext>
            </a:extLst>
          </p:cNvPr>
          <p:cNvCxnSpPr>
            <a:cxnSpLocks/>
            <a:stCxn id="1065" idx="3"/>
            <a:endCxn id="1091" idx="2"/>
          </p:cNvCxnSpPr>
          <p:nvPr/>
        </p:nvCxnSpPr>
        <p:spPr>
          <a:xfrm flipV="1">
            <a:off x="4402419" y="4738738"/>
            <a:ext cx="337129" cy="382603"/>
          </a:xfrm>
          <a:prstGeom prst="bentConnector2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6" name="Connector: Elbow 1105">
            <a:extLst>
              <a:ext uri="{FF2B5EF4-FFF2-40B4-BE49-F238E27FC236}">
                <a16:creationId xmlns:a16="http://schemas.microsoft.com/office/drawing/2014/main" id="{68E617F6-1A63-751C-E07E-7CE0B4BE0937}"/>
              </a:ext>
            </a:extLst>
          </p:cNvPr>
          <p:cNvCxnSpPr>
            <a:cxnSpLocks/>
            <a:stCxn id="1065" idx="0"/>
            <a:endCxn id="1068" idx="2"/>
          </p:cNvCxnSpPr>
          <p:nvPr/>
        </p:nvCxnSpPr>
        <p:spPr>
          <a:xfrm rot="16200000" flipV="1">
            <a:off x="3657595" y="4469258"/>
            <a:ext cx="679925" cy="167670"/>
          </a:xfrm>
          <a:prstGeom prst="bentConnector3">
            <a:avLst>
              <a:gd name="adj1" fmla="val 50000"/>
            </a:avLst>
          </a:prstGeom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9" name="Connector: Elbow 1108">
            <a:extLst>
              <a:ext uri="{FF2B5EF4-FFF2-40B4-BE49-F238E27FC236}">
                <a16:creationId xmlns:a16="http://schemas.microsoft.com/office/drawing/2014/main" id="{B0B19B5C-FE6E-B5FC-2BDC-2ED29474753C}"/>
              </a:ext>
            </a:extLst>
          </p:cNvPr>
          <p:cNvCxnSpPr>
            <a:cxnSpLocks/>
            <a:stCxn id="1065" idx="1"/>
          </p:cNvCxnSpPr>
          <p:nvPr/>
        </p:nvCxnSpPr>
        <p:spPr>
          <a:xfrm rot="10800000">
            <a:off x="2444857" y="4260455"/>
            <a:ext cx="1315509" cy="860886"/>
          </a:xfrm>
          <a:prstGeom prst="bentConnector3">
            <a:avLst>
              <a:gd name="adj1" fmla="val 61295"/>
            </a:avLst>
          </a:prstGeom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4E5B2FD1-BC58-61D2-7143-0FFFB449923A}"/>
              </a:ext>
            </a:extLst>
          </p:cNvPr>
          <p:cNvCxnSpPr>
            <a:cxnSpLocks/>
            <a:stCxn id="1065" idx="2"/>
          </p:cNvCxnSpPr>
          <p:nvPr/>
        </p:nvCxnSpPr>
        <p:spPr>
          <a:xfrm rot="16200000" flipH="1">
            <a:off x="4471374" y="4959645"/>
            <a:ext cx="91671" cy="871634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9" name="TextBox 1118">
            <a:extLst>
              <a:ext uri="{FF2B5EF4-FFF2-40B4-BE49-F238E27FC236}">
                <a16:creationId xmlns:a16="http://schemas.microsoft.com/office/drawing/2014/main" id="{B0D02CF8-D9FD-7D03-9A99-8895A49E7F67}"/>
              </a:ext>
            </a:extLst>
          </p:cNvPr>
          <p:cNvSpPr txBox="1"/>
          <p:nvPr/>
        </p:nvSpPr>
        <p:spPr>
          <a:xfrm>
            <a:off x="4196595" y="1520276"/>
            <a:ext cx="27210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2D Train in real-world emulator </a:t>
            </a:r>
            <a:endParaRPr lang="en-SG" sz="1400" b="1" dirty="0"/>
          </a:p>
        </p:txBody>
      </p:sp>
      <p:sp>
        <p:nvSpPr>
          <p:cNvPr id="1120" name="TextBox 1119">
            <a:extLst>
              <a:ext uri="{FF2B5EF4-FFF2-40B4-BE49-F238E27FC236}">
                <a16:creationId xmlns:a16="http://schemas.microsoft.com/office/drawing/2014/main" id="{41D45341-49D6-B98C-E5D5-3E7823D7F92B}"/>
              </a:ext>
            </a:extLst>
          </p:cNvPr>
          <p:cNvSpPr txBox="1"/>
          <p:nvPr/>
        </p:nvSpPr>
        <p:spPr>
          <a:xfrm>
            <a:off x="522560" y="3184714"/>
            <a:ext cx="193583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Real-world train module function mapping </a:t>
            </a:r>
            <a:endParaRPr lang="en-SG" sz="1400" b="1" dirty="0"/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F372504B-3945-0598-FF50-4551EE0EF4E7}"/>
              </a:ext>
            </a:extLst>
          </p:cNvPr>
          <p:cNvSpPr txBox="1"/>
          <p:nvPr/>
        </p:nvSpPr>
        <p:spPr>
          <a:xfrm>
            <a:off x="7227735" y="329228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Track power control PLC</a:t>
            </a:r>
            <a:endParaRPr lang="en-SG" sz="1200" b="1" dirty="0"/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AD87C052-FA55-C274-3781-861DAFE5E90A}"/>
              </a:ext>
            </a:extLst>
          </p:cNvPr>
          <p:cNvSpPr txBox="1"/>
          <p:nvPr/>
        </p:nvSpPr>
        <p:spPr>
          <a:xfrm>
            <a:off x="5369330" y="5073443"/>
            <a:ext cx="135698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Train driving control PLC</a:t>
            </a:r>
            <a:endParaRPr lang="en-SG" sz="1200" b="1" dirty="0"/>
          </a:p>
        </p:txBody>
      </p:sp>
      <p:sp>
        <p:nvSpPr>
          <p:cNvPr id="1123" name="TextBox 1122">
            <a:extLst>
              <a:ext uri="{FF2B5EF4-FFF2-40B4-BE49-F238E27FC236}">
                <a16:creationId xmlns:a16="http://schemas.microsoft.com/office/drawing/2014/main" id="{747D5387-E797-7817-45A6-AAA0C24E36B6}"/>
              </a:ext>
            </a:extLst>
          </p:cNvPr>
          <p:cNvSpPr txBox="1"/>
          <p:nvPr/>
        </p:nvSpPr>
        <p:spPr>
          <a:xfrm>
            <a:off x="2722209" y="5332774"/>
            <a:ext cx="201733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Train sensors RTU</a:t>
            </a:r>
            <a:endParaRPr lang="en-SG" sz="1200" b="1" dirty="0"/>
          </a:p>
        </p:txBody>
      </p:sp>
      <p:pic>
        <p:nvPicPr>
          <p:cNvPr id="1124" name="Picture 1123" descr="A screen shot of a device&#10;&#10;Description automatically generated">
            <a:extLst>
              <a:ext uri="{FF2B5EF4-FFF2-40B4-BE49-F238E27FC236}">
                <a16:creationId xmlns:a16="http://schemas.microsoft.com/office/drawing/2014/main" id="{539EDD9A-3F94-1E44-E8BB-E5B676691C2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8699" y="4734442"/>
            <a:ext cx="1433671" cy="1332642"/>
          </a:xfrm>
          <a:prstGeom prst="rect">
            <a:avLst/>
          </a:prstGeom>
        </p:spPr>
      </p:pic>
      <p:sp>
        <p:nvSpPr>
          <p:cNvPr id="1129" name="TextBox 1128">
            <a:extLst>
              <a:ext uri="{FF2B5EF4-FFF2-40B4-BE49-F238E27FC236}">
                <a16:creationId xmlns:a16="http://schemas.microsoft.com/office/drawing/2014/main" id="{9A3E4ADB-A99A-0EB1-389E-08C4CC9A0290}"/>
              </a:ext>
            </a:extLst>
          </p:cNvPr>
          <p:cNvSpPr txBox="1"/>
          <p:nvPr/>
        </p:nvSpPr>
        <p:spPr>
          <a:xfrm>
            <a:off x="6804630" y="5412332"/>
            <a:ext cx="10869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Modbus-TCP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130" name="Connector: Elbow 1129">
            <a:extLst>
              <a:ext uri="{FF2B5EF4-FFF2-40B4-BE49-F238E27FC236}">
                <a16:creationId xmlns:a16="http://schemas.microsoft.com/office/drawing/2014/main" id="{38FD973D-163B-243C-5F4A-7875F0C149EF}"/>
              </a:ext>
            </a:extLst>
          </p:cNvPr>
          <p:cNvCxnSpPr>
            <a:cxnSpLocks/>
          </p:cNvCxnSpPr>
          <p:nvPr/>
        </p:nvCxnSpPr>
        <p:spPr>
          <a:xfrm>
            <a:off x="4373975" y="5273457"/>
            <a:ext cx="3595903" cy="704074"/>
          </a:xfrm>
          <a:prstGeom prst="bentConnector3">
            <a:avLst>
              <a:gd name="adj1" fmla="val -1176"/>
            </a:avLst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6" name="TextBox 1135">
            <a:extLst>
              <a:ext uri="{FF2B5EF4-FFF2-40B4-BE49-F238E27FC236}">
                <a16:creationId xmlns:a16="http://schemas.microsoft.com/office/drawing/2014/main" id="{99CC3018-30B0-A7A2-A0F8-1E85AA302E8A}"/>
              </a:ext>
            </a:extLst>
          </p:cNvPr>
          <p:cNvSpPr txBox="1"/>
          <p:nvPr/>
        </p:nvSpPr>
        <p:spPr>
          <a:xfrm>
            <a:off x="7089333" y="5712518"/>
            <a:ext cx="8805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1"/>
                </a:solidFill>
              </a:rPr>
              <a:t>S7comm</a:t>
            </a:r>
            <a:endParaRPr lang="en-SG" sz="1200" b="1" dirty="0">
              <a:solidFill>
                <a:schemeClr val="accent1"/>
              </a:solidFill>
            </a:endParaRPr>
          </a:p>
        </p:txBody>
      </p:sp>
      <p:sp>
        <p:nvSpPr>
          <p:cNvPr id="1140" name="TextBox 1139">
            <a:extLst>
              <a:ext uri="{FF2B5EF4-FFF2-40B4-BE49-F238E27FC236}">
                <a16:creationId xmlns:a16="http://schemas.microsoft.com/office/drawing/2014/main" id="{FED38978-27C5-8183-F47B-989849080E7F}"/>
              </a:ext>
            </a:extLst>
          </p:cNvPr>
          <p:cNvSpPr txBox="1"/>
          <p:nvPr/>
        </p:nvSpPr>
        <p:spPr>
          <a:xfrm>
            <a:off x="7992874" y="4278940"/>
            <a:ext cx="15119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Train Driver Console [ on Train ]</a:t>
            </a:r>
            <a:endParaRPr lang="en-SG" sz="1200" b="1" dirty="0"/>
          </a:p>
        </p:txBody>
      </p:sp>
      <p:pic>
        <p:nvPicPr>
          <p:cNvPr id="1142" name="Picture 1141">
            <a:extLst>
              <a:ext uri="{FF2B5EF4-FFF2-40B4-BE49-F238E27FC236}">
                <a16:creationId xmlns:a16="http://schemas.microsoft.com/office/drawing/2014/main" id="{ED93FCE2-3D54-2043-C505-36F6DF7EF28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78154" y="4335064"/>
            <a:ext cx="379553" cy="367567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143" name="TextBox 1142">
            <a:extLst>
              <a:ext uri="{FF2B5EF4-FFF2-40B4-BE49-F238E27FC236}">
                <a16:creationId xmlns:a16="http://schemas.microsoft.com/office/drawing/2014/main" id="{27B0C8AC-F6DD-0A37-B288-9436B8F01A65}"/>
              </a:ext>
            </a:extLst>
          </p:cNvPr>
          <p:cNvSpPr txBox="1"/>
          <p:nvPr/>
        </p:nvSpPr>
        <p:spPr>
          <a:xfrm>
            <a:off x="496273" y="5005598"/>
            <a:ext cx="9150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On train antenna  </a:t>
            </a:r>
            <a:endParaRPr lang="en-SG" sz="1200" b="1" dirty="0"/>
          </a:p>
        </p:txBody>
      </p:sp>
      <p:cxnSp>
        <p:nvCxnSpPr>
          <p:cNvPr id="1144" name="Straight Arrow Connector 1143">
            <a:extLst>
              <a:ext uri="{FF2B5EF4-FFF2-40B4-BE49-F238E27FC236}">
                <a16:creationId xmlns:a16="http://schemas.microsoft.com/office/drawing/2014/main" id="{E0CE0585-220E-D4F3-7EC2-D1F0A06F2396}"/>
              </a:ext>
            </a:extLst>
          </p:cNvPr>
          <p:cNvCxnSpPr>
            <a:cxnSpLocks/>
          </p:cNvCxnSpPr>
          <p:nvPr/>
        </p:nvCxnSpPr>
        <p:spPr>
          <a:xfrm flipV="1">
            <a:off x="996487" y="4629415"/>
            <a:ext cx="298823" cy="402147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47" name="Connector: Elbow 1146">
            <a:extLst>
              <a:ext uri="{FF2B5EF4-FFF2-40B4-BE49-F238E27FC236}">
                <a16:creationId xmlns:a16="http://schemas.microsoft.com/office/drawing/2014/main" id="{A7D508F8-C439-F466-E00C-448286FA3FE5}"/>
              </a:ext>
            </a:extLst>
          </p:cNvPr>
          <p:cNvCxnSpPr>
            <a:cxnSpLocks/>
            <a:endCxn id="1142" idx="3"/>
          </p:cNvCxnSpPr>
          <p:nvPr/>
        </p:nvCxnSpPr>
        <p:spPr>
          <a:xfrm rot="16200000" flipV="1">
            <a:off x="1501489" y="4775067"/>
            <a:ext cx="734847" cy="222410"/>
          </a:xfrm>
          <a:prstGeom prst="bentConnector2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0" name="Straight Connector 1159">
            <a:extLst>
              <a:ext uri="{FF2B5EF4-FFF2-40B4-BE49-F238E27FC236}">
                <a16:creationId xmlns:a16="http://schemas.microsoft.com/office/drawing/2014/main" id="{A5B80EED-E2EA-D1F3-3AA3-9A8A0E69F0EF}"/>
              </a:ext>
            </a:extLst>
          </p:cNvPr>
          <p:cNvCxnSpPr/>
          <p:nvPr/>
        </p:nvCxnSpPr>
        <p:spPr>
          <a:xfrm>
            <a:off x="1980118" y="5253695"/>
            <a:ext cx="1780247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3" name="Straight Connector 1172">
            <a:extLst>
              <a:ext uri="{FF2B5EF4-FFF2-40B4-BE49-F238E27FC236}">
                <a16:creationId xmlns:a16="http://schemas.microsoft.com/office/drawing/2014/main" id="{5DAE4A83-89D2-07A1-F39B-263EE6DF884C}"/>
              </a:ext>
            </a:extLst>
          </p:cNvPr>
          <p:cNvCxnSpPr>
            <a:cxnSpLocks/>
          </p:cNvCxnSpPr>
          <p:nvPr/>
        </p:nvCxnSpPr>
        <p:spPr>
          <a:xfrm>
            <a:off x="5521498" y="5697060"/>
            <a:ext cx="2448380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80" name="Picture 1179">
            <a:extLst>
              <a:ext uri="{FF2B5EF4-FFF2-40B4-BE49-F238E27FC236}">
                <a16:creationId xmlns:a16="http://schemas.microsoft.com/office/drawing/2014/main" id="{DC0E9BFB-824F-81AC-9152-60EE4EE329F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52076" y="5968716"/>
            <a:ext cx="625739" cy="619418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183" name="TextBox 1182">
            <a:extLst>
              <a:ext uri="{FF2B5EF4-FFF2-40B4-BE49-F238E27FC236}">
                <a16:creationId xmlns:a16="http://schemas.microsoft.com/office/drawing/2014/main" id="{5FE68155-7D17-F9B8-F565-500C2229FD95}"/>
              </a:ext>
            </a:extLst>
          </p:cNvPr>
          <p:cNvSpPr txBox="1"/>
          <p:nvPr/>
        </p:nvSpPr>
        <p:spPr>
          <a:xfrm>
            <a:off x="1873358" y="5814023"/>
            <a:ext cx="9150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Railway antenna  </a:t>
            </a:r>
            <a:endParaRPr lang="en-SG" sz="1200" b="1" dirty="0"/>
          </a:p>
        </p:txBody>
      </p:sp>
      <p:cxnSp>
        <p:nvCxnSpPr>
          <p:cNvPr id="1184" name="Straight Connector 1183">
            <a:extLst>
              <a:ext uri="{FF2B5EF4-FFF2-40B4-BE49-F238E27FC236}">
                <a16:creationId xmlns:a16="http://schemas.microsoft.com/office/drawing/2014/main" id="{662B7F3D-BDAE-D671-0FA7-3D3921543B54}"/>
              </a:ext>
            </a:extLst>
          </p:cNvPr>
          <p:cNvCxnSpPr>
            <a:cxnSpLocks/>
            <a:endCxn id="1180" idx="0"/>
          </p:cNvCxnSpPr>
          <p:nvPr/>
        </p:nvCxnSpPr>
        <p:spPr>
          <a:xfrm>
            <a:off x="1564946" y="4699992"/>
            <a:ext cx="0" cy="1268724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189" name="Picture 1188">
            <a:extLst>
              <a:ext uri="{FF2B5EF4-FFF2-40B4-BE49-F238E27FC236}">
                <a16:creationId xmlns:a16="http://schemas.microsoft.com/office/drawing/2014/main" id="{CC32FDF2-961F-4918-A10B-A6C58F99C85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8607" y="2320831"/>
            <a:ext cx="854072" cy="683258"/>
          </a:xfrm>
          <a:prstGeom prst="rect">
            <a:avLst/>
          </a:prstGeom>
        </p:spPr>
      </p:pic>
      <p:sp>
        <p:nvSpPr>
          <p:cNvPr id="1190" name="TextBox 1189">
            <a:extLst>
              <a:ext uri="{FF2B5EF4-FFF2-40B4-BE49-F238E27FC236}">
                <a16:creationId xmlns:a16="http://schemas.microsoft.com/office/drawing/2014/main" id="{A5C5595E-3C19-2FA2-B8AD-A7D8CF5FE9E1}"/>
              </a:ext>
            </a:extLst>
          </p:cNvPr>
          <p:cNvSpPr txBox="1"/>
          <p:nvPr/>
        </p:nvSpPr>
        <p:spPr>
          <a:xfrm>
            <a:off x="636289" y="1895912"/>
            <a:ext cx="15755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On Train Emergency Power Control </a:t>
            </a:r>
            <a:endParaRPr lang="en-SG" sz="1200" b="1" dirty="0"/>
          </a:p>
        </p:txBody>
      </p:sp>
      <p:sp>
        <p:nvSpPr>
          <p:cNvPr id="1191" name="Oval 1190">
            <a:extLst>
              <a:ext uri="{FF2B5EF4-FFF2-40B4-BE49-F238E27FC236}">
                <a16:creationId xmlns:a16="http://schemas.microsoft.com/office/drawing/2014/main" id="{6C60814D-7EDD-2994-77F7-AA15913C9D11}"/>
              </a:ext>
            </a:extLst>
          </p:cNvPr>
          <p:cNvSpPr/>
          <p:nvPr/>
        </p:nvSpPr>
        <p:spPr>
          <a:xfrm>
            <a:off x="2256869" y="3703553"/>
            <a:ext cx="157467" cy="193325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1192" name="Straight Connector 1191">
            <a:extLst>
              <a:ext uri="{FF2B5EF4-FFF2-40B4-BE49-F238E27FC236}">
                <a16:creationId xmlns:a16="http://schemas.microsoft.com/office/drawing/2014/main" id="{B62BEAD8-CAE0-BAEB-F542-966D00E64132}"/>
              </a:ext>
            </a:extLst>
          </p:cNvPr>
          <p:cNvCxnSpPr>
            <a:cxnSpLocks/>
          </p:cNvCxnSpPr>
          <p:nvPr/>
        </p:nvCxnSpPr>
        <p:spPr>
          <a:xfrm flipH="1" flipV="1">
            <a:off x="2123495" y="3593566"/>
            <a:ext cx="139955" cy="1716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6" name="Oval 1195">
            <a:extLst>
              <a:ext uri="{FF2B5EF4-FFF2-40B4-BE49-F238E27FC236}">
                <a16:creationId xmlns:a16="http://schemas.microsoft.com/office/drawing/2014/main" id="{FDEBE31E-7809-7559-F961-32DFD3D15372}"/>
              </a:ext>
            </a:extLst>
          </p:cNvPr>
          <p:cNvSpPr/>
          <p:nvPr/>
        </p:nvSpPr>
        <p:spPr>
          <a:xfrm>
            <a:off x="3701066" y="2062039"/>
            <a:ext cx="157467" cy="193325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1197" name="Straight Connector 1196">
            <a:extLst>
              <a:ext uri="{FF2B5EF4-FFF2-40B4-BE49-F238E27FC236}">
                <a16:creationId xmlns:a16="http://schemas.microsoft.com/office/drawing/2014/main" id="{583D9EF9-EC21-9581-3C31-16BF8F5A9E67}"/>
              </a:ext>
            </a:extLst>
          </p:cNvPr>
          <p:cNvCxnSpPr>
            <a:cxnSpLocks/>
          </p:cNvCxnSpPr>
          <p:nvPr/>
        </p:nvCxnSpPr>
        <p:spPr>
          <a:xfrm flipH="1" flipV="1">
            <a:off x="3624844" y="2025627"/>
            <a:ext cx="82803" cy="9806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9" name="Connector: Elbow 1198">
            <a:extLst>
              <a:ext uri="{FF2B5EF4-FFF2-40B4-BE49-F238E27FC236}">
                <a16:creationId xmlns:a16="http://schemas.microsoft.com/office/drawing/2014/main" id="{E819F192-30FB-BE9D-116F-04C8BF9AC59C}"/>
              </a:ext>
            </a:extLst>
          </p:cNvPr>
          <p:cNvCxnSpPr>
            <a:cxnSpLocks/>
            <a:stCxn id="1189" idx="3"/>
            <a:endCxn id="1191" idx="3"/>
          </p:cNvCxnSpPr>
          <p:nvPr/>
        </p:nvCxnSpPr>
        <p:spPr>
          <a:xfrm>
            <a:off x="1772679" y="2662460"/>
            <a:ext cx="507251" cy="1206106"/>
          </a:xfrm>
          <a:prstGeom prst="bentConnector4">
            <a:avLst>
              <a:gd name="adj1" fmla="val 47727"/>
              <a:gd name="adj2" fmla="val 118954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2" name="Connector: Elbow 1201">
            <a:extLst>
              <a:ext uri="{FF2B5EF4-FFF2-40B4-BE49-F238E27FC236}">
                <a16:creationId xmlns:a16="http://schemas.microsoft.com/office/drawing/2014/main" id="{29154012-2E1B-E5B7-C097-A99E57E12C0F}"/>
              </a:ext>
            </a:extLst>
          </p:cNvPr>
          <p:cNvCxnSpPr>
            <a:cxnSpLocks/>
            <a:endCxn id="1196" idx="2"/>
          </p:cNvCxnSpPr>
          <p:nvPr/>
        </p:nvCxnSpPr>
        <p:spPr>
          <a:xfrm flipV="1">
            <a:off x="1757707" y="2158702"/>
            <a:ext cx="1943359" cy="370580"/>
          </a:xfrm>
          <a:prstGeom prst="bentConnector3">
            <a:avLst>
              <a:gd name="adj1" fmla="val 12946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0" name="TextBox 1209">
            <a:extLst>
              <a:ext uri="{FF2B5EF4-FFF2-40B4-BE49-F238E27FC236}">
                <a16:creationId xmlns:a16="http://schemas.microsoft.com/office/drawing/2014/main" id="{D46A18E9-875A-9323-0791-658EDC643FC9}"/>
              </a:ext>
            </a:extLst>
          </p:cNvPr>
          <p:cNvSpPr txBox="1"/>
          <p:nvPr/>
        </p:nvSpPr>
        <p:spPr>
          <a:xfrm>
            <a:off x="2433866" y="2361917"/>
            <a:ext cx="9150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Train input power switch</a:t>
            </a:r>
            <a:endParaRPr lang="en-SG" sz="1200" b="1" dirty="0"/>
          </a:p>
        </p:txBody>
      </p:sp>
      <p:cxnSp>
        <p:nvCxnSpPr>
          <p:cNvPr id="1213" name="Straight Arrow Connector 1212">
            <a:extLst>
              <a:ext uri="{FF2B5EF4-FFF2-40B4-BE49-F238E27FC236}">
                <a16:creationId xmlns:a16="http://schemas.microsoft.com/office/drawing/2014/main" id="{1D98C60C-EB7C-F51D-E21D-236961DA1370}"/>
              </a:ext>
            </a:extLst>
          </p:cNvPr>
          <p:cNvCxnSpPr>
            <a:cxnSpLocks/>
            <a:stCxn id="1082" idx="0"/>
          </p:cNvCxnSpPr>
          <p:nvPr/>
        </p:nvCxnSpPr>
        <p:spPr>
          <a:xfrm flipV="1">
            <a:off x="3288664" y="2541842"/>
            <a:ext cx="668302" cy="1017581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216" name="Straight Arrow Connector 1215">
            <a:extLst>
              <a:ext uri="{FF2B5EF4-FFF2-40B4-BE49-F238E27FC236}">
                <a16:creationId xmlns:a16="http://schemas.microsoft.com/office/drawing/2014/main" id="{74CFADFE-6868-9A5D-8486-972EFFFF9F27}"/>
              </a:ext>
            </a:extLst>
          </p:cNvPr>
          <p:cNvCxnSpPr>
            <a:cxnSpLocks/>
          </p:cNvCxnSpPr>
          <p:nvPr/>
        </p:nvCxnSpPr>
        <p:spPr>
          <a:xfrm flipH="1">
            <a:off x="2379106" y="3031289"/>
            <a:ext cx="224133" cy="603909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1240" name="Picture 1239">
            <a:extLst>
              <a:ext uri="{FF2B5EF4-FFF2-40B4-BE49-F238E27FC236}">
                <a16:creationId xmlns:a16="http://schemas.microsoft.com/office/drawing/2014/main" id="{941B4CAE-184A-FAF9-3F36-8FD3904B2FF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0922" y="1916866"/>
            <a:ext cx="3214207" cy="172763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1244" name="Connector: Elbow 1243">
            <a:extLst>
              <a:ext uri="{FF2B5EF4-FFF2-40B4-BE49-F238E27FC236}">
                <a16:creationId xmlns:a16="http://schemas.microsoft.com/office/drawing/2014/main" id="{A0C91CB8-D7E9-1DC4-81F2-C4E149C0D2B4}"/>
              </a:ext>
            </a:extLst>
          </p:cNvPr>
          <p:cNvCxnSpPr>
            <a:cxnSpLocks/>
            <a:stCxn id="1180" idx="3"/>
            <a:endCxn id="1240" idx="2"/>
          </p:cNvCxnSpPr>
          <p:nvPr/>
        </p:nvCxnSpPr>
        <p:spPr>
          <a:xfrm flipV="1">
            <a:off x="1877815" y="3644502"/>
            <a:ext cx="8100211" cy="2633923"/>
          </a:xfrm>
          <a:prstGeom prst="bentConnector2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7" name="Connector: Elbow 1246">
            <a:extLst>
              <a:ext uri="{FF2B5EF4-FFF2-40B4-BE49-F238E27FC236}">
                <a16:creationId xmlns:a16="http://schemas.microsoft.com/office/drawing/2014/main" id="{B2C079C1-CEED-ECD6-E64F-DE73DDB7C57D}"/>
              </a:ext>
            </a:extLst>
          </p:cNvPr>
          <p:cNvCxnSpPr>
            <a:cxnSpLocks/>
            <a:stCxn id="9" idx="3"/>
            <a:endCxn id="1240" idx="0"/>
          </p:cNvCxnSpPr>
          <p:nvPr/>
        </p:nvCxnSpPr>
        <p:spPr>
          <a:xfrm>
            <a:off x="7227735" y="833986"/>
            <a:ext cx="2750291" cy="1082880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1" name="TextBox 1240">
            <a:extLst>
              <a:ext uri="{FF2B5EF4-FFF2-40B4-BE49-F238E27FC236}">
                <a16:creationId xmlns:a16="http://schemas.microsoft.com/office/drawing/2014/main" id="{85F366BD-1882-1877-2329-F129175D95BE}"/>
              </a:ext>
            </a:extLst>
          </p:cNvPr>
          <p:cNvSpPr txBox="1"/>
          <p:nvPr/>
        </p:nvSpPr>
        <p:spPr>
          <a:xfrm>
            <a:off x="8370922" y="1617848"/>
            <a:ext cx="272108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HQ Trains Operation &amp; Monitor HMI</a:t>
            </a:r>
            <a:endParaRPr lang="en-SG" sz="1200" b="1" dirty="0"/>
          </a:p>
        </p:txBody>
      </p:sp>
      <p:sp>
        <p:nvSpPr>
          <p:cNvPr id="1250" name="TextBox 1249">
            <a:extLst>
              <a:ext uri="{FF2B5EF4-FFF2-40B4-BE49-F238E27FC236}">
                <a16:creationId xmlns:a16="http://schemas.microsoft.com/office/drawing/2014/main" id="{57766BA1-38D8-4805-1583-8B2EDC5C2A67}"/>
              </a:ext>
            </a:extLst>
          </p:cNvPr>
          <p:cNvSpPr txBox="1"/>
          <p:nvPr/>
        </p:nvSpPr>
        <p:spPr>
          <a:xfrm>
            <a:off x="8898737" y="901651"/>
            <a:ext cx="10869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Modbus-TCP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251" name="TextBox 1250">
            <a:extLst>
              <a:ext uri="{FF2B5EF4-FFF2-40B4-BE49-F238E27FC236}">
                <a16:creationId xmlns:a16="http://schemas.microsoft.com/office/drawing/2014/main" id="{69AEC4D6-5BB6-DAE7-7506-F033660C02E5}"/>
              </a:ext>
            </a:extLst>
          </p:cNvPr>
          <p:cNvSpPr txBox="1"/>
          <p:nvPr/>
        </p:nvSpPr>
        <p:spPr>
          <a:xfrm>
            <a:off x="10006326" y="3702628"/>
            <a:ext cx="8805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1"/>
                </a:solidFill>
              </a:rPr>
              <a:t>S7comm</a:t>
            </a:r>
            <a:endParaRPr lang="en-SG" sz="1200" b="1" dirty="0">
              <a:solidFill>
                <a:schemeClr val="accent1"/>
              </a:solidFill>
            </a:endParaRPr>
          </a:p>
        </p:txBody>
      </p:sp>
      <p:sp>
        <p:nvSpPr>
          <p:cNvPr id="1252" name="TextBox 1251">
            <a:extLst>
              <a:ext uri="{FF2B5EF4-FFF2-40B4-BE49-F238E27FC236}">
                <a16:creationId xmlns:a16="http://schemas.microsoft.com/office/drawing/2014/main" id="{217F9B8D-F2C8-A997-6467-B022AE33ECB4}"/>
              </a:ext>
            </a:extLst>
          </p:cNvPr>
          <p:cNvSpPr txBox="1"/>
          <p:nvPr/>
        </p:nvSpPr>
        <p:spPr>
          <a:xfrm>
            <a:off x="1246900" y="5293689"/>
            <a:ext cx="9866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Wireless connection</a:t>
            </a:r>
            <a:endParaRPr lang="en-SG" sz="1200" b="1" dirty="0"/>
          </a:p>
        </p:txBody>
      </p:sp>
      <p:cxnSp>
        <p:nvCxnSpPr>
          <p:cNvPr id="1253" name="Straight Connector 1252">
            <a:extLst>
              <a:ext uri="{FF2B5EF4-FFF2-40B4-BE49-F238E27FC236}">
                <a16:creationId xmlns:a16="http://schemas.microsoft.com/office/drawing/2014/main" id="{9785E123-1588-0DD8-643A-D0CA8AEE299C}"/>
              </a:ext>
            </a:extLst>
          </p:cNvPr>
          <p:cNvCxnSpPr>
            <a:cxnSpLocks/>
          </p:cNvCxnSpPr>
          <p:nvPr/>
        </p:nvCxnSpPr>
        <p:spPr>
          <a:xfrm>
            <a:off x="10371157" y="6034094"/>
            <a:ext cx="315028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8" name="Straight Connector 1257">
            <a:extLst>
              <a:ext uri="{FF2B5EF4-FFF2-40B4-BE49-F238E27FC236}">
                <a16:creationId xmlns:a16="http://schemas.microsoft.com/office/drawing/2014/main" id="{140017F8-C31B-E85F-45B2-752DAD55E9A7}"/>
              </a:ext>
            </a:extLst>
          </p:cNvPr>
          <p:cNvCxnSpPr>
            <a:cxnSpLocks/>
          </p:cNvCxnSpPr>
          <p:nvPr/>
        </p:nvCxnSpPr>
        <p:spPr>
          <a:xfrm>
            <a:off x="10393001" y="4452961"/>
            <a:ext cx="314022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61" name="Straight Connector 1260">
            <a:extLst>
              <a:ext uri="{FF2B5EF4-FFF2-40B4-BE49-F238E27FC236}">
                <a16:creationId xmlns:a16="http://schemas.microsoft.com/office/drawing/2014/main" id="{3D2425EF-D66B-F046-CFD9-557AB376D848}"/>
              </a:ext>
            </a:extLst>
          </p:cNvPr>
          <p:cNvCxnSpPr>
            <a:cxnSpLocks/>
          </p:cNvCxnSpPr>
          <p:nvPr/>
        </p:nvCxnSpPr>
        <p:spPr>
          <a:xfrm>
            <a:off x="10372163" y="4140600"/>
            <a:ext cx="314022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4" name="TextBox 1263">
            <a:extLst>
              <a:ext uri="{FF2B5EF4-FFF2-40B4-BE49-F238E27FC236}">
                <a16:creationId xmlns:a16="http://schemas.microsoft.com/office/drawing/2014/main" id="{E5296794-AFEC-A8E1-8B70-0A32F7875F14}"/>
              </a:ext>
            </a:extLst>
          </p:cNvPr>
          <p:cNvSpPr txBox="1"/>
          <p:nvPr/>
        </p:nvSpPr>
        <p:spPr>
          <a:xfrm>
            <a:off x="10707023" y="4010440"/>
            <a:ext cx="122092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b="1" dirty="0"/>
              <a:t>DC power </a:t>
            </a:r>
            <a:endParaRPr lang="en-SG" sz="1050" b="1" dirty="0"/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9DDDEA77-DAC6-B428-921A-39BC4C58E244}"/>
              </a:ext>
            </a:extLst>
          </p:cNvPr>
          <p:cNvSpPr txBox="1"/>
          <p:nvPr/>
        </p:nvSpPr>
        <p:spPr>
          <a:xfrm>
            <a:off x="10707023" y="4298546"/>
            <a:ext cx="122092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b="1" dirty="0"/>
              <a:t>Electrical Signal to PLC</a:t>
            </a:r>
            <a:endParaRPr lang="en-SG" sz="1050" b="1" dirty="0"/>
          </a:p>
        </p:txBody>
      </p:sp>
      <p:cxnSp>
        <p:nvCxnSpPr>
          <p:cNvPr id="1267" name="Straight Connector 1266">
            <a:extLst>
              <a:ext uri="{FF2B5EF4-FFF2-40B4-BE49-F238E27FC236}">
                <a16:creationId xmlns:a16="http://schemas.microsoft.com/office/drawing/2014/main" id="{A35EBDB2-B6DD-461E-32A1-4AE6AA50111E}"/>
              </a:ext>
            </a:extLst>
          </p:cNvPr>
          <p:cNvCxnSpPr>
            <a:cxnSpLocks/>
          </p:cNvCxnSpPr>
          <p:nvPr/>
        </p:nvCxnSpPr>
        <p:spPr>
          <a:xfrm flipV="1">
            <a:off x="10572266" y="4937369"/>
            <a:ext cx="165526" cy="26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8" name="Oval 1267">
            <a:extLst>
              <a:ext uri="{FF2B5EF4-FFF2-40B4-BE49-F238E27FC236}">
                <a16:creationId xmlns:a16="http://schemas.microsoft.com/office/drawing/2014/main" id="{B6C1CFA2-F6C5-89F9-D87A-15875EC587EB}"/>
              </a:ext>
            </a:extLst>
          </p:cNvPr>
          <p:cNvSpPr/>
          <p:nvPr/>
        </p:nvSpPr>
        <p:spPr>
          <a:xfrm>
            <a:off x="10335660" y="4872672"/>
            <a:ext cx="130215" cy="1587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270" name="TextBox 1269">
            <a:extLst>
              <a:ext uri="{FF2B5EF4-FFF2-40B4-BE49-F238E27FC236}">
                <a16:creationId xmlns:a16="http://schemas.microsoft.com/office/drawing/2014/main" id="{C0263227-2C59-214C-00ED-9EC49AD61CE6}"/>
              </a:ext>
            </a:extLst>
          </p:cNvPr>
          <p:cNvSpPr txBox="1"/>
          <p:nvPr/>
        </p:nvSpPr>
        <p:spPr>
          <a:xfrm>
            <a:off x="10698965" y="4734442"/>
            <a:ext cx="109591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b="1" dirty="0"/>
              <a:t>latching relay or switch</a:t>
            </a:r>
            <a:endParaRPr lang="en-SG" sz="1050" b="1" dirty="0"/>
          </a:p>
        </p:txBody>
      </p:sp>
      <p:sp>
        <p:nvSpPr>
          <p:cNvPr id="1271" name="Rectangle 1270">
            <a:extLst>
              <a:ext uri="{FF2B5EF4-FFF2-40B4-BE49-F238E27FC236}">
                <a16:creationId xmlns:a16="http://schemas.microsoft.com/office/drawing/2014/main" id="{6AFFFC0C-D2E5-9260-438A-F6092D33C6D3}"/>
              </a:ext>
            </a:extLst>
          </p:cNvPr>
          <p:cNvSpPr/>
          <p:nvPr/>
        </p:nvSpPr>
        <p:spPr>
          <a:xfrm>
            <a:off x="10354785" y="5278927"/>
            <a:ext cx="123987" cy="11919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272" name="Rectangle 1271">
            <a:extLst>
              <a:ext uri="{FF2B5EF4-FFF2-40B4-BE49-F238E27FC236}">
                <a16:creationId xmlns:a16="http://schemas.microsoft.com/office/drawing/2014/main" id="{CCB3DB03-C678-2543-87CD-20B69718965B}"/>
              </a:ext>
            </a:extLst>
          </p:cNvPr>
          <p:cNvSpPr/>
          <p:nvPr/>
        </p:nvSpPr>
        <p:spPr>
          <a:xfrm flipH="1">
            <a:off x="10591483" y="5287156"/>
            <a:ext cx="115540" cy="11919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273" name="TextBox 1272">
            <a:extLst>
              <a:ext uri="{FF2B5EF4-FFF2-40B4-BE49-F238E27FC236}">
                <a16:creationId xmlns:a16="http://schemas.microsoft.com/office/drawing/2014/main" id="{10244521-A1BA-E40D-351E-677E3C1EFB65}"/>
              </a:ext>
            </a:extLst>
          </p:cNvPr>
          <p:cNvSpPr txBox="1"/>
          <p:nvPr/>
        </p:nvSpPr>
        <p:spPr>
          <a:xfrm>
            <a:off x="10749537" y="5232994"/>
            <a:ext cx="122092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b="1" dirty="0"/>
              <a:t>Sensors</a:t>
            </a:r>
            <a:endParaRPr lang="en-SG" sz="1050" b="1" dirty="0"/>
          </a:p>
        </p:txBody>
      </p:sp>
      <p:cxnSp>
        <p:nvCxnSpPr>
          <p:cNvPr id="1274" name="Straight Connector 1273">
            <a:extLst>
              <a:ext uri="{FF2B5EF4-FFF2-40B4-BE49-F238E27FC236}">
                <a16:creationId xmlns:a16="http://schemas.microsoft.com/office/drawing/2014/main" id="{7B0FB7DC-5B7E-6E87-4F35-9D0936521702}"/>
              </a:ext>
            </a:extLst>
          </p:cNvPr>
          <p:cNvCxnSpPr>
            <a:cxnSpLocks/>
          </p:cNvCxnSpPr>
          <p:nvPr/>
        </p:nvCxnSpPr>
        <p:spPr>
          <a:xfrm>
            <a:off x="10384943" y="5632824"/>
            <a:ext cx="314022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275" name="TextBox 1274">
            <a:extLst>
              <a:ext uri="{FF2B5EF4-FFF2-40B4-BE49-F238E27FC236}">
                <a16:creationId xmlns:a16="http://schemas.microsoft.com/office/drawing/2014/main" id="{8A9AFCBC-3DA0-B655-48FA-9713B23D71FE}"/>
              </a:ext>
            </a:extLst>
          </p:cNvPr>
          <p:cNvSpPr txBox="1"/>
          <p:nvPr/>
        </p:nvSpPr>
        <p:spPr>
          <a:xfrm>
            <a:off x="10775305" y="5461141"/>
            <a:ext cx="122092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b="1" dirty="0"/>
              <a:t>Electrical Signal to RTU</a:t>
            </a:r>
            <a:endParaRPr lang="en-SG" sz="1050" b="1" dirty="0"/>
          </a:p>
        </p:txBody>
      </p:sp>
      <p:cxnSp>
        <p:nvCxnSpPr>
          <p:cNvPr id="1277" name="Straight Connector 1276">
            <a:extLst>
              <a:ext uri="{FF2B5EF4-FFF2-40B4-BE49-F238E27FC236}">
                <a16:creationId xmlns:a16="http://schemas.microsoft.com/office/drawing/2014/main" id="{EA910B00-DC45-D2DB-24EF-CE9BC97B8CD3}"/>
              </a:ext>
            </a:extLst>
          </p:cNvPr>
          <p:cNvCxnSpPr>
            <a:cxnSpLocks/>
          </p:cNvCxnSpPr>
          <p:nvPr/>
        </p:nvCxnSpPr>
        <p:spPr>
          <a:xfrm flipV="1">
            <a:off x="10467249" y="4831694"/>
            <a:ext cx="148071" cy="713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9" name="TextBox 1278">
            <a:extLst>
              <a:ext uri="{FF2B5EF4-FFF2-40B4-BE49-F238E27FC236}">
                <a16:creationId xmlns:a16="http://schemas.microsoft.com/office/drawing/2014/main" id="{9AB6C429-2EC4-6E7B-93D7-89B94B1447B3}"/>
              </a:ext>
            </a:extLst>
          </p:cNvPr>
          <p:cNvSpPr txBox="1"/>
          <p:nvPr/>
        </p:nvSpPr>
        <p:spPr>
          <a:xfrm>
            <a:off x="10775305" y="5921372"/>
            <a:ext cx="122092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b="1" dirty="0"/>
              <a:t>Modbus</a:t>
            </a:r>
            <a:endParaRPr lang="en-SG" sz="1050" b="1" dirty="0"/>
          </a:p>
        </p:txBody>
      </p:sp>
      <p:cxnSp>
        <p:nvCxnSpPr>
          <p:cNvPr id="1280" name="Straight Connector 1279">
            <a:extLst>
              <a:ext uri="{FF2B5EF4-FFF2-40B4-BE49-F238E27FC236}">
                <a16:creationId xmlns:a16="http://schemas.microsoft.com/office/drawing/2014/main" id="{95085870-0A92-51EA-83F2-34E00D45B648}"/>
              </a:ext>
            </a:extLst>
          </p:cNvPr>
          <p:cNvCxnSpPr>
            <a:cxnSpLocks/>
          </p:cNvCxnSpPr>
          <p:nvPr/>
        </p:nvCxnSpPr>
        <p:spPr>
          <a:xfrm>
            <a:off x="10393001" y="6351086"/>
            <a:ext cx="315028" cy="0"/>
          </a:xfrm>
          <a:prstGeom prst="line">
            <a:avLst/>
          </a:prstGeom>
          <a:ln>
            <a:solidFill>
              <a:schemeClr val="accent4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1" name="TextBox 1280">
            <a:extLst>
              <a:ext uri="{FF2B5EF4-FFF2-40B4-BE49-F238E27FC236}">
                <a16:creationId xmlns:a16="http://schemas.microsoft.com/office/drawing/2014/main" id="{C2353912-F4F0-AB65-7B19-80C9E5B22750}"/>
              </a:ext>
            </a:extLst>
          </p:cNvPr>
          <p:cNvSpPr txBox="1"/>
          <p:nvPr/>
        </p:nvSpPr>
        <p:spPr>
          <a:xfrm>
            <a:off x="10775304" y="6224128"/>
            <a:ext cx="122092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b="1" dirty="0"/>
              <a:t>S7comm-Bus</a:t>
            </a:r>
            <a:endParaRPr lang="en-SG" sz="1050" b="1" dirty="0"/>
          </a:p>
        </p:txBody>
      </p:sp>
    </p:spTree>
    <p:extLst>
      <p:ext uri="{BB962C8B-B14F-4D97-AF65-F5344CB8AC3E}">
        <p14:creationId xmlns:p14="http://schemas.microsoft.com/office/powerpoint/2010/main" val="10391901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E96234B-80A7-2EE0-4853-28E53BE4995E}"/>
              </a:ext>
            </a:extLst>
          </p:cNvPr>
          <p:cNvSpPr/>
          <p:nvPr/>
        </p:nvSpPr>
        <p:spPr>
          <a:xfrm>
            <a:off x="1115568" y="1005840"/>
            <a:ext cx="8403336" cy="5111496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35" name="Picture 2" descr="Train Side View: Over 3,932 Royalty-Free Licensable Stock Illustrations &amp;  Drawings | Shutterstock">
            <a:extLst>
              <a:ext uri="{FF2B5EF4-FFF2-40B4-BE49-F238E27FC236}">
                <a16:creationId xmlns:a16="http://schemas.microsoft.com/office/drawing/2014/main" id="{130A0340-123F-85B3-4FA1-F63CE05A17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69" b="33339"/>
          <a:stretch/>
        </p:blipFill>
        <p:spPr bwMode="auto">
          <a:xfrm flipH="1">
            <a:off x="2085562" y="2706729"/>
            <a:ext cx="5674025" cy="1668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C914C5ED-2A95-7010-5F96-FA24819D8749}"/>
              </a:ext>
            </a:extLst>
          </p:cNvPr>
          <p:cNvSpPr/>
          <p:nvPr/>
        </p:nvSpPr>
        <p:spPr>
          <a:xfrm rot="16200000">
            <a:off x="7581321" y="2930775"/>
            <a:ext cx="847725" cy="1311809"/>
          </a:xfrm>
          <a:prstGeom prst="triangle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>
              <a:solidFill>
                <a:schemeClr val="bg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AD78BB0-28C4-C99A-DA2F-2990E07C3294}"/>
              </a:ext>
            </a:extLst>
          </p:cNvPr>
          <p:cNvSpPr/>
          <p:nvPr/>
        </p:nvSpPr>
        <p:spPr>
          <a:xfrm>
            <a:off x="7287285" y="3527084"/>
            <a:ext cx="123987" cy="11919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90DFBBB-77DD-C759-9E1A-D3395B6C2221}"/>
              </a:ext>
            </a:extLst>
          </p:cNvPr>
          <p:cNvSpPr txBox="1"/>
          <p:nvPr/>
        </p:nvSpPr>
        <p:spPr>
          <a:xfrm>
            <a:off x="5365069" y="2128757"/>
            <a:ext cx="2736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Train front collision  detection radar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B52D0BC-DDE8-9105-E03D-33864DA74E57}"/>
              </a:ext>
            </a:extLst>
          </p:cNvPr>
          <p:cNvCxnSpPr>
            <a:cxnSpLocks/>
          </p:cNvCxnSpPr>
          <p:nvPr/>
        </p:nvCxnSpPr>
        <p:spPr>
          <a:xfrm>
            <a:off x="7322549" y="2463450"/>
            <a:ext cx="0" cy="1011486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40" name="Picture 39" descr="A black and white circular object with a circular object in the middle&#10;&#10;Description automatically generated">
            <a:extLst>
              <a:ext uri="{FF2B5EF4-FFF2-40B4-BE49-F238E27FC236}">
                <a16:creationId xmlns:a16="http://schemas.microsoft.com/office/drawing/2014/main" id="{F3BD0DC0-2DCA-05C9-E2A9-FAAF4BE537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1562" y="3613527"/>
            <a:ext cx="533481" cy="533481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7A3D7CC-1503-BDB3-60E2-65498F3EF1C6}"/>
              </a:ext>
            </a:extLst>
          </p:cNvPr>
          <p:cNvCxnSpPr>
            <a:cxnSpLocks/>
          </p:cNvCxnSpPr>
          <p:nvPr/>
        </p:nvCxnSpPr>
        <p:spPr>
          <a:xfrm flipH="1">
            <a:off x="3519966" y="2676858"/>
            <a:ext cx="79801" cy="909821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D619C63-B0AE-1B9C-A137-4103E791C3F8}"/>
              </a:ext>
            </a:extLst>
          </p:cNvPr>
          <p:cNvSpPr txBox="1"/>
          <p:nvPr/>
        </p:nvSpPr>
        <p:spPr>
          <a:xfrm>
            <a:off x="3358125" y="2399859"/>
            <a:ext cx="11886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Train DC moto</a:t>
            </a:r>
            <a:endParaRPr lang="en-SG" sz="1200" b="1" dirty="0">
              <a:solidFill>
                <a:schemeClr val="bg1"/>
              </a:solidFill>
            </a:endParaRPr>
          </a:p>
        </p:txBody>
      </p:sp>
      <p:pic>
        <p:nvPicPr>
          <p:cNvPr id="43" name="Picture 42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28006821-BE67-0F58-33DD-05CEE00002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5230" y="4445932"/>
            <a:ext cx="559540" cy="613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F090137A-C521-0D17-BE78-8EE5404C46D2}"/>
              </a:ext>
            </a:extLst>
          </p:cNvPr>
          <p:cNvCxnSpPr>
            <a:cxnSpLocks/>
            <a:stCxn id="43" idx="3"/>
            <a:endCxn id="37" idx="2"/>
          </p:cNvCxnSpPr>
          <p:nvPr/>
        </p:nvCxnSpPr>
        <p:spPr>
          <a:xfrm flipV="1">
            <a:off x="6554770" y="3646274"/>
            <a:ext cx="794509" cy="1106369"/>
          </a:xfrm>
          <a:prstGeom prst="bentConnector2">
            <a:avLst/>
          </a:prstGeom>
          <a:ln w="190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15E85F9D-5C2F-3A90-783E-E17E3A1DBAB9}"/>
              </a:ext>
            </a:extLst>
          </p:cNvPr>
          <p:cNvCxnSpPr>
            <a:cxnSpLocks/>
            <a:stCxn id="40" idx="2"/>
            <a:endCxn id="43" idx="1"/>
          </p:cNvCxnSpPr>
          <p:nvPr/>
        </p:nvCxnSpPr>
        <p:spPr>
          <a:xfrm rot="16200000" flipH="1">
            <a:off x="4423949" y="3181361"/>
            <a:ext cx="605635" cy="2536927"/>
          </a:xfrm>
          <a:prstGeom prst="bentConnector2">
            <a:avLst/>
          </a:prstGeom>
          <a:ln w="190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6" name="Picture 45">
            <a:extLst>
              <a:ext uri="{FF2B5EF4-FFF2-40B4-BE49-F238E27FC236}">
                <a16:creationId xmlns:a16="http://schemas.microsoft.com/office/drawing/2014/main" id="{0417B3B8-E546-4543-654A-2C37CFF7B2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3637" y="4060951"/>
            <a:ext cx="642054" cy="456572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531EE64-5D4F-DE2A-EB9A-A562063D9D09}"/>
              </a:ext>
            </a:extLst>
          </p:cNvPr>
          <p:cNvCxnSpPr>
            <a:cxnSpLocks/>
            <a:endCxn id="48" idx="3"/>
          </p:cNvCxnSpPr>
          <p:nvPr/>
        </p:nvCxnSpPr>
        <p:spPr>
          <a:xfrm>
            <a:off x="3375346" y="3301167"/>
            <a:ext cx="1498494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B9506393-AC6A-6F7B-CEFB-2DDC2114E0F8}"/>
              </a:ext>
            </a:extLst>
          </p:cNvPr>
          <p:cNvSpPr/>
          <p:nvPr/>
        </p:nvSpPr>
        <p:spPr>
          <a:xfrm flipH="1">
            <a:off x="4873840" y="3221307"/>
            <a:ext cx="146309" cy="15971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bg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DD3DFDE-A137-2998-9548-9C8565AF53AC}"/>
              </a:ext>
            </a:extLst>
          </p:cNvPr>
          <p:cNvCxnSpPr>
            <a:cxnSpLocks/>
          </p:cNvCxnSpPr>
          <p:nvPr/>
        </p:nvCxnSpPr>
        <p:spPr>
          <a:xfrm flipH="1">
            <a:off x="4952565" y="2849087"/>
            <a:ext cx="0" cy="376696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787169A7-EF64-063E-9043-EEF207E79A74}"/>
              </a:ext>
            </a:extLst>
          </p:cNvPr>
          <p:cNvSpPr txBox="1"/>
          <p:nvPr/>
        </p:nvSpPr>
        <p:spPr>
          <a:xfrm>
            <a:off x="4492529" y="2463450"/>
            <a:ext cx="174508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Input voltage sensor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8AA5605-C6EC-3FC5-3997-287E53850B82}"/>
              </a:ext>
            </a:extLst>
          </p:cNvPr>
          <p:cNvSpPr/>
          <p:nvPr/>
        </p:nvSpPr>
        <p:spPr>
          <a:xfrm flipH="1">
            <a:off x="3305088" y="3361632"/>
            <a:ext cx="146309" cy="15971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bg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9912F79-016E-AA6C-9814-A2E03DADCF97}"/>
              </a:ext>
            </a:extLst>
          </p:cNvPr>
          <p:cNvSpPr txBox="1"/>
          <p:nvPr/>
        </p:nvSpPr>
        <p:spPr>
          <a:xfrm>
            <a:off x="3684834" y="2727319"/>
            <a:ext cx="12742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Current sensor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9C4F9772-2EE9-B645-9DF8-792B6C767293}"/>
              </a:ext>
            </a:extLst>
          </p:cNvPr>
          <p:cNvCxnSpPr>
            <a:cxnSpLocks/>
            <a:endCxn id="51" idx="1"/>
          </p:cNvCxnSpPr>
          <p:nvPr/>
        </p:nvCxnSpPr>
        <p:spPr>
          <a:xfrm flipH="1">
            <a:off x="3451397" y="2933105"/>
            <a:ext cx="745439" cy="508387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5EC0A107-3F1E-78E8-A90A-81C4085D8EF8}"/>
              </a:ext>
            </a:extLst>
          </p:cNvPr>
          <p:cNvSpPr/>
          <p:nvPr/>
        </p:nvSpPr>
        <p:spPr>
          <a:xfrm flipH="1">
            <a:off x="5699666" y="3746915"/>
            <a:ext cx="146309" cy="15971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bg1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79E6D13-B42C-C669-224B-63E63C92C777}"/>
              </a:ext>
            </a:extLst>
          </p:cNvPr>
          <p:cNvSpPr txBox="1"/>
          <p:nvPr/>
        </p:nvSpPr>
        <p:spPr>
          <a:xfrm>
            <a:off x="5160869" y="2856759"/>
            <a:ext cx="15323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Train speed sensor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3FD5E-468C-0411-62CA-3F50C3541698}"/>
              </a:ext>
            </a:extLst>
          </p:cNvPr>
          <p:cNvCxnSpPr>
            <a:cxnSpLocks/>
          </p:cNvCxnSpPr>
          <p:nvPr/>
        </p:nvCxnSpPr>
        <p:spPr>
          <a:xfrm>
            <a:off x="5765588" y="3098240"/>
            <a:ext cx="0" cy="638133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47F8C763-AB2C-EC92-F85C-313D3BF7D1D5}"/>
              </a:ext>
            </a:extLst>
          </p:cNvPr>
          <p:cNvCxnSpPr>
            <a:cxnSpLocks/>
            <a:stCxn id="46" idx="3"/>
            <a:endCxn id="37" idx="1"/>
          </p:cNvCxnSpPr>
          <p:nvPr/>
        </p:nvCxnSpPr>
        <p:spPr>
          <a:xfrm flipV="1">
            <a:off x="5435691" y="3586679"/>
            <a:ext cx="1851594" cy="702558"/>
          </a:xfrm>
          <a:prstGeom prst="bentConnector3">
            <a:avLst>
              <a:gd name="adj1" fmla="val 50000"/>
            </a:avLst>
          </a:prstGeom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873F8AB7-E48C-797D-3C28-13D834D923AA}"/>
              </a:ext>
            </a:extLst>
          </p:cNvPr>
          <p:cNvCxnSpPr>
            <a:cxnSpLocks/>
            <a:stCxn id="46" idx="3"/>
            <a:endCxn id="54" idx="2"/>
          </p:cNvCxnSpPr>
          <p:nvPr/>
        </p:nvCxnSpPr>
        <p:spPr>
          <a:xfrm flipV="1">
            <a:off x="5435691" y="3906634"/>
            <a:ext cx="337129" cy="382603"/>
          </a:xfrm>
          <a:prstGeom prst="bentConnector2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AFD01B7F-240A-E646-C3CC-C52067AC719B}"/>
              </a:ext>
            </a:extLst>
          </p:cNvPr>
          <p:cNvCxnSpPr>
            <a:cxnSpLocks/>
            <a:stCxn id="46" idx="0"/>
            <a:endCxn id="48" idx="2"/>
          </p:cNvCxnSpPr>
          <p:nvPr/>
        </p:nvCxnSpPr>
        <p:spPr>
          <a:xfrm rot="16200000" flipV="1">
            <a:off x="4690867" y="3637154"/>
            <a:ext cx="679925" cy="167670"/>
          </a:xfrm>
          <a:prstGeom prst="bentConnector3">
            <a:avLst>
              <a:gd name="adj1" fmla="val 50000"/>
            </a:avLst>
          </a:prstGeom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640F1950-F283-D1CC-7899-BB8CBC3970CD}"/>
              </a:ext>
            </a:extLst>
          </p:cNvPr>
          <p:cNvCxnSpPr>
            <a:cxnSpLocks/>
            <a:stCxn id="46" idx="1"/>
          </p:cNvCxnSpPr>
          <p:nvPr/>
        </p:nvCxnSpPr>
        <p:spPr>
          <a:xfrm rot="10800000">
            <a:off x="3478129" y="3428351"/>
            <a:ext cx="1315509" cy="860886"/>
          </a:xfrm>
          <a:prstGeom prst="bentConnector3">
            <a:avLst>
              <a:gd name="adj1" fmla="val 61295"/>
            </a:avLst>
          </a:prstGeom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23EFF02A-BE26-22B4-1CCC-ADE330DC5E9D}"/>
              </a:ext>
            </a:extLst>
          </p:cNvPr>
          <p:cNvCxnSpPr>
            <a:cxnSpLocks/>
            <a:stCxn id="46" idx="2"/>
          </p:cNvCxnSpPr>
          <p:nvPr/>
        </p:nvCxnSpPr>
        <p:spPr>
          <a:xfrm rot="16200000" flipH="1">
            <a:off x="5504646" y="4127541"/>
            <a:ext cx="91671" cy="871634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4AA59346-0290-5757-1BD4-B3AA0E496921}"/>
              </a:ext>
            </a:extLst>
          </p:cNvPr>
          <p:cNvSpPr txBox="1"/>
          <p:nvPr/>
        </p:nvSpPr>
        <p:spPr>
          <a:xfrm>
            <a:off x="1312255" y="1904194"/>
            <a:ext cx="193583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Real-world train module function mapping 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1D7C0E6-DBAA-1F53-FF3E-D4ABC542B12A}"/>
              </a:ext>
            </a:extLst>
          </p:cNvPr>
          <p:cNvSpPr txBox="1"/>
          <p:nvPr/>
        </p:nvSpPr>
        <p:spPr>
          <a:xfrm>
            <a:off x="7365162" y="4395398"/>
            <a:ext cx="135698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Train driving control PLC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BEC18DA-FA18-2751-0B6B-7AD28159C911}"/>
              </a:ext>
            </a:extLst>
          </p:cNvPr>
          <p:cNvSpPr txBox="1"/>
          <p:nvPr/>
        </p:nvSpPr>
        <p:spPr>
          <a:xfrm>
            <a:off x="3441084" y="4489751"/>
            <a:ext cx="201733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Train sensors RTU</a:t>
            </a:r>
            <a:endParaRPr lang="en-SG" sz="1200" b="1" dirty="0">
              <a:solidFill>
                <a:schemeClr val="bg1"/>
              </a:solidFill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1D546AB-941A-081F-1CAE-DF443B092F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1426" y="3502960"/>
            <a:ext cx="379553" cy="367567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3CFEFB6C-672E-0801-5A81-552DCDBCD9B1}"/>
              </a:ext>
            </a:extLst>
          </p:cNvPr>
          <p:cNvSpPr txBox="1"/>
          <p:nvPr/>
        </p:nvSpPr>
        <p:spPr>
          <a:xfrm>
            <a:off x="1529545" y="4173494"/>
            <a:ext cx="9150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On train antenna 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7F31124-D413-9CF8-0CE4-7F7D331FAF6B}"/>
              </a:ext>
            </a:extLst>
          </p:cNvPr>
          <p:cNvCxnSpPr>
            <a:cxnSpLocks/>
          </p:cNvCxnSpPr>
          <p:nvPr/>
        </p:nvCxnSpPr>
        <p:spPr>
          <a:xfrm flipV="1">
            <a:off x="2029759" y="3797311"/>
            <a:ext cx="298823" cy="402147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6EC8AEFA-4695-6A95-0B55-66C759F38EB5}"/>
              </a:ext>
            </a:extLst>
          </p:cNvPr>
          <p:cNvCxnSpPr>
            <a:cxnSpLocks/>
            <a:endCxn id="65" idx="3"/>
          </p:cNvCxnSpPr>
          <p:nvPr/>
        </p:nvCxnSpPr>
        <p:spPr>
          <a:xfrm rot="16200000" flipV="1">
            <a:off x="2534761" y="3942963"/>
            <a:ext cx="734847" cy="222410"/>
          </a:xfrm>
          <a:prstGeom prst="bentConnector2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A5F6A3C-69AE-7777-9696-5EC7F895BA20}"/>
              </a:ext>
            </a:extLst>
          </p:cNvPr>
          <p:cNvCxnSpPr/>
          <p:nvPr/>
        </p:nvCxnSpPr>
        <p:spPr>
          <a:xfrm>
            <a:off x="3013390" y="4421591"/>
            <a:ext cx="1780247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0" name="Picture 69">
            <a:extLst>
              <a:ext uri="{FF2B5EF4-FFF2-40B4-BE49-F238E27FC236}">
                <a16:creationId xmlns:a16="http://schemas.microsoft.com/office/drawing/2014/main" id="{2AB86227-8118-465A-90A6-D21CDA9D50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5348" y="5136612"/>
            <a:ext cx="625739" cy="619418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D54BB6BD-9164-277F-36C1-0FC6D4F6F78D}"/>
              </a:ext>
            </a:extLst>
          </p:cNvPr>
          <p:cNvSpPr txBox="1"/>
          <p:nvPr/>
        </p:nvSpPr>
        <p:spPr>
          <a:xfrm>
            <a:off x="2906630" y="4981919"/>
            <a:ext cx="9150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Railway antenna 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30389ADD-682E-CCDF-412B-963455B6221B}"/>
              </a:ext>
            </a:extLst>
          </p:cNvPr>
          <p:cNvCxnSpPr>
            <a:cxnSpLocks/>
            <a:endCxn id="70" idx="0"/>
          </p:cNvCxnSpPr>
          <p:nvPr/>
        </p:nvCxnSpPr>
        <p:spPr>
          <a:xfrm>
            <a:off x="2598218" y="3867888"/>
            <a:ext cx="0" cy="1268724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8C2554F9-3C3B-468F-83C4-5A6172A2D4CC}"/>
              </a:ext>
            </a:extLst>
          </p:cNvPr>
          <p:cNvSpPr/>
          <p:nvPr/>
        </p:nvSpPr>
        <p:spPr>
          <a:xfrm>
            <a:off x="3290141" y="2871449"/>
            <a:ext cx="157467" cy="193325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>
              <a:solidFill>
                <a:schemeClr val="bg1"/>
              </a:solidFill>
            </a:endParaRP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BEB9E9A-5AD2-BDA4-0E3A-05E51E36DEF1}"/>
              </a:ext>
            </a:extLst>
          </p:cNvPr>
          <p:cNvCxnSpPr>
            <a:cxnSpLocks/>
          </p:cNvCxnSpPr>
          <p:nvPr/>
        </p:nvCxnSpPr>
        <p:spPr>
          <a:xfrm flipH="1" flipV="1">
            <a:off x="3156767" y="2761462"/>
            <a:ext cx="139955" cy="1716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C795703-A305-240E-7D53-83054B740C48}"/>
              </a:ext>
            </a:extLst>
          </p:cNvPr>
          <p:cNvCxnSpPr>
            <a:cxnSpLocks/>
          </p:cNvCxnSpPr>
          <p:nvPr/>
        </p:nvCxnSpPr>
        <p:spPr>
          <a:xfrm flipH="1">
            <a:off x="3330002" y="2273526"/>
            <a:ext cx="444" cy="547121"/>
          </a:xfrm>
          <a:prstGeom prst="straightConnector1">
            <a:avLst/>
          </a:prstGeom>
          <a:ln w="9525">
            <a:prstDash val="sysDash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6095257E-C199-A395-26B3-69337D3416E6}"/>
              </a:ext>
            </a:extLst>
          </p:cNvPr>
          <p:cNvSpPr txBox="1"/>
          <p:nvPr/>
        </p:nvSpPr>
        <p:spPr>
          <a:xfrm>
            <a:off x="2280172" y="4461585"/>
            <a:ext cx="9866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Wireless connection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2D6D40D-F5FB-C61F-415E-BEBF4C0DDB99}"/>
              </a:ext>
            </a:extLst>
          </p:cNvPr>
          <p:cNvSpPr txBox="1"/>
          <p:nvPr/>
        </p:nvSpPr>
        <p:spPr>
          <a:xfrm>
            <a:off x="3090523" y="1970405"/>
            <a:ext cx="11886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Train DC moto</a:t>
            </a:r>
            <a:endParaRPr lang="en-SG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48580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5A6E65-F07E-ABAC-2998-EA412B17C6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9911" y="1240921"/>
            <a:ext cx="476190" cy="42857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5929AF-D732-E9B3-F474-2B3F77069F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9911" y="2056475"/>
            <a:ext cx="476190" cy="409524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7E1AA94-BF5E-C6EF-64B7-A36D9B3712AE}"/>
              </a:ext>
            </a:extLst>
          </p:cNvPr>
          <p:cNvCxnSpPr>
            <a:cxnSpLocks/>
          </p:cNvCxnSpPr>
          <p:nvPr/>
        </p:nvCxnSpPr>
        <p:spPr>
          <a:xfrm>
            <a:off x="1521700" y="1519624"/>
            <a:ext cx="6961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BCF7221-8A13-38F7-A5A1-962B6786631E}"/>
              </a:ext>
            </a:extLst>
          </p:cNvPr>
          <p:cNvCxnSpPr>
            <a:cxnSpLocks/>
          </p:cNvCxnSpPr>
          <p:nvPr/>
        </p:nvCxnSpPr>
        <p:spPr>
          <a:xfrm>
            <a:off x="1521699" y="2334176"/>
            <a:ext cx="6961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C45B73A-1FA5-FA89-B005-677F3C98C37C}"/>
              </a:ext>
            </a:extLst>
          </p:cNvPr>
          <p:cNvSpPr txBox="1"/>
          <p:nvPr/>
        </p:nvSpPr>
        <p:spPr>
          <a:xfrm>
            <a:off x="352550" y="1326736"/>
            <a:ext cx="11691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Physical Sensor signal link to PT1</a:t>
            </a:r>
            <a:endParaRPr lang="en-SG" sz="1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29A499-5278-135B-DAE0-23185E85ECEA}"/>
              </a:ext>
            </a:extLst>
          </p:cNvPr>
          <p:cNvSpPr txBox="1"/>
          <p:nvPr/>
        </p:nvSpPr>
        <p:spPr>
          <a:xfrm>
            <a:off x="352550" y="2134121"/>
            <a:ext cx="11691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Physical Sensor signal link to PT2</a:t>
            </a:r>
            <a:endParaRPr lang="en-SG" sz="1000" b="1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A53902E-A04D-3B59-633B-0D3B853E2B01}"/>
              </a:ext>
            </a:extLst>
          </p:cNvPr>
          <p:cNvCxnSpPr>
            <a:cxnSpLocks/>
          </p:cNvCxnSpPr>
          <p:nvPr/>
        </p:nvCxnSpPr>
        <p:spPr>
          <a:xfrm>
            <a:off x="2074994" y="917444"/>
            <a:ext cx="0" cy="4311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4817779-EC0A-1846-84B9-B5F7F8ABDF68}"/>
              </a:ext>
            </a:extLst>
          </p:cNvPr>
          <p:cNvCxnSpPr>
            <a:cxnSpLocks/>
          </p:cNvCxnSpPr>
          <p:nvPr/>
        </p:nvCxnSpPr>
        <p:spPr>
          <a:xfrm>
            <a:off x="2074994" y="1348547"/>
            <a:ext cx="1428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B54ECE7-5CB8-F7E2-F7FC-3564A0C13B18}"/>
              </a:ext>
            </a:extLst>
          </p:cNvPr>
          <p:cNvCxnSpPr>
            <a:cxnSpLocks/>
          </p:cNvCxnSpPr>
          <p:nvPr/>
        </p:nvCxnSpPr>
        <p:spPr>
          <a:xfrm>
            <a:off x="1693994" y="917443"/>
            <a:ext cx="0" cy="1216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3F20152-23D6-FE0F-A00E-6B7A947A88C6}"/>
              </a:ext>
            </a:extLst>
          </p:cNvPr>
          <p:cNvCxnSpPr>
            <a:cxnSpLocks/>
          </p:cNvCxnSpPr>
          <p:nvPr/>
        </p:nvCxnSpPr>
        <p:spPr>
          <a:xfrm>
            <a:off x="1693994" y="2134121"/>
            <a:ext cx="5238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D68B778-6198-361B-D075-210B347F48F7}"/>
              </a:ext>
            </a:extLst>
          </p:cNvPr>
          <p:cNvSpPr txBox="1"/>
          <p:nvPr/>
        </p:nvSpPr>
        <p:spPr>
          <a:xfrm>
            <a:off x="1945651" y="517335"/>
            <a:ext cx="790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HMI Set Val to PT3</a:t>
            </a:r>
            <a:endParaRPr lang="en-SG" sz="1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B0241FD-F538-4FDC-C866-E4A1FEC2C854}"/>
              </a:ext>
            </a:extLst>
          </p:cNvPr>
          <p:cNvSpPr txBox="1"/>
          <p:nvPr/>
        </p:nvSpPr>
        <p:spPr>
          <a:xfrm>
            <a:off x="1165481" y="532831"/>
            <a:ext cx="790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HMI Set Val to PT4</a:t>
            </a:r>
            <a:endParaRPr lang="en-SG" sz="1000" b="1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C5345E2-8E6C-358A-51AB-5036FF8A2143}"/>
              </a:ext>
            </a:extLst>
          </p:cNvPr>
          <p:cNvCxnSpPr>
            <a:cxnSpLocks/>
          </p:cNvCxnSpPr>
          <p:nvPr/>
        </p:nvCxnSpPr>
        <p:spPr>
          <a:xfrm>
            <a:off x="2736101" y="1455206"/>
            <a:ext cx="6961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FD4509EC-0768-959D-3D77-227BA4E908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4275" y="1586369"/>
            <a:ext cx="476190" cy="42857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CC07FB0-3A83-E36D-8932-DFC8AD31A2FF}"/>
              </a:ext>
            </a:extLst>
          </p:cNvPr>
          <p:cNvCxnSpPr>
            <a:cxnSpLocks/>
          </p:cNvCxnSpPr>
          <p:nvPr/>
        </p:nvCxnSpPr>
        <p:spPr>
          <a:xfrm>
            <a:off x="2736101" y="2261237"/>
            <a:ext cx="6961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7B55EF0-4BC8-0282-E50E-308746F6F6A3}"/>
              </a:ext>
            </a:extLst>
          </p:cNvPr>
          <p:cNvCxnSpPr>
            <a:cxnSpLocks/>
          </p:cNvCxnSpPr>
          <p:nvPr/>
        </p:nvCxnSpPr>
        <p:spPr>
          <a:xfrm>
            <a:off x="3432270" y="1455206"/>
            <a:ext cx="0" cy="2244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F7833C3-BE9D-3ABA-2C20-185709B3DD15}"/>
              </a:ext>
            </a:extLst>
          </p:cNvPr>
          <p:cNvCxnSpPr>
            <a:cxnSpLocks/>
          </p:cNvCxnSpPr>
          <p:nvPr/>
        </p:nvCxnSpPr>
        <p:spPr>
          <a:xfrm>
            <a:off x="3423223" y="1689292"/>
            <a:ext cx="292005" cy="53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32BA773-9681-6581-56A4-017D8C33637C}"/>
              </a:ext>
            </a:extLst>
          </p:cNvPr>
          <p:cNvCxnSpPr>
            <a:cxnSpLocks/>
          </p:cNvCxnSpPr>
          <p:nvPr/>
        </p:nvCxnSpPr>
        <p:spPr>
          <a:xfrm>
            <a:off x="3432270" y="1909632"/>
            <a:ext cx="0" cy="3719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4B8B6BB-2FC8-E3ED-BD8D-B71155E3441F}"/>
              </a:ext>
            </a:extLst>
          </p:cNvPr>
          <p:cNvCxnSpPr>
            <a:cxnSpLocks/>
          </p:cNvCxnSpPr>
          <p:nvPr/>
        </p:nvCxnSpPr>
        <p:spPr>
          <a:xfrm>
            <a:off x="3423222" y="1906936"/>
            <a:ext cx="292005" cy="53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A9AD2EF-E604-4994-A6E4-A82B614E3D99}"/>
              </a:ext>
            </a:extLst>
          </p:cNvPr>
          <p:cNvCxnSpPr>
            <a:cxnSpLocks/>
          </p:cNvCxnSpPr>
          <p:nvPr/>
        </p:nvCxnSpPr>
        <p:spPr>
          <a:xfrm>
            <a:off x="4209512" y="1816248"/>
            <a:ext cx="292005" cy="53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787EED31-52E4-7BC3-A4E6-B2A9C0AEC252}"/>
              </a:ext>
            </a:extLst>
          </p:cNvPr>
          <p:cNvSpPr/>
          <p:nvPr/>
        </p:nvSpPr>
        <p:spPr>
          <a:xfrm>
            <a:off x="4411396" y="1390319"/>
            <a:ext cx="1161785" cy="851857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Condition value generator : </a:t>
            </a:r>
          </a:p>
          <a:p>
            <a:r>
              <a:rPr lang="en-US" sz="1050" b="1" dirty="0"/>
              <a:t>True -&gt; 1.01</a:t>
            </a:r>
          </a:p>
          <a:p>
            <a:r>
              <a:rPr lang="en-US" sz="1050" b="1" dirty="0"/>
              <a:t>False-&gt; 1.02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88B71CC-D6BD-656A-E7FE-FD4AC1F16DFC}"/>
              </a:ext>
            </a:extLst>
          </p:cNvPr>
          <p:cNvCxnSpPr>
            <a:cxnSpLocks/>
          </p:cNvCxnSpPr>
          <p:nvPr/>
        </p:nvCxnSpPr>
        <p:spPr>
          <a:xfrm>
            <a:off x="5583755" y="1795262"/>
            <a:ext cx="292005" cy="53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084E172-827B-4624-6EFD-7B6298491417}"/>
              </a:ext>
            </a:extLst>
          </p:cNvPr>
          <p:cNvSpPr txBox="1"/>
          <p:nvPr/>
        </p:nvSpPr>
        <p:spPr>
          <a:xfrm>
            <a:off x="5828371" y="1689292"/>
            <a:ext cx="7904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Val to PT5</a:t>
            </a:r>
            <a:endParaRPr lang="en-SG" sz="1000" b="1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26114E2-89DF-FCEB-E353-0820C657F5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0856" y="3682809"/>
            <a:ext cx="506017" cy="400107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17595D03-5C88-54AB-DA51-6D667C433F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3244" y="3682809"/>
            <a:ext cx="506017" cy="400107"/>
          </a:xfrm>
          <a:prstGeom prst="rect">
            <a:avLst/>
          </a:prstGeom>
        </p:spPr>
      </p:pic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EFB06C9-EAF7-44D8-5051-8BFF8181875F}"/>
              </a:ext>
            </a:extLst>
          </p:cNvPr>
          <p:cNvCxnSpPr>
            <a:cxnSpLocks/>
          </p:cNvCxnSpPr>
          <p:nvPr/>
        </p:nvCxnSpPr>
        <p:spPr>
          <a:xfrm>
            <a:off x="2986873" y="3873338"/>
            <a:ext cx="54637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9" name="Picture 48">
            <a:extLst>
              <a:ext uri="{FF2B5EF4-FFF2-40B4-BE49-F238E27FC236}">
                <a16:creationId xmlns:a16="http://schemas.microsoft.com/office/drawing/2014/main" id="{EF074984-B882-03C8-DDEB-470BC21E82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832" y="3692335"/>
            <a:ext cx="506017" cy="400107"/>
          </a:xfrm>
          <a:prstGeom prst="rect">
            <a:avLst/>
          </a:prstGeom>
        </p:spPr>
      </p:pic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318159D-87CC-187C-4997-A4256A4B74BC}"/>
              </a:ext>
            </a:extLst>
          </p:cNvPr>
          <p:cNvCxnSpPr>
            <a:cxnSpLocks/>
          </p:cNvCxnSpPr>
          <p:nvPr/>
        </p:nvCxnSpPr>
        <p:spPr>
          <a:xfrm>
            <a:off x="1417102" y="3882863"/>
            <a:ext cx="107765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F1B4E9CF-8B8D-B3EC-5A7F-124C7CC65B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438" y="4350563"/>
            <a:ext cx="506017" cy="400107"/>
          </a:xfrm>
          <a:prstGeom prst="rect">
            <a:avLst/>
          </a:prstGeom>
        </p:spPr>
      </p:pic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E4E344B-C51D-ADEA-D1B2-57458699E8D7}"/>
              </a:ext>
            </a:extLst>
          </p:cNvPr>
          <p:cNvCxnSpPr>
            <a:stCxn id="52" idx="3"/>
          </p:cNvCxnSpPr>
          <p:nvPr/>
        </p:nvCxnSpPr>
        <p:spPr>
          <a:xfrm flipV="1">
            <a:off x="1414455" y="3882863"/>
            <a:ext cx="574287" cy="667754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EE63ABC-F220-928A-7340-1B32D07A9F22}"/>
              </a:ext>
            </a:extLst>
          </p:cNvPr>
          <p:cNvCxnSpPr>
            <a:cxnSpLocks/>
          </p:cNvCxnSpPr>
          <p:nvPr/>
        </p:nvCxnSpPr>
        <p:spPr>
          <a:xfrm>
            <a:off x="4007429" y="3873338"/>
            <a:ext cx="6961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43BA59A3-76C5-A00D-1BF4-95B0D886CA07}"/>
              </a:ext>
            </a:extLst>
          </p:cNvPr>
          <p:cNvSpPr/>
          <p:nvPr/>
        </p:nvSpPr>
        <p:spPr>
          <a:xfrm>
            <a:off x="4601099" y="3656987"/>
            <a:ext cx="1056751" cy="85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>
                <a:solidFill>
                  <a:schemeClr val="tx1"/>
                </a:solidFill>
              </a:rPr>
              <a:t>IF IN_STATA:</a:t>
            </a:r>
          </a:p>
          <a:p>
            <a:r>
              <a:rPr lang="en-US" sz="1050" b="1" dirty="0">
                <a:solidFill>
                  <a:schemeClr val="tx1"/>
                </a:solidFill>
              </a:rPr>
              <a:t>  OUT =  1.01</a:t>
            </a:r>
          </a:p>
          <a:p>
            <a:r>
              <a:rPr lang="en-US" sz="1050" b="1" dirty="0">
                <a:solidFill>
                  <a:schemeClr val="tx1"/>
                </a:solidFill>
              </a:rPr>
              <a:t>ELSE</a:t>
            </a:r>
          </a:p>
          <a:p>
            <a:r>
              <a:rPr lang="en-US" sz="1050" b="1" dirty="0">
                <a:solidFill>
                  <a:schemeClr val="tx1"/>
                </a:solidFill>
              </a:rPr>
              <a:t>  OUT  = 1.02</a:t>
            </a:r>
          </a:p>
          <a:p>
            <a:r>
              <a:rPr lang="en-US" sz="1050" b="1" dirty="0">
                <a:solidFill>
                  <a:schemeClr val="tx1"/>
                </a:solidFill>
              </a:rPr>
              <a:t>END IF 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D9C6E96-2E1A-83E6-57AE-D8121CDB345F}"/>
              </a:ext>
            </a:extLst>
          </p:cNvPr>
          <p:cNvCxnSpPr>
            <a:cxnSpLocks/>
          </p:cNvCxnSpPr>
          <p:nvPr/>
        </p:nvCxnSpPr>
        <p:spPr>
          <a:xfrm>
            <a:off x="5682368" y="3867946"/>
            <a:ext cx="31838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9A2D6FA0-C812-BE26-75CD-AB5C167CD4DA}"/>
              </a:ext>
            </a:extLst>
          </p:cNvPr>
          <p:cNvSpPr/>
          <p:nvPr/>
        </p:nvSpPr>
        <p:spPr>
          <a:xfrm>
            <a:off x="6025268" y="3744835"/>
            <a:ext cx="790451" cy="2462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>
                <a:solidFill>
                  <a:schemeClr val="tx1"/>
                </a:solidFill>
              </a:rPr>
              <a:t>Address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F344703-DFB7-1E8E-4CF8-D8B5F2FFEDA2}"/>
              </a:ext>
            </a:extLst>
          </p:cNvPr>
          <p:cNvSpPr txBox="1"/>
          <p:nvPr/>
        </p:nvSpPr>
        <p:spPr>
          <a:xfrm>
            <a:off x="731205" y="3455997"/>
            <a:ext cx="11598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%M = 000002</a:t>
            </a:r>
            <a:endParaRPr lang="en-SG" sz="12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4DD2FD4-603A-8A83-8392-0AECC08189A7}"/>
              </a:ext>
            </a:extLst>
          </p:cNvPr>
          <p:cNvSpPr txBox="1"/>
          <p:nvPr/>
        </p:nvSpPr>
        <p:spPr>
          <a:xfrm>
            <a:off x="764448" y="4140985"/>
            <a:ext cx="11598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%M = 000004</a:t>
            </a:r>
            <a:endParaRPr lang="en-SG" sz="120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610D34F-D15E-EC9D-CB40-7F4F81786691}"/>
              </a:ext>
            </a:extLst>
          </p:cNvPr>
          <p:cNvSpPr txBox="1"/>
          <p:nvPr/>
        </p:nvSpPr>
        <p:spPr>
          <a:xfrm>
            <a:off x="2165182" y="3416217"/>
            <a:ext cx="11598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%M = 000001</a:t>
            </a:r>
            <a:endParaRPr lang="en-SG" sz="1200" b="1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7C8D56D-2DCE-2A19-3C30-079801C3F768}"/>
              </a:ext>
            </a:extLst>
          </p:cNvPr>
          <p:cNvSpPr txBox="1"/>
          <p:nvPr/>
        </p:nvSpPr>
        <p:spPr>
          <a:xfrm>
            <a:off x="3302547" y="3425169"/>
            <a:ext cx="11598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%M = 000003</a:t>
            </a:r>
            <a:endParaRPr lang="en-SG" sz="120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4482AE2-44F9-5775-AF9E-D9BFB7637FFF}"/>
              </a:ext>
            </a:extLst>
          </p:cNvPr>
          <p:cNvSpPr txBox="1"/>
          <p:nvPr/>
        </p:nvSpPr>
        <p:spPr>
          <a:xfrm>
            <a:off x="5844793" y="3428740"/>
            <a:ext cx="11598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%M = 000005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26380837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2006</TotalTime>
  <Words>1099</Words>
  <Application>Microsoft Office PowerPoint</Application>
  <PresentationFormat>Widescreen</PresentationFormat>
  <Paragraphs>351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yuancheng Liu</dc:creator>
  <cp:lastModifiedBy>yuancheng Liu</cp:lastModifiedBy>
  <cp:revision>61</cp:revision>
  <dcterms:created xsi:type="dcterms:W3CDTF">2024-03-27T09:33:48Z</dcterms:created>
  <dcterms:modified xsi:type="dcterms:W3CDTF">2025-12-05T02:02:12Z</dcterms:modified>
</cp:coreProperties>
</file>