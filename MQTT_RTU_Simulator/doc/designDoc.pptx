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52297-66E0-4839-ACCC-742E4BD155E6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6B7D6-7851-49B5-BE5D-D00B7BAA493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795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6B7D6-7851-49B5-BE5D-D00B7BAA4937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793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6574-0654-1B36-4D83-9BDC125AC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C0E16-350C-DDB4-1939-44C26C8FB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47839-9251-EA5B-3483-51E1A608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48822-ED9B-3820-FA2D-1384A6B9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72640-7FAA-16B6-33D3-DC57963C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693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6137-3003-E672-15AA-5B63685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24A7A-362F-B144-1858-5B3A4CF40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D2DEE-7441-C814-D863-B6A3637F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E1375-3111-C11D-1492-99CC3FD3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E2EA5-86F9-BD64-6081-00072501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629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A3CE-154D-E0E1-63FE-7A435368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3BE0B-109F-5702-3C72-F955B9D3B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4DD9B-F9CA-4C49-0100-10DAF8C9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2F387-B7BD-4322-B4C9-DC586E0B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E3C4C-DC9C-34FC-5979-21936A3B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281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9D47-5936-3387-D1BC-9DA6761E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A2C7-8E5B-A992-4D97-339140663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AB1B6-6594-DAFF-1FCD-077F3BBDF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7BCE0-9B62-9913-0E5D-CA64CB28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71A05-4F2D-4319-4CE3-B3CA6338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EA918-8E8C-197C-99F4-AAC4F5C41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542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9105-73D3-D288-C0C2-9A8ACF053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343E8-26BC-4CE2-930C-E033E0CA3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589BE-041A-2FE9-FA0D-733C707C1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EB441-DEF0-617D-B306-AF855B2D0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514F1-B928-922C-DB2A-BDB7FC3C5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7AB26-BA28-E1BF-62C3-46F5E9EC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23168-3431-76BE-B050-20C9771C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0762A-BEC0-92DD-03E0-ABF63F97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061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D4A2-CACA-0464-E99D-1937256E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E1B5B-D956-D546-7A93-B1CCAD07E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EF4E2-C9D8-324F-EE6E-E905F67E6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0AD79-A672-DE25-16E8-72BA94A2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372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F0F89-37F2-054B-F1C3-593F5870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3BD70-9B41-21E5-F574-273C872C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3716F-FF3D-6E6B-428D-62B125BC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589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4D83-B62C-D1CF-948F-F9545C3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79D1-E2C4-BED5-78E7-DF8FCF29A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93598-2BE8-1CAD-C2F0-BBA230332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3334-D73D-7779-8DB8-56B52B74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2ABF0-3342-C6CE-39A4-DBE6EF98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D411C-BD04-2DB6-BF0A-7021BC44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918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8278-239C-AC7D-0D1F-5ACD0A53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008F3-1A15-C438-9D08-EF2C15400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9FD52-9FAB-D6C5-2D54-D32298245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41BF3-0247-2DE9-6EFE-5EC2517E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2018A-6081-A5B4-C22E-13F82F6E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FF314-1D3B-86D5-B196-07A33DD2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596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72B3-65A4-6F06-CF9B-FAA08F0D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1B450-3BBC-9211-5041-5A42E7232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8481C-11D6-D9AD-2195-D6D5684F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3366-295C-0677-F2B9-3F766EBE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92F8-7397-C1A8-E921-213A9BD7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219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26019-65CD-D2EE-3AA5-06B7FDD29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5BCF5-A62A-665E-A1D0-26B023692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F6958-7A58-6F2D-3B72-5B394C83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80D6-74EE-5618-74F1-AD2C87D6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9F5CD-71CF-1ED2-0E40-73237D69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363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36A1F-74DC-ABE6-6C02-1194744E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AA1CD-B198-1FFC-7BEC-8A8F846A0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2A28-F543-EBEB-CB25-523336D57E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C4233-9FD4-48E0-99C1-555DE8AF0C0C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675E4-8FE5-A9EF-72A1-A3AFF7B2F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23D92-65EA-B209-0DA4-E5ACB61A1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6C70C-4FFC-4D88-A0EC-4E387C73A79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700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5197B4-4DE7-CC07-E13A-AEC4F709645F}"/>
              </a:ext>
            </a:extLst>
          </p:cNvPr>
          <p:cNvSpPr/>
          <p:nvPr/>
        </p:nvSpPr>
        <p:spPr>
          <a:xfrm>
            <a:off x="1526177" y="4149635"/>
            <a:ext cx="5516270" cy="757072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1FDBE-BA81-08CE-4269-CFD5B8380253}"/>
              </a:ext>
            </a:extLst>
          </p:cNvPr>
          <p:cNvSpPr txBox="1"/>
          <p:nvPr/>
        </p:nvSpPr>
        <p:spPr>
          <a:xfrm>
            <a:off x="1637951" y="4180054"/>
            <a:ext cx="1320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Level 0</a:t>
            </a:r>
          </a:p>
          <a:p>
            <a:r>
              <a:rPr lang="en-US" sz="1200" dirty="0">
                <a:solidFill>
                  <a:schemeClr val="bg1"/>
                </a:solidFill>
              </a:rPr>
              <a:t>Physical Process</a:t>
            </a:r>
          </a:p>
          <a:p>
            <a:r>
              <a:rPr lang="en-US" sz="1200" dirty="0">
                <a:solidFill>
                  <a:schemeClr val="bg1"/>
                </a:solidFill>
              </a:rPr>
              <a:t>Field I/O device </a:t>
            </a:r>
            <a:endParaRPr lang="en-SG" sz="12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3AF4DF-B366-1099-D346-83455AA304CE}"/>
              </a:ext>
            </a:extLst>
          </p:cNvPr>
          <p:cNvSpPr/>
          <p:nvPr/>
        </p:nvSpPr>
        <p:spPr>
          <a:xfrm>
            <a:off x="3200556" y="4352922"/>
            <a:ext cx="472819" cy="3563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 err="1">
                <a:solidFill>
                  <a:schemeClr val="tx1"/>
                </a:solidFill>
              </a:rPr>
              <a:t>IIoT</a:t>
            </a:r>
            <a:endParaRPr lang="en-SG" sz="12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6A1D6-F15E-CAD7-5311-499BD4FAD07D}"/>
              </a:ext>
            </a:extLst>
          </p:cNvPr>
          <p:cNvSpPr/>
          <p:nvPr/>
        </p:nvSpPr>
        <p:spPr>
          <a:xfrm>
            <a:off x="3895701" y="4352921"/>
            <a:ext cx="1165150" cy="3563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Metering Unit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E1A17A-1EB1-84E0-8F84-52FC2A4D0880}"/>
              </a:ext>
            </a:extLst>
          </p:cNvPr>
          <p:cNvSpPr/>
          <p:nvPr/>
        </p:nvSpPr>
        <p:spPr>
          <a:xfrm>
            <a:off x="5283177" y="4352921"/>
            <a:ext cx="790296" cy="3563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Sensors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6A09C6-A80A-1773-2A4E-62EEE664A80B}"/>
              </a:ext>
            </a:extLst>
          </p:cNvPr>
          <p:cNvSpPr/>
          <p:nvPr/>
        </p:nvSpPr>
        <p:spPr>
          <a:xfrm>
            <a:off x="1526177" y="3190874"/>
            <a:ext cx="5516270" cy="674137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317B8-6544-4A01-559C-4AF56B81F75F}"/>
              </a:ext>
            </a:extLst>
          </p:cNvPr>
          <p:cNvSpPr txBox="1"/>
          <p:nvPr/>
        </p:nvSpPr>
        <p:spPr>
          <a:xfrm>
            <a:off x="1670217" y="3315125"/>
            <a:ext cx="1139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1</a:t>
            </a:r>
          </a:p>
          <a:p>
            <a:r>
              <a:rPr lang="en-US" sz="1100" dirty="0"/>
              <a:t>Controller LAN </a:t>
            </a:r>
            <a:endParaRPr lang="en-SG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6DE35-CD7A-4960-8049-92C03F0D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938" y="3287119"/>
            <a:ext cx="664712" cy="472684"/>
          </a:xfrm>
          <a:prstGeom prst="rect">
            <a:avLst/>
          </a:prstGeom>
        </p:spPr>
      </p:pic>
      <p:pic>
        <p:nvPicPr>
          <p:cNvPr id="15" name="Picture 14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053B07FA-9A1F-651A-5C38-9472179A0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654" y="3246330"/>
            <a:ext cx="468371" cy="51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D8A088-E4BB-E724-5076-D08DB8E427E8}"/>
              </a:ext>
            </a:extLst>
          </p:cNvPr>
          <p:cNvSpPr txBox="1"/>
          <p:nvPr/>
        </p:nvSpPr>
        <p:spPr>
          <a:xfrm>
            <a:off x="3965025" y="3583558"/>
            <a:ext cx="574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PLC</a:t>
            </a:r>
            <a:endParaRPr lang="en-SG" sz="1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41D427-DF0E-AE86-58E1-98B06C6DAC66}"/>
              </a:ext>
            </a:extLst>
          </p:cNvPr>
          <p:cNvSpPr txBox="1"/>
          <p:nvPr/>
        </p:nvSpPr>
        <p:spPr>
          <a:xfrm>
            <a:off x="5572124" y="3550797"/>
            <a:ext cx="559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RTU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A2FCE97-444D-96B7-9D79-5FBBE78FB7FC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rot="5400000">
            <a:off x="4567226" y="3670853"/>
            <a:ext cx="593118" cy="77101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ABBCD2F-3340-3611-60D8-67FC7B402EA8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rot="16200000" flipH="1">
            <a:off x="5167250" y="3841846"/>
            <a:ext cx="593118" cy="42903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9F8FF0A-CC3B-D85F-14F7-F6AAFD2ED6EF}"/>
              </a:ext>
            </a:extLst>
          </p:cNvPr>
          <p:cNvCxnSpPr>
            <a:stCxn id="15" idx="2"/>
            <a:endCxn id="9" idx="0"/>
          </p:cNvCxnSpPr>
          <p:nvPr/>
        </p:nvCxnSpPr>
        <p:spPr>
          <a:xfrm rot="16200000" flipH="1">
            <a:off x="3807999" y="3682644"/>
            <a:ext cx="593118" cy="7474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A045BB4-02E1-7CB8-438E-336304F8BEFC}"/>
              </a:ext>
            </a:extLst>
          </p:cNvPr>
          <p:cNvSpPr/>
          <p:nvPr/>
        </p:nvSpPr>
        <p:spPr>
          <a:xfrm>
            <a:off x="1513770" y="2315964"/>
            <a:ext cx="5528677" cy="726901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3C95A0-8B87-3913-A665-E1AED7872846}"/>
              </a:ext>
            </a:extLst>
          </p:cNvPr>
          <p:cNvSpPr txBox="1"/>
          <p:nvPr/>
        </p:nvSpPr>
        <p:spPr>
          <a:xfrm>
            <a:off x="1636303" y="2326390"/>
            <a:ext cx="1391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2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Center (HQ) Processing LAN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569A22-E2F8-0826-B7AE-58B88D739DB7}"/>
              </a:ext>
            </a:extLst>
          </p:cNvPr>
          <p:cNvSpPr txBox="1"/>
          <p:nvPr/>
        </p:nvSpPr>
        <p:spPr>
          <a:xfrm>
            <a:off x="3548625" y="2389939"/>
            <a:ext cx="1471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MQTT Broker Server </a:t>
            </a:r>
          </a:p>
        </p:txBody>
      </p:sp>
      <p:pic>
        <p:nvPicPr>
          <p:cNvPr id="54" name="Graphic 53" descr="Computer with solid fill">
            <a:extLst>
              <a:ext uri="{FF2B5EF4-FFF2-40B4-BE49-F238E27FC236}">
                <a16:creationId xmlns:a16="http://schemas.microsoft.com/office/drawing/2014/main" id="{6F931331-CF0E-CDB1-A653-DFA5C93DD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1032" y="2434371"/>
            <a:ext cx="446421" cy="446421"/>
          </a:xfrm>
          <a:prstGeom prst="rect">
            <a:avLst/>
          </a:prstGeom>
        </p:spPr>
      </p:pic>
      <p:pic>
        <p:nvPicPr>
          <p:cNvPr id="55" name="Graphic 54" descr="Ui Ux with solid fill">
            <a:extLst>
              <a:ext uri="{FF2B5EF4-FFF2-40B4-BE49-F238E27FC236}">
                <a16:creationId xmlns:a16="http://schemas.microsoft.com/office/drawing/2014/main" id="{E646BA4E-4971-C662-B2AF-D7D19C7BD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7965" y="2459578"/>
            <a:ext cx="550375" cy="55037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A7B914-C084-414E-0015-D24396A5E0B9}"/>
              </a:ext>
            </a:extLst>
          </p:cNvPr>
          <p:cNvCxnSpPr>
            <a:cxnSpLocks/>
          </p:cNvCxnSpPr>
          <p:nvPr/>
        </p:nvCxnSpPr>
        <p:spPr>
          <a:xfrm>
            <a:off x="3270434" y="2807272"/>
            <a:ext cx="0" cy="155257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B167245-CB3A-9A72-E5F0-A87AC53F2AE1}"/>
              </a:ext>
            </a:extLst>
          </p:cNvPr>
          <p:cNvSpPr txBox="1"/>
          <p:nvPr/>
        </p:nvSpPr>
        <p:spPr>
          <a:xfrm>
            <a:off x="7874679" y="3620423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Railway Track Control HMI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F1823D-7A98-9481-2731-0F15ECBFBC8B}"/>
              </a:ext>
            </a:extLst>
          </p:cNvPr>
          <p:cNvSpPr txBox="1"/>
          <p:nvPr/>
        </p:nvSpPr>
        <p:spPr>
          <a:xfrm>
            <a:off x="5668987" y="2410749"/>
            <a:ext cx="9221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Control HMI / Console machine 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789B378-9903-3123-F7BE-BA64054115F6}"/>
              </a:ext>
            </a:extLst>
          </p:cNvPr>
          <p:cNvCxnSpPr>
            <a:cxnSpLocks/>
          </p:cNvCxnSpPr>
          <p:nvPr/>
        </p:nvCxnSpPr>
        <p:spPr>
          <a:xfrm>
            <a:off x="3312071" y="2972223"/>
            <a:ext cx="108847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17D7B93-3D52-6A63-2CAE-3B373903F065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4391401" y="2997924"/>
            <a:ext cx="529982" cy="521092"/>
          </a:xfrm>
          <a:prstGeom prst="bentConnector2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085F8B8-30AA-8B36-DBEE-23D06A53EEC9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730839" y="2950968"/>
            <a:ext cx="1" cy="2953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982C9C0-B90A-77C5-9E1B-E8EED6AF2A97}"/>
              </a:ext>
            </a:extLst>
          </p:cNvPr>
          <p:cNvCxnSpPr>
            <a:cxnSpLocks/>
          </p:cNvCxnSpPr>
          <p:nvPr/>
        </p:nvCxnSpPr>
        <p:spPr>
          <a:xfrm flipV="1">
            <a:off x="3523111" y="2769956"/>
            <a:ext cx="1595735" cy="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C680C74-5947-5BB3-935A-54E988877DDC}"/>
              </a:ext>
            </a:extLst>
          </p:cNvPr>
          <p:cNvSpPr/>
          <p:nvPr/>
        </p:nvSpPr>
        <p:spPr>
          <a:xfrm>
            <a:off x="1513770" y="1317221"/>
            <a:ext cx="5528678" cy="825418"/>
          </a:xfrm>
          <a:prstGeom prst="roundRect">
            <a:avLst/>
          </a:prstGeom>
          <a:solidFill>
            <a:srgbClr val="6458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3A9111-C8F6-8825-72CA-3522CEA1FF8F}"/>
              </a:ext>
            </a:extLst>
          </p:cNvPr>
          <p:cNvSpPr txBox="1"/>
          <p:nvPr/>
        </p:nvSpPr>
        <p:spPr>
          <a:xfrm>
            <a:off x="1632142" y="1389411"/>
            <a:ext cx="13248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3</a:t>
            </a:r>
          </a:p>
          <a:p>
            <a:r>
              <a:rPr lang="en-US" sz="1100" dirty="0">
                <a:solidFill>
                  <a:schemeClr val="bg1"/>
                </a:solidFill>
              </a:rPr>
              <a:t>Operations Management Zone </a:t>
            </a:r>
          </a:p>
        </p:txBody>
      </p:sp>
      <p:pic>
        <p:nvPicPr>
          <p:cNvPr id="82" name="Graphic 81" descr="Full Brick Wall with solid fill">
            <a:extLst>
              <a:ext uri="{FF2B5EF4-FFF2-40B4-BE49-F238E27FC236}">
                <a16:creationId xmlns:a16="http://schemas.microsoft.com/office/drawing/2014/main" id="{2B48AA09-73E4-DF2A-E705-D4E41C3FD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5563" y="1550258"/>
            <a:ext cx="418359" cy="418359"/>
          </a:xfrm>
          <a:prstGeom prst="rect">
            <a:avLst/>
          </a:prstGeom>
        </p:spPr>
      </p:pic>
      <p:pic>
        <p:nvPicPr>
          <p:cNvPr id="83" name="Graphic 82" descr="Ui Ux with solid fill">
            <a:extLst>
              <a:ext uri="{FF2B5EF4-FFF2-40B4-BE49-F238E27FC236}">
                <a16:creationId xmlns:a16="http://schemas.microsoft.com/office/drawing/2014/main" id="{25C9A69D-991D-5B40-0C5E-96302FC149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979" y="1455059"/>
            <a:ext cx="572105" cy="572105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91B2906-003D-1E6E-8405-1203055F55D1}"/>
              </a:ext>
            </a:extLst>
          </p:cNvPr>
          <p:cNvCxnSpPr>
            <a:cxnSpLocks/>
          </p:cNvCxnSpPr>
          <p:nvPr/>
        </p:nvCxnSpPr>
        <p:spPr>
          <a:xfrm>
            <a:off x="3273063" y="1959574"/>
            <a:ext cx="0" cy="56117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Smart Phone with solid fill">
            <a:extLst>
              <a:ext uri="{FF2B5EF4-FFF2-40B4-BE49-F238E27FC236}">
                <a16:creationId xmlns:a16="http://schemas.microsoft.com/office/drawing/2014/main" id="{AB93BEFD-64A8-D824-B50B-BED279B56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2996" y="1458938"/>
            <a:ext cx="557955" cy="55795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7E0CAF7-1E85-F4AE-9B86-E2AF0B15BE78}"/>
              </a:ext>
            </a:extLst>
          </p:cNvPr>
          <p:cNvSpPr txBox="1"/>
          <p:nvPr/>
        </p:nvSpPr>
        <p:spPr>
          <a:xfrm>
            <a:off x="5678325" y="1500904"/>
            <a:ext cx="12725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Control Touch Screen/Phone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D41C0FF-A27A-EDDD-BFEE-3DF571D620F6}"/>
              </a:ext>
            </a:extLst>
          </p:cNvPr>
          <p:cNvSpPr txBox="1"/>
          <p:nvPr/>
        </p:nvSpPr>
        <p:spPr>
          <a:xfrm>
            <a:off x="4478276" y="1508536"/>
            <a:ext cx="804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Monitor Desktop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599E9AA-13C7-927C-1BD1-54E634FC2B70}"/>
              </a:ext>
            </a:extLst>
          </p:cNvPr>
          <p:cNvCxnSpPr>
            <a:cxnSpLocks/>
          </p:cNvCxnSpPr>
          <p:nvPr/>
        </p:nvCxnSpPr>
        <p:spPr>
          <a:xfrm>
            <a:off x="3284991" y="2219279"/>
            <a:ext cx="2146982" cy="617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8EED556-F557-6903-C88E-56FAEEC18A59}"/>
              </a:ext>
            </a:extLst>
          </p:cNvPr>
          <p:cNvCxnSpPr>
            <a:cxnSpLocks/>
          </p:cNvCxnSpPr>
          <p:nvPr/>
        </p:nvCxnSpPr>
        <p:spPr>
          <a:xfrm>
            <a:off x="4201031" y="1931791"/>
            <a:ext cx="1" cy="26869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A3A285C-834D-DCEC-5380-69407F46FD3F}"/>
              </a:ext>
            </a:extLst>
          </p:cNvPr>
          <p:cNvCxnSpPr>
            <a:cxnSpLocks/>
          </p:cNvCxnSpPr>
          <p:nvPr/>
        </p:nvCxnSpPr>
        <p:spPr>
          <a:xfrm>
            <a:off x="5443899" y="1968617"/>
            <a:ext cx="1" cy="26869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BCEFDA0-13CC-0309-E415-50A9C59B2777}"/>
              </a:ext>
            </a:extLst>
          </p:cNvPr>
          <p:cNvCxnSpPr>
            <a:cxnSpLocks/>
          </p:cNvCxnSpPr>
          <p:nvPr/>
        </p:nvCxnSpPr>
        <p:spPr>
          <a:xfrm flipH="1">
            <a:off x="7369390" y="4709312"/>
            <a:ext cx="505288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49CB5C1-AE5E-9A1B-0C8A-089939B0B1B2}"/>
              </a:ext>
            </a:extLst>
          </p:cNvPr>
          <p:cNvSpPr txBox="1"/>
          <p:nvPr/>
        </p:nvSpPr>
        <p:spPr>
          <a:xfrm>
            <a:off x="7939387" y="4539996"/>
            <a:ext cx="2366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MQTT Communication Channel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415396D-9C53-1587-417D-9A32007E22A8}"/>
              </a:ext>
            </a:extLst>
          </p:cNvPr>
          <p:cNvSpPr txBox="1"/>
          <p:nvPr/>
        </p:nvSpPr>
        <p:spPr>
          <a:xfrm>
            <a:off x="3233101" y="4116874"/>
            <a:ext cx="1043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MQTT Client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EC0B4D5-E208-DCAB-B095-19C55FDDADF4}"/>
              </a:ext>
            </a:extLst>
          </p:cNvPr>
          <p:cNvSpPr txBox="1"/>
          <p:nvPr/>
        </p:nvSpPr>
        <p:spPr>
          <a:xfrm>
            <a:off x="4395045" y="1889667"/>
            <a:ext cx="1043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MQTT Client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4BFA4F3-5EF4-46A0-0227-93E0F59487AB}"/>
              </a:ext>
            </a:extLst>
          </p:cNvPr>
          <p:cNvSpPr txBox="1"/>
          <p:nvPr/>
        </p:nvSpPr>
        <p:spPr>
          <a:xfrm>
            <a:off x="3965025" y="3203835"/>
            <a:ext cx="1043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4">
                    <a:lumMod val="75000"/>
                  </a:schemeClr>
                </a:solidFill>
              </a:rPr>
              <a:t>MQTT Client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D73D2FF-9E4E-AB67-962A-FAB6F39B7120}"/>
              </a:ext>
            </a:extLst>
          </p:cNvPr>
          <p:cNvSpPr txBox="1"/>
          <p:nvPr/>
        </p:nvSpPr>
        <p:spPr>
          <a:xfrm>
            <a:off x="7419914" y="3600000"/>
            <a:ext cx="2609906" cy="64633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MQTT Client connection interface lib to publish the data to the broker server</a:t>
            </a:r>
            <a:endParaRPr lang="en-SG" sz="1200" b="1" dirty="0"/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0A9A1C01-9B9C-82AD-6BDE-BDE5978CC6B5}"/>
              </a:ext>
            </a:extLst>
          </p:cNvPr>
          <p:cNvCxnSpPr>
            <a:cxnSpLocks/>
            <a:stCxn id="110" idx="1"/>
            <a:endCxn id="12" idx="3"/>
          </p:cNvCxnSpPr>
          <p:nvPr/>
        </p:nvCxnSpPr>
        <p:spPr>
          <a:xfrm rot="10800000">
            <a:off x="7042448" y="3527944"/>
            <a:ext cx="377467" cy="39522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59F7EB0E-EC13-D766-51E9-5DA6BC03650F}"/>
              </a:ext>
            </a:extLst>
          </p:cNvPr>
          <p:cNvCxnSpPr>
            <a:cxnSpLocks/>
            <a:stCxn id="110" idx="1"/>
            <a:endCxn id="4" idx="3"/>
          </p:cNvCxnSpPr>
          <p:nvPr/>
        </p:nvCxnSpPr>
        <p:spPr>
          <a:xfrm rot="10800000" flipV="1">
            <a:off x="7042448" y="3923165"/>
            <a:ext cx="377467" cy="60500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82619E8-0251-109B-BCA4-DE8EA01FA204}"/>
              </a:ext>
            </a:extLst>
          </p:cNvPr>
          <p:cNvSpPr txBox="1"/>
          <p:nvPr/>
        </p:nvSpPr>
        <p:spPr>
          <a:xfrm>
            <a:off x="7447747" y="1406318"/>
            <a:ext cx="2582073" cy="83099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MQTT Client connection interface lib to subscribe the data from the broker server</a:t>
            </a:r>
            <a:endParaRPr lang="en-SG" sz="1200" b="1" dirty="0"/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DE2AB975-86C3-2B7C-54C1-542288DBAB6F}"/>
              </a:ext>
            </a:extLst>
          </p:cNvPr>
          <p:cNvCxnSpPr>
            <a:cxnSpLocks/>
            <a:stCxn id="117" idx="1"/>
            <a:endCxn id="57" idx="3"/>
          </p:cNvCxnSpPr>
          <p:nvPr/>
        </p:nvCxnSpPr>
        <p:spPr>
          <a:xfrm rot="10800000" flipV="1">
            <a:off x="6591155" y="1821817"/>
            <a:ext cx="856593" cy="88901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02DB019-A146-1A4B-4854-57629F991AAD}"/>
              </a:ext>
            </a:extLst>
          </p:cNvPr>
          <p:cNvCxnSpPr>
            <a:cxnSpLocks/>
            <a:endCxn id="79" idx="3"/>
          </p:cNvCxnSpPr>
          <p:nvPr/>
        </p:nvCxnSpPr>
        <p:spPr>
          <a:xfrm flipH="1">
            <a:off x="7042448" y="1716347"/>
            <a:ext cx="4172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2558A6D-7D2D-10D8-0FFF-801D6B589E13}"/>
              </a:ext>
            </a:extLst>
          </p:cNvPr>
          <p:cNvCxnSpPr>
            <a:cxnSpLocks/>
          </p:cNvCxnSpPr>
          <p:nvPr/>
        </p:nvCxnSpPr>
        <p:spPr>
          <a:xfrm flipH="1" flipV="1">
            <a:off x="3547453" y="2835633"/>
            <a:ext cx="3821936" cy="2484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1B9340DC-E70B-E0E9-7AAD-CA28DAB1BBDA}"/>
              </a:ext>
            </a:extLst>
          </p:cNvPr>
          <p:cNvSpPr txBox="1"/>
          <p:nvPr/>
        </p:nvSpPr>
        <p:spPr>
          <a:xfrm>
            <a:off x="7369389" y="2517921"/>
            <a:ext cx="2660435" cy="83099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MQTT Broker interface lib to save the data execution the control logic and handle all the data publish and subscribe request</a:t>
            </a:r>
            <a:endParaRPr lang="en-SG" sz="12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8538CD5-1E8F-CBEA-B39C-63746835BAA1}"/>
              </a:ext>
            </a:extLst>
          </p:cNvPr>
          <p:cNvSpPr txBox="1"/>
          <p:nvPr/>
        </p:nvSpPr>
        <p:spPr>
          <a:xfrm>
            <a:off x="1398824" y="790295"/>
            <a:ext cx="8906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Different OT levels MQTT data follow with related Broker server and Client device configuration  </a:t>
            </a:r>
          </a:p>
        </p:txBody>
      </p:sp>
    </p:spTree>
    <p:extLst>
      <p:ext uri="{BB962C8B-B14F-4D97-AF65-F5344CB8AC3E}">
        <p14:creationId xmlns:p14="http://schemas.microsoft.com/office/powerpoint/2010/main" val="369619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98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A153CD48-D451-ADB0-EF08-EB3856D4FCCA}"/>
              </a:ext>
            </a:extLst>
          </p:cNvPr>
          <p:cNvSpPr/>
          <p:nvPr/>
        </p:nvSpPr>
        <p:spPr>
          <a:xfrm>
            <a:off x="4530382" y="1304591"/>
            <a:ext cx="2111994" cy="8425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D62D43B-87AF-8B47-C09B-D66D20BC37BD}"/>
              </a:ext>
            </a:extLst>
          </p:cNvPr>
          <p:cNvSpPr/>
          <p:nvPr/>
        </p:nvSpPr>
        <p:spPr>
          <a:xfrm>
            <a:off x="8178872" y="3614553"/>
            <a:ext cx="2931492" cy="18463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37A8677-8040-C491-6D80-73149652E6CE}"/>
              </a:ext>
            </a:extLst>
          </p:cNvPr>
          <p:cNvSpPr/>
          <p:nvPr/>
        </p:nvSpPr>
        <p:spPr>
          <a:xfrm>
            <a:off x="4543840" y="2419754"/>
            <a:ext cx="2489871" cy="29958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DD3D4-6B5E-7CB5-E003-2C037546352E}"/>
              </a:ext>
            </a:extLst>
          </p:cNvPr>
          <p:cNvSpPr/>
          <p:nvPr/>
        </p:nvSpPr>
        <p:spPr>
          <a:xfrm>
            <a:off x="548582" y="851571"/>
            <a:ext cx="3413179" cy="4609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C18DF-ABBF-4D82-87B5-E051CFF1E5E0}"/>
              </a:ext>
            </a:extLst>
          </p:cNvPr>
          <p:cNvSpPr txBox="1"/>
          <p:nvPr/>
        </p:nvSpPr>
        <p:spPr>
          <a:xfrm>
            <a:off x="583270" y="850523"/>
            <a:ext cx="3060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IIoT</a:t>
            </a:r>
            <a:r>
              <a:rPr lang="en-SG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Drone Simulator program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3D0994-FFC7-B371-BE19-4F804F4F3BC3}"/>
              </a:ext>
            </a:extLst>
          </p:cNvPr>
          <p:cNvSpPr txBox="1"/>
          <p:nvPr/>
        </p:nvSpPr>
        <p:spPr>
          <a:xfrm>
            <a:off x="4530381" y="2511947"/>
            <a:ext cx="2732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Air Vacuum System Control RTU Simulation Framework</a:t>
            </a:r>
            <a:endParaRPr lang="en-SG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5B9271-91E4-96A0-FFD7-67E7E3B97AB1}"/>
              </a:ext>
            </a:extLst>
          </p:cNvPr>
          <p:cNvSpPr txBox="1"/>
          <p:nvPr/>
        </p:nvSpPr>
        <p:spPr>
          <a:xfrm>
            <a:off x="4355376" y="955243"/>
            <a:ext cx="288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Level1 OT Controller Devices </a:t>
            </a:r>
            <a:endParaRPr lang="en-SG" sz="140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0193F1-FCF7-0996-4AFD-5FEB7922A1DC}"/>
              </a:ext>
            </a:extLst>
          </p:cNvPr>
          <p:cNvSpPr/>
          <p:nvPr/>
        </p:nvSpPr>
        <p:spPr>
          <a:xfrm>
            <a:off x="5219105" y="3292531"/>
            <a:ext cx="1494965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Input Parameter </a:t>
            </a:r>
            <a:r>
              <a:rPr lang="en-US" sz="1050" b="1" dirty="0" err="1"/>
              <a:t>Dict</a:t>
            </a:r>
            <a:endParaRPr lang="en-SG" sz="1050" b="1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0C4944A4-AC6E-C358-AD9C-F8CDE9B6C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43" y="3874018"/>
            <a:ext cx="762864" cy="6638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D271E74-DEAC-DBC5-E155-98AC307DE59C}"/>
              </a:ext>
            </a:extLst>
          </p:cNvPr>
          <p:cNvCxnSpPr>
            <a:cxnSpLocks/>
          </p:cNvCxnSpPr>
          <p:nvPr/>
        </p:nvCxnSpPr>
        <p:spPr>
          <a:xfrm>
            <a:off x="5796575" y="3580043"/>
            <a:ext cx="0" cy="24508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87F13EF-BB40-8784-CA1E-3F7F9B4EDF0E}"/>
              </a:ext>
            </a:extLst>
          </p:cNvPr>
          <p:cNvSpPr txBox="1"/>
          <p:nvPr/>
        </p:nvSpPr>
        <p:spPr>
          <a:xfrm>
            <a:off x="508106" y="458841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Level0 OT Physical Field I/O Devices </a:t>
            </a:r>
            <a:endParaRPr lang="en-SG" sz="14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0089D7C-7E8D-AD1C-D162-A3C3BE67C8FF}"/>
              </a:ext>
            </a:extLst>
          </p:cNvPr>
          <p:cNvSpPr txBox="1"/>
          <p:nvPr/>
        </p:nvSpPr>
        <p:spPr>
          <a:xfrm>
            <a:off x="4733726" y="3852704"/>
            <a:ext cx="875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Auto</a:t>
            </a:r>
          </a:p>
          <a:p>
            <a:r>
              <a:rPr lang="en-US" sz="1200" b="1" dirty="0"/>
              <a:t>Control </a:t>
            </a:r>
          </a:p>
          <a:p>
            <a:r>
              <a:rPr lang="en-US" sz="1200" b="1" dirty="0"/>
              <a:t>Logic</a:t>
            </a:r>
            <a:endParaRPr lang="en-SG" sz="1200" b="1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2ADACBF-6CD1-7C6A-393E-8FDE39B7951F}"/>
              </a:ext>
            </a:extLst>
          </p:cNvPr>
          <p:cNvSpPr/>
          <p:nvPr/>
        </p:nvSpPr>
        <p:spPr>
          <a:xfrm>
            <a:off x="8178871" y="821977"/>
            <a:ext cx="2884605" cy="23625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089A106-CF1F-EBEA-140F-03132C4ED2DD}"/>
              </a:ext>
            </a:extLst>
          </p:cNvPr>
          <p:cNvSpPr txBox="1"/>
          <p:nvPr/>
        </p:nvSpPr>
        <p:spPr>
          <a:xfrm>
            <a:off x="8211674" y="476259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Level2 OT Control Console/HMI/</a:t>
            </a:r>
            <a:endParaRPr lang="en-SG" sz="14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D28B1DA-AD16-4DCE-5DEA-6030DDF090AC}"/>
              </a:ext>
            </a:extLst>
          </p:cNvPr>
          <p:cNvSpPr txBox="1"/>
          <p:nvPr/>
        </p:nvSpPr>
        <p:spPr>
          <a:xfrm>
            <a:off x="8211674" y="913468"/>
            <a:ext cx="2732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C3CC61CC-D108-C376-D0C3-7B49D5F87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88" y="4041852"/>
            <a:ext cx="2602019" cy="1235491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A2733834-1F35-5EC2-2694-CCCF1592DCF7}"/>
              </a:ext>
            </a:extLst>
          </p:cNvPr>
          <p:cNvSpPr/>
          <p:nvPr/>
        </p:nvSpPr>
        <p:spPr>
          <a:xfrm>
            <a:off x="5247599" y="4856375"/>
            <a:ext cx="157358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Output Parameter </a:t>
            </a:r>
            <a:r>
              <a:rPr lang="en-US" sz="1050" b="1" dirty="0" err="1"/>
              <a:t>Dict</a:t>
            </a:r>
            <a:endParaRPr lang="en-SG" sz="105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16139-D413-E03A-7795-59544C5DA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5" y="1193579"/>
            <a:ext cx="3195221" cy="16455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5429E-59FE-6C8F-86F0-98366BE43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88" y="3184566"/>
            <a:ext cx="1378905" cy="8073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F835FB-3881-90C8-17FF-E09678F7E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2" y="4509865"/>
            <a:ext cx="1368021" cy="7785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9BD622-1155-5A44-68E9-4C19318C14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3086" y="3174801"/>
            <a:ext cx="1295102" cy="8104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989998C-941A-09A8-EF26-B190A08EE9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9235" y="4537731"/>
            <a:ext cx="1260611" cy="7771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8EDFDA0-9300-F494-EA4F-D0EDE6581CDA}"/>
              </a:ext>
            </a:extLst>
          </p:cNvPr>
          <p:cNvSpPr/>
          <p:nvPr/>
        </p:nvSpPr>
        <p:spPr>
          <a:xfrm>
            <a:off x="3604731" y="1587600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MQTT Client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7A6124-5EF6-9569-BE59-D9B805FAD6B1}"/>
              </a:ext>
            </a:extLst>
          </p:cNvPr>
          <p:cNvSpPr txBox="1"/>
          <p:nvPr/>
        </p:nvSpPr>
        <p:spPr>
          <a:xfrm>
            <a:off x="631531" y="2869214"/>
            <a:ext cx="2947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Smart Factory Air Vacuum System 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1CC832F-4496-C581-AC79-8A19EA84AD65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5400000" flipH="1" flipV="1">
            <a:off x="2304298" y="2564037"/>
            <a:ext cx="484457" cy="2371372"/>
          </a:xfrm>
          <a:prstGeom prst="bentConnector4">
            <a:avLst>
              <a:gd name="adj1" fmla="val -36402"/>
              <a:gd name="adj2" fmla="val 10309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813263F-1648-5749-94E7-C1F6266E379E}"/>
              </a:ext>
            </a:extLst>
          </p:cNvPr>
          <p:cNvSpPr/>
          <p:nvPr/>
        </p:nvSpPr>
        <p:spPr>
          <a:xfrm>
            <a:off x="3732213" y="3227914"/>
            <a:ext cx="1183100" cy="5591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Input</a:t>
            </a:r>
            <a:endParaRPr lang="en-SG" sz="1050" b="1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5655442-0192-8A82-26EF-0A9B76BA555F}"/>
              </a:ext>
            </a:extLst>
          </p:cNvPr>
          <p:cNvCxnSpPr>
            <a:stCxn id="19" idx="2"/>
          </p:cNvCxnSpPr>
          <p:nvPr/>
        </p:nvCxnSpPr>
        <p:spPr>
          <a:xfrm>
            <a:off x="2900637" y="3985285"/>
            <a:ext cx="0" cy="1800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55A01305-FBD5-C0D0-292B-60B780D0DE3B}"/>
              </a:ext>
            </a:extLst>
          </p:cNvPr>
          <p:cNvCxnSpPr>
            <a:cxnSpLocks/>
            <a:stCxn id="15" idx="0"/>
            <a:endCxn id="35" idx="1"/>
          </p:cNvCxnSpPr>
          <p:nvPr/>
        </p:nvCxnSpPr>
        <p:spPr>
          <a:xfrm rot="16200000" flipH="1">
            <a:off x="2333626" y="3528672"/>
            <a:ext cx="395820" cy="2358206"/>
          </a:xfrm>
          <a:prstGeom prst="bentConnector4">
            <a:avLst>
              <a:gd name="adj1" fmla="val -44553"/>
              <a:gd name="adj2" fmla="val 10327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CE8F210-3F43-6E6B-8F0E-548004A1C5B5}"/>
              </a:ext>
            </a:extLst>
          </p:cNvPr>
          <p:cNvSpPr/>
          <p:nvPr/>
        </p:nvSpPr>
        <p:spPr>
          <a:xfrm>
            <a:off x="3710639" y="4626105"/>
            <a:ext cx="1183100" cy="5591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Output</a:t>
            </a:r>
            <a:endParaRPr lang="en-SG" sz="1050" b="1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DBE4AB7-62DC-043F-E78A-42DE33965FDB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2869540" y="4329811"/>
            <a:ext cx="1" cy="207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81C8210-C0E7-B3E4-859C-1F4918518F21}"/>
              </a:ext>
            </a:extLst>
          </p:cNvPr>
          <p:cNvCxnSpPr>
            <a:cxnSpLocks/>
          </p:cNvCxnSpPr>
          <p:nvPr/>
        </p:nvCxnSpPr>
        <p:spPr>
          <a:xfrm>
            <a:off x="5780178" y="4527070"/>
            <a:ext cx="0" cy="32930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B4CEA2-012D-1E0A-676D-15BF8BE1A4D0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4915313" y="3429000"/>
            <a:ext cx="303792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D4977DE-76D9-A860-79E2-C07C7F2576C6}"/>
              </a:ext>
            </a:extLst>
          </p:cNvPr>
          <p:cNvCxnSpPr>
            <a:cxnSpLocks/>
          </p:cNvCxnSpPr>
          <p:nvPr/>
        </p:nvCxnSpPr>
        <p:spPr>
          <a:xfrm flipH="1" flipV="1">
            <a:off x="4872774" y="4982870"/>
            <a:ext cx="35386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FAAA84E-DCD0-D7B7-9C0E-9E1FF741C098}"/>
              </a:ext>
            </a:extLst>
          </p:cNvPr>
          <p:cNvSpPr txBox="1"/>
          <p:nvPr/>
        </p:nvSpPr>
        <p:spPr>
          <a:xfrm>
            <a:off x="4627293" y="1293661"/>
            <a:ext cx="1741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6">
                    <a:lumMod val="50000"/>
                  </a:schemeClr>
                </a:solidFill>
              </a:rPr>
              <a:t>IoT 5G Antenna 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EA0A740-926A-31A2-62D0-5B65F5211AC2}"/>
              </a:ext>
            </a:extLst>
          </p:cNvPr>
          <p:cNvSpPr/>
          <p:nvPr/>
        </p:nvSpPr>
        <p:spPr>
          <a:xfrm>
            <a:off x="6509352" y="3855691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MQTT Client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25058C5-A339-2CFC-1C58-5CE6271AD8F4}"/>
              </a:ext>
            </a:extLst>
          </p:cNvPr>
          <p:cNvCxnSpPr>
            <a:cxnSpLocks/>
          </p:cNvCxnSpPr>
          <p:nvPr/>
        </p:nvCxnSpPr>
        <p:spPr>
          <a:xfrm>
            <a:off x="6566585" y="3594022"/>
            <a:ext cx="0" cy="258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F028600-722A-7E17-3136-F930C49E08B3}"/>
              </a:ext>
            </a:extLst>
          </p:cNvPr>
          <p:cNvCxnSpPr>
            <a:cxnSpLocks/>
          </p:cNvCxnSpPr>
          <p:nvPr/>
        </p:nvCxnSpPr>
        <p:spPr>
          <a:xfrm>
            <a:off x="6632678" y="4626105"/>
            <a:ext cx="0" cy="2302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3155ECCE-090A-F076-DC4C-7AB4AD745293}"/>
              </a:ext>
            </a:extLst>
          </p:cNvPr>
          <p:cNvSpPr/>
          <p:nvPr/>
        </p:nvSpPr>
        <p:spPr>
          <a:xfrm>
            <a:off x="7896759" y="1587600"/>
            <a:ext cx="996059" cy="2810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MQTT Broker 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C596B7E7-3865-25F7-EF6C-DD2655093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051" y="913468"/>
            <a:ext cx="621263" cy="5406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AC55AA68-DB1C-9B26-2599-520B03655BB5}"/>
              </a:ext>
            </a:extLst>
          </p:cNvPr>
          <p:cNvSpPr txBox="1"/>
          <p:nvPr/>
        </p:nvSpPr>
        <p:spPr>
          <a:xfrm>
            <a:off x="8982531" y="870413"/>
            <a:ext cx="80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Data Process Logic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5E7F4B0-DED2-7A1B-F640-5CE78714CAD8}"/>
              </a:ext>
            </a:extLst>
          </p:cNvPr>
          <p:cNvCxnSpPr>
            <a:cxnSpLocks/>
            <a:stCxn id="47" idx="3"/>
            <a:endCxn id="92" idx="1"/>
          </p:cNvCxnSpPr>
          <p:nvPr/>
        </p:nvCxnSpPr>
        <p:spPr>
          <a:xfrm flipV="1">
            <a:off x="4569987" y="1728108"/>
            <a:ext cx="3326772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89FBE41-3283-2925-4DAA-C08C2D5F28AA}"/>
              </a:ext>
            </a:extLst>
          </p:cNvPr>
          <p:cNvSpPr txBox="1"/>
          <p:nvPr/>
        </p:nvSpPr>
        <p:spPr>
          <a:xfrm>
            <a:off x="4664451" y="1712759"/>
            <a:ext cx="2130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2">
                    <a:lumMod val="50000"/>
                  </a:schemeClr>
                </a:solidFill>
              </a:rPr>
              <a:t>Data Publish (Drone fly data</a:t>
            </a:r>
            <a:r>
              <a:rPr lang="en-SG" sz="11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5932A095-9191-172B-C9FE-AC4425BA43D9}"/>
              </a:ext>
            </a:extLst>
          </p:cNvPr>
          <p:cNvCxnSpPr/>
          <p:nvPr/>
        </p:nvCxnSpPr>
        <p:spPr>
          <a:xfrm rot="5400000" flipH="1" flipV="1">
            <a:off x="6509149" y="2597675"/>
            <a:ext cx="2141721" cy="633500"/>
          </a:xfrm>
          <a:prstGeom prst="bentConnector3">
            <a:avLst>
              <a:gd name="adj1" fmla="val 99607"/>
            </a:avLst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F31E912-988C-98F9-A0F3-408D966AC1D7}"/>
              </a:ext>
            </a:extLst>
          </p:cNvPr>
          <p:cNvSpPr txBox="1"/>
          <p:nvPr/>
        </p:nvSpPr>
        <p:spPr>
          <a:xfrm>
            <a:off x="6682734" y="2935383"/>
            <a:ext cx="11338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2">
                    <a:lumMod val="50000"/>
                  </a:schemeClr>
                </a:solidFill>
              </a:rPr>
              <a:t>Data Publish ( temp and fan-speed data</a:t>
            </a:r>
            <a:r>
              <a:rPr lang="en-SG" sz="11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174AD778-74FB-B924-27B5-FFD874A5F6DD}"/>
              </a:ext>
            </a:extLst>
          </p:cNvPr>
          <p:cNvCxnSpPr>
            <a:endCxn id="81" idx="3"/>
          </p:cNvCxnSpPr>
          <p:nvPr/>
        </p:nvCxnSpPr>
        <p:spPr>
          <a:xfrm rot="5400000">
            <a:off x="6599961" y="2604096"/>
            <a:ext cx="2296723" cy="547428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C12CB8B-131A-A916-DF61-8F8109989FF5}"/>
              </a:ext>
            </a:extLst>
          </p:cNvPr>
          <p:cNvSpPr txBox="1"/>
          <p:nvPr/>
        </p:nvSpPr>
        <p:spPr>
          <a:xfrm>
            <a:off x="7379947" y="2034495"/>
            <a:ext cx="12593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6">
                    <a:lumMod val="75000"/>
                  </a:schemeClr>
                </a:solidFill>
              </a:rPr>
              <a:t>Data Subscribe (Fan and valve moto control request )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31F89FB-8564-A336-DA3E-8674C92321B1}"/>
              </a:ext>
            </a:extLst>
          </p:cNvPr>
          <p:cNvCxnSpPr>
            <a:stCxn id="93" idx="2"/>
          </p:cNvCxnSpPr>
          <p:nvPr/>
        </p:nvCxnSpPr>
        <p:spPr>
          <a:xfrm flipH="1">
            <a:off x="8576682" y="1454135"/>
            <a:ext cx="1" cy="1334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2EF8C326-1111-88D4-0239-256EB8B7F8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974" y="1358450"/>
            <a:ext cx="1114477" cy="176862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61ABEA43-1B13-4EFD-A074-E00CE4C34EC6}"/>
              </a:ext>
            </a:extLst>
          </p:cNvPr>
          <p:cNvSpPr/>
          <p:nvPr/>
        </p:nvSpPr>
        <p:spPr>
          <a:xfrm>
            <a:off x="9095485" y="1951153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MQTT Client</a:t>
            </a:r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A90B30B-4C4A-D794-E9F8-E6707404A193}"/>
              </a:ext>
            </a:extLst>
          </p:cNvPr>
          <p:cNvCxnSpPr>
            <a:cxnSpLocks/>
            <a:stCxn id="92" idx="3"/>
            <a:endCxn id="114" idx="0"/>
          </p:cNvCxnSpPr>
          <p:nvPr/>
        </p:nvCxnSpPr>
        <p:spPr>
          <a:xfrm>
            <a:off x="8892818" y="1728108"/>
            <a:ext cx="685295" cy="223045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47D2997-F313-076C-EB39-8ED5CDE82A49}"/>
              </a:ext>
            </a:extLst>
          </p:cNvPr>
          <p:cNvSpPr txBox="1"/>
          <p:nvPr/>
        </p:nvSpPr>
        <p:spPr>
          <a:xfrm>
            <a:off x="9742000" y="809633"/>
            <a:ext cx="1254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accent2">
                    <a:lumMod val="50000"/>
                  </a:schemeClr>
                </a:solidFill>
              </a:rPr>
              <a:t>Drone State Monitor HMI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00080B1-57FE-3EF4-943B-EFB50200C31E}"/>
              </a:ext>
            </a:extLst>
          </p:cNvPr>
          <p:cNvSpPr/>
          <p:nvPr/>
        </p:nvSpPr>
        <p:spPr>
          <a:xfrm>
            <a:off x="8435239" y="3772801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MQTT Client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9CD34D5-0DFF-0E85-0BE0-3E3477BA54E0}"/>
              </a:ext>
            </a:extLst>
          </p:cNvPr>
          <p:cNvCxnSpPr/>
          <p:nvPr/>
        </p:nvCxnSpPr>
        <p:spPr>
          <a:xfrm>
            <a:off x="8576682" y="1915755"/>
            <a:ext cx="0" cy="183396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319561A-7CF9-9856-960B-3F40F2DA7024}"/>
              </a:ext>
            </a:extLst>
          </p:cNvPr>
          <p:cNvCxnSpPr>
            <a:cxnSpLocks/>
          </p:cNvCxnSpPr>
          <p:nvPr/>
        </p:nvCxnSpPr>
        <p:spPr>
          <a:xfrm flipV="1">
            <a:off x="8799075" y="1876796"/>
            <a:ext cx="0" cy="18729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84911D7E-8171-FF64-1FB7-46C9EADFA4AF}"/>
              </a:ext>
            </a:extLst>
          </p:cNvPr>
          <p:cNvSpPr txBox="1"/>
          <p:nvPr/>
        </p:nvSpPr>
        <p:spPr>
          <a:xfrm>
            <a:off x="8974494" y="3293628"/>
            <a:ext cx="2215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Level3 OT Data Center</a:t>
            </a:r>
            <a:endParaRPr lang="en-SG" sz="14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F91118A-0A8E-8363-4D3B-D7A0B626CAD1}"/>
              </a:ext>
            </a:extLst>
          </p:cNvPr>
          <p:cNvSpPr txBox="1"/>
          <p:nvPr/>
        </p:nvSpPr>
        <p:spPr>
          <a:xfrm>
            <a:off x="9419959" y="3588258"/>
            <a:ext cx="2130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Factory Environment Monitor Dashboard 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F4CB6EC-3BB3-C9CE-4BB0-7C66CC110353}"/>
              </a:ext>
            </a:extLst>
          </p:cNvPr>
          <p:cNvCxnSpPr>
            <a:cxnSpLocks/>
          </p:cNvCxnSpPr>
          <p:nvPr/>
        </p:nvCxnSpPr>
        <p:spPr>
          <a:xfrm flipV="1">
            <a:off x="4663006" y="643506"/>
            <a:ext cx="620306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FF26E35C-F07C-D71E-9EE1-21F5BA435C29}"/>
              </a:ext>
            </a:extLst>
          </p:cNvPr>
          <p:cNvSpPr txBox="1"/>
          <p:nvPr/>
        </p:nvSpPr>
        <p:spPr>
          <a:xfrm>
            <a:off x="5330009" y="497912"/>
            <a:ext cx="2125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6">
                    <a:lumMod val="75000"/>
                  </a:schemeClr>
                </a:solidFill>
              </a:rPr>
              <a:t>MQTT Data Subscribe Request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1D14FC2-D575-B83B-3310-6F877724A0F1}"/>
              </a:ext>
            </a:extLst>
          </p:cNvPr>
          <p:cNvCxnSpPr>
            <a:cxnSpLocks/>
          </p:cNvCxnSpPr>
          <p:nvPr/>
        </p:nvCxnSpPr>
        <p:spPr>
          <a:xfrm>
            <a:off x="4677832" y="859864"/>
            <a:ext cx="60548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9BA9486-9630-D344-1BE6-3CA911C992FC}"/>
              </a:ext>
            </a:extLst>
          </p:cNvPr>
          <p:cNvSpPr txBox="1"/>
          <p:nvPr/>
        </p:nvSpPr>
        <p:spPr>
          <a:xfrm>
            <a:off x="5337689" y="718641"/>
            <a:ext cx="2125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2">
                    <a:lumMod val="50000"/>
                  </a:schemeClr>
                </a:solidFill>
              </a:rPr>
              <a:t>MQTT Data Publish Request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03D145-A7A6-19DE-CBAD-F0264A76DE70}"/>
              </a:ext>
            </a:extLst>
          </p:cNvPr>
          <p:cNvSpPr/>
          <p:nvPr/>
        </p:nvSpPr>
        <p:spPr>
          <a:xfrm>
            <a:off x="6519118" y="4294667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MQTT Broker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ED4F42A-0BEE-8BF1-BA0B-EF2804695581}"/>
              </a:ext>
            </a:extLst>
          </p:cNvPr>
          <p:cNvCxnSpPr>
            <a:cxnSpLocks/>
            <a:endCxn id="81" idx="1"/>
          </p:cNvCxnSpPr>
          <p:nvPr/>
        </p:nvCxnSpPr>
        <p:spPr>
          <a:xfrm rot="5400000" flipH="1" flipV="1">
            <a:off x="5988932" y="4335955"/>
            <a:ext cx="830203" cy="21063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60443A5-3904-604F-97A6-3E8435033BFF}"/>
              </a:ext>
            </a:extLst>
          </p:cNvPr>
          <p:cNvCxnSpPr>
            <a:cxnSpLocks/>
            <a:stCxn id="120" idx="1"/>
            <a:endCxn id="2" idx="3"/>
          </p:cNvCxnSpPr>
          <p:nvPr/>
        </p:nvCxnSpPr>
        <p:spPr>
          <a:xfrm rot="10800000" flipV="1">
            <a:off x="7484375" y="3943282"/>
            <a:ext cx="950865" cy="521866"/>
          </a:xfrm>
          <a:prstGeom prst="bentConnector3">
            <a:avLst>
              <a:gd name="adj1" fmla="val 36537"/>
            </a:avLst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385657-537C-6196-4B7C-14E3DBFF65FF}"/>
              </a:ext>
            </a:extLst>
          </p:cNvPr>
          <p:cNvSpPr txBox="1"/>
          <p:nvPr/>
        </p:nvSpPr>
        <p:spPr>
          <a:xfrm>
            <a:off x="7141680" y="4697408"/>
            <a:ext cx="13497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2">
                    <a:lumMod val="50000"/>
                  </a:schemeClr>
                </a:solidFill>
              </a:rPr>
              <a:t>Data Publish ( Direct Overwrite control</a:t>
            </a:r>
            <a:endParaRPr lang="en-SG" sz="11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19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255</Words>
  <Application>Microsoft Office PowerPoint</Application>
  <PresentationFormat>Widescreen</PresentationFormat>
  <Paragraphs>59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8</cp:revision>
  <dcterms:created xsi:type="dcterms:W3CDTF">2026-06-03T06:21:53Z</dcterms:created>
  <dcterms:modified xsi:type="dcterms:W3CDTF">2026-06-05T01:57:58Z</dcterms:modified>
</cp:coreProperties>
</file>