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60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E52297-66E0-4839-ACCC-742E4BD155E6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F6B7D6-7851-49B5-BE5D-D00B7BAA49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17954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574-0654-1B36-4D83-9BDC125AC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C0E16-350C-DDB4-1939-44C26C8FBC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47839-9251-EA5B-3483-51E1A608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48822-ED9B-3820-FA2D-1384A6B99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72640-7FAA-16B6-33D3-DC57963C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16935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06137-3003-E672-15AA-5B63685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24A7A-362F-B144-1858-5B3A4CF4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D2DEE-7441-C814-D863-B6A3637F7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E1375-3111-C11D-1492-99CC3FD3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E2EA5-86F9-BD64-6081-00072501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36299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A3CE-154D-E0E1-63FE-7A435368E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43BE0B-109F-5702-3C72-F955B9D3B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4DD9B-F9CA-4C49-0100-10DAF8C92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F387-B7BD-4322-B4C9-DC586E0B6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E3C4C-DC9C-34FC-5979-21936A3B1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02818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69D47-5936-3387-D1BC-9DA6761E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9A2C7-8E5B-A992-4D97-339140663D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DAB1B6-6594-DAFF-1FCD-077F3BBDF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7BCE0-9B62-9913-0E5D-CA64CB28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971A05-4F2D-4319-4CE3-B3CA6338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EA918-8E8C-197C-99F4-AAC4F5C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8542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C9105-73D3-D288-C0C2-9A8ACF053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E343E8-26BC-4CE2-930C-E033E0CA3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589BE-041A-2FE9-FA0D-733C707C1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EB441-DEF0-617D-B306-AF855B2D04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8514F1-B928-922C-DB2A-BDB7FC3C5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17AB26-BA28-E1BF-62C3-46F5E9EC1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23168-3431-76BE-B050-20C9771C0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E0762A-BEC0-92DD-03E0-ABF63F9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50616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D4A2-CACA-0464-E99D-1937256E7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6E1B5B-D956-D546-7A93-B1CCAD07E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DEF4E2-C9D8-324F-EE6E-E905F67E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F0AD79-A672-DE25-16E8-72BA94A2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73728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9F0F89-37F2-054B-F1C3-593F5870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A3BD70-9B41-21E5-F574-273C872C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3716F-FF3D-6E6B-428D-62B125BC7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5896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94D83-B62C-D1CF-948F-F9545C3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279D1-E2C4-BED5-78E7-DF8FCF29A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93598-2BE8-1CAD-C2F0-BBA230332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13334-D73D-7779-8DB8-56B52B74A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ABF0-3342-C6CE-39A4-DBE6EF98F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411C-BD04-2DB6-BF0A-7021BC44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4918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8278-239C-AC7D-0D1F-5ACD0A533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A008F3-1A15-C438-9D08-EF2C15400A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B9FD52-9FAB-D6C5-2D54-D32298245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541BF3-0247-2DE9-6EFE-5EC2517EF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B2018A-6081-A5B4-C22E-13F82F6E4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FF314-1D3B-86D5-B196-07A33DD23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5960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C72B3-65A4-6F06-CF9B-FAA08F0D5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C1B450-3BBC-9211-5041-5A42E72320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8481C-11D6-D9AD-2195-D6D5684FB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03366-295C-0677-F2B9-3F766EBE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92F8-7397-C1A8-E921-213A9BD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2191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626019-65CD-D2EE-3AA5-06B7FDD293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5BCF5-A62A-665E-A1D0-26B023692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F6958-7A58-6F2D-3B72-5B394C83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080D6-74EE-5618-74F1-AD2C87D65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F9F5CD-71CF-1ED2-0E40-73237D69C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363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836A1F-74DC-ABE6-6C02-1194744E6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AA1CD-B198-1FFC-7BEC-8A8F846A0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32A28-F543-EBEB-CB25-523336D57E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C4233-9FD4-48E0-99C1-555DE8AF0C0C}" type="datetimeFigureOut">
              <a:rPr lang="en-SG" smtClean="0"/>
              <a:t>6/6/2026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675E4-8FE5-A9EF-72A1-A3AFF7B2FF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23D92-65EA-B209-0DA4-E5ACB61A1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7002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jp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5197B4-4DE7-CC07-E13A-AEC4F709645F}"/>
              </a:ext>
            </a:extLst>
          </p:cNvPr>
          <p:cNvSpPr/>
          <p:nvPr/>
        </p:nvSpPr>
        <p:spPr>
          <a:xfrm>
            <a:off x="1526177" y="4149635"/>
            <a:ext cx="5516270" cy="757072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1FDBE-BA81-08CE-4269-CFD5B8380253}"/>
              </a:ext>
            </a:extLst>
          </p:cNvPr>
          <p:cNvSpPr txBox="1"/>
          <p:nvPr/>
        </p:nvSpPr>
        <p:spPr>
          <a:xfrm>
            <a:off x="1637951" y="4180054"/>
            <a:ext cx="13206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Level 0</a:t>
            </a:r>
          </a:p>
          <a:p>
            <a:r>
              <a:rPr lang="en-US" sz="1200" dirty="0">
                <a:solidFill>
                  <a:schemeClr val="bg1"/>
                </a:solidFill>
              </a:rPr>
              <a:t>Physical Process</a:t>
            </a:r>
          </a:p>
          <a:p>
            <a:r>
              <a:rPr lang="en-US" sz="1200" dirty="0">
                <a:solidFill>
                  <a:schemeClr val="bg1"/>
                </a:solidFill>
              </a:rPr>
              <a:t>Field I/O device </a:t>
            </a:r>
            <a:endParaRPr lang="en-SG" sz="1200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3AF4DF-B366-1099-D346-83455AA304CE}"/>
              </a:ext>
            </a:extLst>
          </p:cNvPr>
          <p:cNvSpPr/>
          <p:nvPr/>
        </p:nvSpPr>
        <p:spPr>
          <a:xfrm>
            <a:off x="3200556" y="4352922"/>
            <a:ext cx="472819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 err="1">
                <a:solidFill>
                  <a:schemeClr val="tx1"/>
                </a:solidFill>
              </a:rPr>
              <a:t>IIoT</a:t>
            </a:r>
            <a:endParaRPr lang="en-SG" sz="1200" b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46A1D6-F15E-CAD7-5311-499BD4FAD07D}"/>
              </a:ext>
            </a:extLst>
          </p:cNvPr>
          <p:cNvSpPr/>
          <p:nvPr/>
        </p:nvSpPr>
        <p:spPr>
          <a:xfrm>
            <a:off x="3895701" y="4352921"/>
            <a:ext cx="1165150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>
                <a:solidFill>
                  <a:schemeClr val="tx1"/>
                </a:solidFill>
              </a:rPr>
              <a:t>Metering Unit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E1A17A-1EB1-84E0-8F84-52FC2A4D0880}"/>
              </a:ext>
            </a:extLst>
          </p:cNvPr>
          <p:cNvSpPr/>
          <p:nvPr/>
        </p:nvSpPr>
        <p:spPr>
          <a:xfrm>
            <a:off x="5283177" y="4352921"/>
            <a:ext cx="790296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>
                <a:solidFill>
                  <a:schemeClr val="tx1"/>
                </a:solidFill>
              </a:rPr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16A09C6-A80A-1773-2A4E-62EEE664A80B}"/>
              </a:ext>
            </a:extLst>
          </p:cNvPr>
          <p:cNvSpPr/>
          <p:nvPr/>
        </p:nvSpPr>
        <p:spPr>
          <a:xfrm>
            <a:off x="1526177" y="3190874"/>
            <a:ext cx="5516270" cy="674137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2317B8-6544-4A01-559C-4AF56B81F75F}"/>
              </a:ext>
            </a:extLst>
          </p:cNvPr>
          <p:cNvSpPr txBox="1"/>
          <p:nvPr/>
        </p:nvSpPr>
        <p:spPr>
          <a:xfrm>
            <a:off x="1670217" y="3315125"/>
            <a:ext cx="11396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Level 1</a:t>
            </a:r>
          </a:p>
          <a:p>
            <a:r>
              <a:rPr lang="en-US" sz="1100" dirty="0"/>
              <a:t>Controller LAN </a:t>
            </a:r>
            <a:endParaRPr lang="en-SG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86DE35-CD7A-4960-8049-92C03F0DC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938" y="3287119"/>
            <a:ext cx="664712" cy="472684"/>
          </a:xfrm>
          <a:prstGeom prst="rect">
            <a:avLst/>
          </a:prstGeom>
        </p:spPr>
      </p:pic>
      <p:pic>
        <p:nvPicPr>
          <p:cNvPr id="15" name="Picture 14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053B07FA-9A1F-651A-5C38-9472179A0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6654" y="3246330"/>
            <a:ext cx="468371" cy="51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BD8A088-E4BB-E724-5076-D08DB8E427E8}"/>
              </a:ext>
            </a:extLst>
          </p:cNvPr>
          <p:cNvSpPr txBox="1"/>
          <p:nvPr/>
        </p:nvSpPr>
        <p:spPr>
          <a:xfrm>
            <a:off x="3965025" y="3583558"/>
            <a:ext cx="5744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PLC</a:t>
            </a:r>
            <a:endParaRPr lang="en-SG" sz="11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41D427-DF0E-AE86-58E1-98B06C6DAC66}"/>
              </a:ext>
            </a:extLst>
          </p:cNvPr>
          <p:cNvSpPr txBox="1"/>
          <p:nvPr/>
        </p:nvSpPr>
        <p:spPr>
          <a:xfrm>
            <a:off x="5572124" y="3550797"/>
            <a:ext cx="559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/>
              <a:t>RTU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A2FCE97-444D-96B7-9D79-5FBBE78FB7FC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 rot="5400000">
            <a:off x="4567226" y="3670853"/>
            <a:ext cx="593118" cy="771018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DABBCD2F-3340-3611-60D8-67FC7B402EA8}"/>
              </a:ext>
            </a:extLst>
          </p:cNvPr>
          <p:cNvCxnSpPr>
            <a:cxnSpLocks/>
            <a:stCxn id="14" idx="2"/>
            <a:endCxn id="10" idx="0"/>
          </p:cNvCxnSpPr>
          <p:nvPr/>
        </p:nvCxnSpPr>
        <p:spPr>
          <a:xfrm rot="16200000" flipH="1">
            <a:off x="5167250" y="3841846"/>
            <a:ext cx="593118" cy="42903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9F8FF0A-CC3B-D85F-14F7-F6AAFD2ED6EF}"/>
              </a:ext>
            </a:extLst>
          </p:cNvPr>
          <p:cNvCxnSpPr>
            <a:stCxn id="15" idx="2"/>
            <a:endCxn id="9" idx="0"/>
          </p:cNvCxnSpPr>
          <p:nvPr/>
        </p:nvCxnSpPr>
        <p:spPr>
          <a:xfrm rot="16200000" flipH="1">
            <a:off x="3807999" y="3682644"/>
            <a:ext cx="593118" cy="74743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A045BB4-02E1-7CB8-438E-336304F8BEFC}"/>
              </a:ext>
            </a:extLst>
          </p:cNvPr>
          <p:cNvSpPr/>
          <p:nvPr/>
        </p:nvSpPr>
        <p:spPr>
          <a:xfrm>
            <a:off x="1513770" y="2315964"/>
            <a:ext cx="5528677" cy="726901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3C95A0-8B87-3913-A665-E1AED7872846}"/>
              </a:ext>
            </a:extLst>
          </p:cNvPr>
          <p:cNvSpPr txBox="1"/>
          <p:nvPr/>
        </p:nvSpPr>
        <p:spPr>
          <a:xfrm>
            <a:off x="1636303" y="2326390"/>
            <a:ext cx="139155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Level 2</a:t>
            </a:r>
          </a:p>
          <a:p>
            <a:r>
              <a:rPr lang="en-US" sz="1100" dirty="0">
                <a:solidFill>
                  <a:schemeClr val="bg1"/>
                </a:solidFill>
              </a:rPr>
              <a:t>Control Center (HQ) Processing LAN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569A22-E2F8-0826-B7AE-58B88D739DB7}"/>
              </a:ext>
            </a:extLst>
          </p:cNvPr>
          <p:cNvSpPr txBox="1"/>
          <p:nvPr/>
        </p:nvSpPr>
        <p:spPr>
          <a:xfrm>
            <a:off x="3548625" y="2389939"/>
            <a:ext cx="14713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MQTT Broker Server </a:t>
            </a:r>
          </a:p>
        </p:txBody>
      </p:sp>
      <p:pic>
        <p:nvPicPr>
          <p:cNvPr id="54" name="Graphic 53" descr="Computer with solid fill">
            <a:extLst>
              <a:ext uri="{FF2B5EF4-FFF2-40B4-BE49-F238E27FC236}">
                <a16:creationId xmlns:a16="http://schemas.microsoft.com/office/drawing/2014/main" id="{6F931331-CF0E-CDB1-A653-DFA5C93DD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01032" y="2434371"/>
            <a:ext cx="446421" cy="446421"/>
          </a:xfrm>
          <a:prstGeom prst="rect">
            <a:avLst/>
          </a:prstGeom>
        </p:spPr>
      </p:pic>
      <p:pic>
        <p:nvPicPr>
          <p:cNvPr id="55" name="Graphic 54" descr="Ui Ux with solid fill">
            <a:extLst>
              <a:ext uri="{FF2B5EF4-FFF2-40B4-BE49-F238E27FC236}">
                <a16:creationId xmlns:a16="http://schemas.microsoft.com/office/drawing/2014/main" id="{E646BA4E-4971-C662-B2AF-D7D19C7BDB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7965" y="2459578"/>
            <a:ext cx="550375" cy="550375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A7B914-C084-414E-0015-D24396A5E0B9}"/>
              </a:ext>
            </a:extLst>
          </p:cNvPr>
          <p:cNvCxnSpPr>
            <a:cxnSpLocks/>
          </p:cNvCxnSpPr>
          <p:nvPr/>
        </p:nvCxnSpPr>
        <p:spPr>
          <a:xfrm>
            <a:off x="3270434" y="2807272"/>
            <a:ext cx="0" cy="155257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CB167245-CB3A-9A72-E5F0-A87AC53F2AE1}"/>
              </a:ext>
            </a:extLst>
          </p:cNvPr>
          <p:cNvSpPr txBox="1"/>
          <p:nvPr/>
        </p:nvSpPr>
        <p:spPr>
          <a:xfrm>
            <a:off x="7874679" y="3620423"/>
            <a:ext cx="9660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Railway Track Control HMI</a:t>
            </a:r>
            <a:endParaRPr lang="en-SG" sz="1100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F1823D-7A98-9481-2731-0F15ECBFBC8B}"/>
              </a:ext>
            </a:extLst>
          </p:cNvPr>
          <p:cNvSpPr txBox="1"/>
          <p:nvPr/>
        </p:nvSpPr>
        <p:spPr>
          <a:xfrm>
            <a:off x="5668987" y="2410749"/>
            <a:ext cx="92216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Control HMI / Console machine </a:t>
            </a:r>
            <a:endParaRPr lang="en-SG" sz="1100" dirty="0">
              <a:solidFill>
                <a:schemeClr val="bg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789B378-9903-3123-F7BE-BA64054115F6}"/>
              </a:ext>
            </a:extLst>
          </p:cNvPr>
          <p:cNvCxnSpPr>
            <a:cxnSpLocks/>
          </p:cNvCxnSpPr>
          <p:nvPr/>
        </p:nvCxnSpPr>
        <p:spPr>
          <a:xfrm>
            <a:off x="3312071" y="2972223"/>
            <a:ext cx="1088479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E17D7B93-3D52-6A63-2CAE-3B373903F065}"/>
              </a:ext>
            </a:extLst>
          </p:cNvPr>
          <p:cNvCxnSpPr>
            <a:cxnSpLocks/>
            <a:endCxn id="14" idx="1"/>
          </p:cNvCxnSpPr>
          <p:nvPr/>
        </p:nvCxnSpPr>
        <p:spPr>
          <a:xfrm rot="16200000" flipH="1">
            <a:off x="4391401" y="2997924"/>
            <a:ext cx="529982" cy="521092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085F8B8-30AA-8B36-DBEE-23D06A53EEC9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730839" y="2950968"/>
            <a:ext cx="1" cy="29536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82C9C0-B90A-77C5-9E1B-E8EED6AF2A97}"/>
              </a:ext>
            </a:extLst>
          </p:cNvPr>
          <p:cNvCxnSpPr>
            <a:cxnSpLocks/>
          </p:cNvCxnSpPr>
          <p:nvPr/>
        </p:nvCxnSpPr>
        <p:spPr>
          <a:xfrm flipV="1">
            <a:off x="3523111" y="2769956"/>
            <a:ext cx="1595735" cy="16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9C680C74-5947-5BB3-935A-54E988877DDC}"/>
              </a:ext>
            </a:extLst>
          </p:cNvPr>
          <p:cNvSpPr/>
          <p:nvPr/>
        </p:nvSpPr>
        <p:spPr>
          <a:xfrm>
            <a:off x="1513770" y="1317221"/>
            <a:ext cx="5528678" cy="825418"/>
          </a:xfrm>
          <a:prstGeom prst="roundRect">
            <a:avLst/>
          </a:prstGeom>
          <a:solidFill>
            <a:srgbClr val="6458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3A9111-C8F6-8825-72CA-3522CEA1FF8F}"/>
              </a:ext>
            </a:extLst>
          </p:cNvPr>
          <p:cNvSpPr txBox="1"/>
          <p:nvPr/>
        </p:nvSpPr>
        <p:spPr>
          <a:xfrm>
            <a:off x="1632142" y="1389411"/>
            <a:ext cx="132480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Level 3</a:t>
            </a:r>
          </a:p>
          <a:p>
            <a:r>
              <a:rPr lang="en-US" sz="1100" dirty="0">
                <a:solidFill>
                  <a:schemeClr val="bg1"/>
                </a:solidFill>
              </a:rPr>
              <a:t>Operations Management Zone </a:t>
            </a:r>
          </a:p>
        </p:txBody>
      </p:sp>
      <p:pic>
        <p:nvPicPr>
          <p:cNvPr id="82" name="Graphic 81" descr="Full Brick Wall with solid fill">
            <a:extLst>
              <a:ext uri="{FF2B5EF4-FFF2-40B4-BE49-F238E27FC236}">
                <a16:creationId xmlns:a16="http://schemas.microsoft.com/office/drawing/2014/main" id="{2B48AA09-73E4-DF2A-E705-D4E41C3FDF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85563" y="1550258"/>
            <a:ext cx="418359" cy="418359"/>
          </a:xfrm>
          <a:prstGeom prst="rect">
            <a:avLst/>
          </a:prstGeom>
        </p:spPr>
      </p:pic>
      <p:pic>
        <p:nvPicPr>
          <p:cNvPr id="83" name="Graphic 82" descr="Ui Ux with solid fill">
            <a:extLst>
              <a:ext uri="{FF2B5EF4-FFF2-40B4-BE49-F238E27FC236}">
                <a16:creationId xmlns:a16="http://schemas.microsoft.com/office/drawing/2014/main" id="{25C9A69D-991D-5B40-0C5E-96302FC149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4979" y="1455059"/>
            <a:ext cx="572105" cy="572105"/>
          </a:xfrm>
          <a:prstGeom prst="rect">
            <a:avLst/>
          </a:prstGeom>
        </p:spPr>
      </p:pic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91B2906-003D-1E6E-8405-1203055F55D1}"/>
              </a:ext>
            </a:extLst>
          </p:cNvPr>
          <p:cNvCxnSpPr>
            <a:cxnSpLocks/>
          </p:cNvCxnSpPr>
          <p:nvPr/>
        </p:nvCxnSpPr>
        <p:spPr>
          <a:xfrm>
            <a:off x="3273063" y="1959574"/>
            <a:ext cx="0" cy="56117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 with solid fill">
            <a:extLst>
              <a:ext uri="{FF2B5EF4-FFF2-40B4-BE49-F238E27FC236}">
                <a16:creationId xmlns:a16="http://schemas.microsoft.com/office/drawing/2014/main" id="{AB93BEFD-64A8-D824-B50B-BED279B56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52996" y="1458938"/>
            <a:ext cx="557955" cy="557955"/>
          </a:xfrm>
          <a:prstGeom prst="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87E0CAF7-1E85-F4AE-9B86-E2AF0B15BE78}"/>
              </a:ext>
            </a:extLst>
          </p:cNvPr>
          <p:cNvSpPr txBox="1"/>
          <p:nvPr/>
        </p:nvSpPr>
        <p:spPr>
          <a:xfrm>
            <a:off x="5678325" y="1500904"/>
            <a:ext cx="127251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Control Touch Screen/Phone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D41C0FF-A27A-EDDD-BFEE-3DF571D620F6}"/>
              </a:ext>
            </a:extLst>
          </p:cNvPr>
          <p:cNvSpPr txBox="1"/>
          <p:nvPr/>
        </p:nvSpPr>
        <p:spPr>
          <a:xfrm>
            <a:off x="4478276" y="1508536"/>
            <a:ext cx="8049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Monitor Desktop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599E9AA-13C7-927C-1BD1-54E634FC2B70}"/>
              </a:ext>
            </a:extLst>
          </p:cNvPr>
          <p:cNvCxnSpPr>
            <a:cxnSpLocks/>
          </p:cNvCxnSpPr>
          <p:nvPr/>
        </p:nvCxnSpPr>
        <p:spPr>
          <a:xfrm>
            <a:off x="3284991" y="2219279"/>
            <a:ext cx="2146982" cy="617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8EED556-F557-6903-C88E-56FAEEC18A59}"/>
              </a:ext>
            </a:extLst>
          </p:cNvPr>
          <p:cNvCxnSpPr>
            <a:cxnSpLocks/>
          </p:cNvCxnSpPr>
          <p:nvPr/>
        </p:nvCxnSpPr>
        <p:spPr>
          <a:xfrm>
            <a:off x="4201031" y="1931791"/>
            <a:ext cx="1" cy="26869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1A3A285C-834D-DCEC-5380-69407F46FD3F}"/>
              </a:ext>
            </a:extLst>
          </p:cNvPr>
          <p:cNvCxnSpPr>
            <a:cxnSpLocks/>
          </p:cNvCxnSpPr>
          <p:nvPr/>
        </p:nvCxnSpPr>
        <p:spPr>
          <a:xfrm>
            <a:off x="5443899" y="1968617"/>
            <a:ext cx="1" cy="26869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BCEFDA0-13CC-0309-E415-50A9C59B2777}"/>
              </a:ext>
            </a:extLst>
          </p:cNvPr>
          <p:cNvCxnSpPr>
            <a:cxnSpLocks/>
          </p:cNvCxnSpPr>
          <p:nvPr/>
        </p:nvCxnSpPr>
        <p:spPr>
          <a:xfrm flipH="1">
            <a:off x="7369390" y="4709312"/>
            <a:ext cx="505288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49CB5C1-AE5E-9A1B-0C8A-089939B0B1B2}"/>
              </a:ext>
            </a:extLst>
          </p:cNvPr>
          <p:cNvSpPr txBox="1"/>
          <p:nvPr/>
        </p:nvSpPr>
        <p:spPr>
          <a:xfrm>
            <a:off x="7939387" y="4539996"/>
            <a:ext cx="2366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/>
              <a:t>MQTT Communication Channel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415396D-9C53-1587-417D-9A32007E22A8}"/>
              </a:ext>
            </a:extLst>
          </p:cNvPr>
          <p:cNvSpPr txBox="1"/>
          <p:nvPr/>
        </p:nvSpPr>
        <p:spPr>
          <a:xfrm>
            <a:off x="3233101" y="4116874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MQTT Client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EC0B4D5-E208-DCAB-B095-19C55FDDADF4}"/>
              </a:ext>
            </a:extLst>
          </p:cNvPr>
          <p:cNvSpPr txBox="1"/>
          <p:nvPr/>
        </p:nvSpPr>
        <p:spPr>
          <a:xfrm>
            <a:off x="4395045" y="1889667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MQTT Client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4BFA4F3-5EF4-46A0-0227-93E0F59487AB}"/>
              </a:ext>
            </a:extLst>
          </p:cNvPr>
          <p:cNvSpPr txBox="1"/>
          <p:nvPr/>
        </p:nvSpPr>
        <p:spPr>
          <a:xfrm>
            <a:off x="3965025" y="3203835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75000"/>
                  </a:schemeClr>
                </a:solidFill>
              </a:rPr>
              <a:t>MQTT Client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73D2FF-9E4E-AB67-962A-FAB6F39B7120}"/>
              </a:ext>
            </a:extLst>
          </p:cNvPr>
          <p:cNvSpPr txBox="1"/>
          <p:nvPr/>
        </p:nvSpPr>
        <p:spPr>
          <a:xfrm>
            <a:off x="7419914" y="3600000"/>
            <a:ext cx="2609906" cy="646331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Client connection interface lib to publish the data to the broker server</a:t>
            </a:r>
            <a:endParaRPr lang="en-SG" sz="1200" b="1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0A9A1C01-9B9C-82AD-6BDE-BDE5978CC6B5}"/>
              </a:ext>
            </a:extLst>
          </p:cNvPr>
          <p:cNvCxnSpPr>
            <a:cxnSpLocks/>
            <a:stCxn id="110" idx="1"/>
            <a:endCxn id="12" idx="3"/>
          </p:cNvCxnSpPr>
          <p:nvPr/>
        </p:nvCxnSpPr>
        <p:spPr>
          <a:xfrm rot="10800000">
            <a:off x="7042448" y="3527944"/>
            <a:ext cx="377467" cy="39522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59F7EB0E-EC13-D766-51E9-5DA6BC03650F}"/>
              </a:ext>
            </a:extLst>
          </p:cNvPr>
          <p:cNvCxnSpPr>
            <a:cxnSpLocks/>
            <a:stCxn id="110" idx="1"/>
            <a:endCxn id="4" idx="3"/>
          </p:cNvCxnSpPr>
          <p:nvPr/>
        </p:nvCxnSpPr>
        <p:spPr>
          <a:xfrm rot="10800000" flipV="1">
            <a:off x="7042448" y="3923165"/>
            <a:ext cx="377467" cy="6050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82619E8-0251-109B-BCA4-DE8EA01FA204}"/>
              </a:ext>
            </a:extLst>
          </p:cNvPr>
          <p:cNvSpPr txBox="1"/>
          <p:nvPr/>
        </p:nvSpPr>
        <p:spPr>
          <a:xfrm>
            <a:off x="7447747" y="1406318"/>
            <a:ext cx="2582073" cy="8309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Client connection interface lib to subscribe the data from the broker server</a:t>
            </a:r>
            <a:endParaRPr lang="en-SG" sz="1200" b="1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DE2AB975-86C3-2B7C-54C1-542288DBAB6F}"/>
              </a:ext>
            </a:extLst>
          </p:cNvPr>
          <p:cNvCxnSpPr>
            <a:cxnSpLocks/>
            <a:stCxn id="117" idx="1"/>
            <a:endCxn id="57" idx="3"/>
          </p:cNvCxnSpPr>
          <p:nvPr/>
        </p:nvCxnSpPr>
        <p:spPr>
          <a:xfrm rot="10800000" flipV="1">
            <a:off x="6591155" y="1821817"/>
            <a:ext cx="856593" cy="88901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802DB019-A146-1A4B-4854-57629F991AAD}"/>
              </a:ext>
            </a:extLst>
          </p:cNvPr>
          <p:cNvCxnSpPr>
            <a:cxnSpLocks/>
            <a:endCxn id="79" idx="3"/>
          </p:cNvCxnSpPr>
          <p:nvPr/>
        </p:nvCxnSpPr>
        <p:spPr>
          <a:xfrm flipH="1">
            <a:off x="7042448" y="1716347"/>
            <a:ext cx="4172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D2558A6D-7D2D-10D8-0FFF-801D6B589E13}"/>
              </a:ext>
            </a:extLst>
          </p:cNvPr>
          <p:cNvCxnSpPr>
            <a:cxnSpLocks/>
          </p:cNvCxnSpPr>
          <p:nvPr/>
        </p:nvCxnSpPr>
        <p:spPr>
          <a:xfrm flipH="1" flipV="1">
            <a:off x="3547453" y="2835633"/>
            <a:ext cx="3821936" cy="24844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1B9340DC-E70B-E0E9-7AAD-CA28DAB1BBDA}"/>
              </a:ext>
            </a:extLst>
          </p:cNvPr>
          <p:cNvSpPr txBox="1"/>
          <p:nvPr/>
        </p:nvSpPr>
        <p:spPr>
          <a:xfrm>
            <a:off x="7369389" y="2517921"/>
            <a:ext cx="2660435" cy="8309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Broker interface lib to save the data execution the control logic and handle all the data publish and subscribe request</a:t>
            </a:r>
            <a:endParaRPr lang="en-SG" sz="12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538CD5-1E8F-CBEA-B39C-63746835BAA1}"/>
              </a:ext>
            </a:extLst>
          </p:cNvPr>
          <p:cNvSpPr txBox="1"/>
          <p:nvPr/>
        </p:nvSpPr>
        <p:spPr>
          <a:xfrm>
            <a:off x="1398824" y="790295"/>
            <a:ext cx="89065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MQTT data follow with related Broker server and Client device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3696190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738C25-E052-0257-A869-D1C328F24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9019" y="2556491"/>
            <a:ext cx="7180952" cy="32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E6DC9E-8184-4CFD-2F81-EDD204392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04" y="1305822"/>
            <a:ext cx="3022382" cy="1840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A4F57C-D367-A6CC-BAC5-95C99A650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057" y="4681599"/>
            <a:ext cx="3432119" cy="975686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C0C289C-6E33-295A-FD87-9A804E6102EA}"/>
              </a:ext>
            </a:extLst>
          </p:cNvPr>
          <p:cNvCxnSpPr>
            <a:cxnSpLocks/>
          </p:cNvCxnSpPr>
          <p:nvPr/>
        </p:nvCxnSpPr>
        <p:spPr>
          <a:xfrm flipV="1">
            <a:off x="1204856" y="3429000"/>
            <a:ext cx="3506993" cy="1637852"/>
          </a:xfrm>
          <a:prstGeom prst="bentConnector3">
            <a:avLst>
              <a:gd name="adj1" fmla="val 30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8A17C32-136B-9AD9-C7AE-4105FB275BC6}"/>
              </a:ext>
            </a:extLst>
          </p:cNvPr>
          <p:cNvCxnSpPr>
            <a:cxnSpLocks/>
          </p:cNvCxnSpPr>
          <p:nvPr/>
        </p:nvCxnSpPr>
        <p:spPr>
          <a:xfrm flipV="1">
            <a:off x="1871831" y="3609990"/>
            <a:ext cx="2765144" cy="1454548"/>
          </a:xfrm>
          <a:prstGeom prst="bentConnector3">
            <a:avLst>
              <a:gd name="adj1" fmla="val 59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FB93432-4827-7C4B-941C-32860D14A8ED}"/>
              </a:ext>
            </a:extLst>
          </p:cNvPr>
          <p:cNvCxnSpPr>
            <a:cxnSpLocks/>
          </p:cNvCxnSpPr>
          <p:nvPr/>
        </p:nvCxnSpPr>
        <p:spPr>
          <a:xfrm flipV="1">
            <a:off x="2508898" y="3772821"/>
            <a:ext cx="2127648" cy="1291717"/>
          </a:xfrm>
          <a:prstGeom prst="bentConnector3">
            <a:avLst>
              <a:gd name="adj1" fmla="val 95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B8181D89-EE42-D538-8F0D-A1CA061A3891}"/>
              </a:ext>
            </a:extLst>
          </p:cNvPr>
          <p:cNvCxnSpPr>
            <a:cxnSpLocks/>
          </p:cNvCxnSpPr>
          <p:nvPr/>
        </p:nvCxnSpPr>
        <p:spPr>
          <a:xfrm flipV="1">
            <a:off x="2958352" y="3974708"/>
            <a:ext cx="1592133" cy="1089830"/>
          </a:xfrm>
          <a:prstGeom prst="bentConnector3">
            <a:avLst>
              <a:gd name="adj1" fmla="val 135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E661110-EC32-0846-D5ED-AF5BD54D33FC}"/>
              </a:ext>
            </a:extLst>
          </p:cNvPr>
          <p:cNvCxnSpPr>
            <a:cxnSpLocks/>
          </p:cNvCxnSpPr>
          <p:nvPr/>
        </p:nvCxnSpPr>
        <p:spPr>
          <a:xfrm flipV="1">
            <a:off x="3560307" y="4137539"/>
            <a:ext cx="1076239" cy="926999"/>
          </a:xfrm>
          <a:prstGeom prst="bentConnector3">
            <a:avLst>
              <a:gd name="adj1" fmla="val 402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249107FD-D0D5-F0D2-4B03-5D47AF4F8AFD}"/>
              </a:ext>
            </a:extLst>
          </p:cNvPr>
          <p:cNvCxnSpPr>
            <a:cxnSpLocks/>
          </p:cNvCxnSpPr>
          <p:nvPr/>
        </p:nvCxnSpPr>
        <p:spPr>
          <a:xfrm>
            <a:off x="1678193" y="2669366"/>
            <a:ext cx="3130475" cy="254041"/>
          </a:xfrm>
          <a:prstGeom prst="bentConnector3">
            <a:avLst>
              <a:gd name="adj1" fmla="val -51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27B6D4F-0DA4-CEEF-56A2-8E1C35F73EF8}"/>
              </a:ext>
            </a:extLst>
          </p:cNvPr>
          <p:cNvCxnSpPr>
            <a:cxnSpLocks/>
          </p:cNvCxnSpPr>
          <p:nvPr/>
        </p:nvCxnSpPr>
        <p:spPr>
          <a:xfrm>
            <a:off x="2700169" y="2667052"/>
            <a:ext cx="2108499" cy="447003"/>
          </a:xfrm>
          <a:prstGeom prst="bentConnector3">
            <a:avLst>
              <a:gd name="adj1" fmla="val -102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74D4D41A-BC46-B1BC-A1DB-A4993A13B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4668" y="373941"/>
            <a:ext cx="4981028" cy="1863762"/>
          </a:xfrm>
          <a:prstGeom prst="rect">
            <a:avLst/>
          </a:prstGeom>
        </p:spPr>
      </p:pic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6193D10-1706-C832-B215-C9E374587B84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67333" y="1790700"/>
            <a:ext cx="3083608" cy="1501140"/>
          </a:xfrm>
          <a:prstGeom prst="bentConnector3">
            <a:avLst>
              <a:gd name="adj1" fmla="val 11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8A673DD9-2D19-8CD6-2D8F-A8574626C632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13526" y="2065466"/>
            <a:ext cx="4845939" cy="2194562"/>
          </a:xfrm>
          <a:prstGeom prst="bentConnector3">
            <a:avLst>
              <a:gd name="adj1" fmla="val 94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340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A153CD48-D451-ADB0-EF08-EB3856D4FCCA}"/>
              </a:ext>
            </a:extLst>
          </p:cNvPr>
          <p:cNvSpPr/>
          <p:nvPr/>
        </p:nvSpPr>
        <p:spPr>
          <a:xfrm>
            <a:off x="4530382" y="2228135"/>
            <a:ext cx="2111994" cy="842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D62D43B-87AF-8B47-C09B-D66D20BC37BD}"/>
              </a:ext>
            </a:extLst>
          </p:cNvPr>
          <p:cNvSpPr/>
          <p:nvPr/>
        </p:nvSpPr>
        <p:spPr>
          <a:xfrm>
            <a:off x="8178872" y="4538097"/>
            <a:ext cx="2931492" cy="18463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4543840" y="3343298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1775115"/>
            <a:ext cx="3413179" cy="46093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BC18DF-ABBF-4D82-87B5-E051CFF1E5E0}"/>
              </a:ext>
            </a:extLst>
          </p:cNvPr>
          <p:cNvSpPr txBox="1"/>
          <p:nvPr/>
        </p:nvSpPr>
        <p:spPr>
          <a:xfrm>
            <a:off x="583270" y="1774067"/>
            <a:ext cx="3060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IIoT</a:t>
            </a:r>
            <a:r>
              <a:rPr lang="en-SG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Drone Simulator program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4530381" y="343549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Air Vacuum System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55376" y="187878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5219105" y="4216075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143" y="4797562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5796575" y="4503587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08106" y="138238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4733726" y="4776248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2ADACBF-6CD1-7C6A-393E-8FDE39B7951F}"/>
              </a:ext>
            </a:extLst>
          </p:cNvPr>
          <p:cNvSpPr/>
          <p:nvPr/>
        </p:nvSpPr>
        <p:spPr>
          <a:xfrm>
            <a:off x="8178871" y="1745521"/>
            <a:ext cx="2884605" cy="236258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5089A106-CF1F-EBEA-140F-03132C4ED2DD}"/>
              </a:ext>
            </a:extLst>
          </p:cNvPr>
          <p:cNvSpPr txBox="1"/>
          <p:nvPr/>
        </p:nvSpPr>
        <p:spPr>
          <a:xfrm>
            <a:off x="8211674" y="1399803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Console/HMI/</a:t>
            </a:r>
            <a:endParaRPr lang="en-SG" sz="140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D28B1DA-AD16-4DCE-5DEA-6030DDF090AC}"/>
              </a:ext>
            </a:extLst>
          </p:cNvPr>
          <p:cNvSpPr txBox="1"/>
          <p:nvPr/>
        </p:nvSpPr>
        <p:spPr>
          <a:xfrm>
            <a:off x="8211674" y="1837012"/>
            <a:ext cx="27328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</p:txBody>
      </p:sp>
      <p:pic>
        <p:nvPicPr>
          <p:cNvPr id="167" name="Picture 166">
            <a:extLst>
              <a:ext uri="{FF2B5EF4-FFF2-40B4-BE49-F238E27FC236}">
                <a16:creationId xmlns:a16="http://schemas.microsoft.com/office/drawing/2014/main" id="{C3CC61CC-D108-C376-D0C3-7B49D5F871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788" y="4965396"/>
            <a:ext cx="2602019" cy="1235491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5247599" y="5779919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316139-D413-E03A-7795-59544C5DA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5" y="2117123"/>
            <a:ext cx="3195221" cy="164553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5429E-59FE-6C8F-86F0-98366BE437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388" y="4108110"/>
            <a:ext cx="1378905" cy="80738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F835FB-3881-90C8-17FF-E09678F7E3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2" y="5433409"/>
            <a:ext cx="1368021" cy="7785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A9BD622-1155-5A44-68E9-4C19318C14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3086" y="4098345"/>
            <a:ext cx="1295102" cy="81048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989998C-941A-09A8-EF26-B190A08EE9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9235" y="5461275"/>
            <a:ext cx="1260611" cy="77719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28EDFDA0-9300-F494-EA4F-D0EDE6581CDA}"/>
              </a:ext>
            </a:extLst>
          </p:cNvPr>
          <p:cNvSpPr/>
          <p:nvPr/>
        </p:nvSpPr>
        <p:spPr>
          <a:xfrm>
            <a:off x="3604731" y="2511144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7A6124-5EF6-9569-BE59-D9B805FAD6B1}"/>
              </a:ext>
            </a:extLst>
          </p:cNvPr>
          <p:cNvSpPr txBox="1"/>
          <p:nvPr/>
        </p:nvSpPr>
        <p:spPr>
          <a:xfrm>
            <a:off x="631531" y="3792758"/>
            <a:ext cx="29479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Smart Factory Air Vacuum System 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F1CC832F-4496-C581-AC79-8A19EA84AD65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5400000" flipH="1" flipV="1">
            <a:off x="2304298" y="3487581"/>
            <a:ext cx="484457" cy="2371372"/>
          </a:xfrm>
          <a:prstGeom prst="bentConnector4">
            <a:avLst>
              <a:gd name="adj1" fmla="val -36402"/>
              <a:gd name="adj2" fmla="val 103097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813263F-1648-5749-94E7-C1F6266E379E}"/>
              </a:ext>
            </a:extLst>
          </p:cNvPr>
          <p:cNvSpPr/>
          <p:nvPr/>
        </p:nvSpPr>
        <p:spPr>
          <a:xfrm>
            <a:off x="3732213" y="4151458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5655442-0192-8A82-26EF-0A9B76BA555F}"/>
              </a:ext>
            </a:extLst>
          </p:cNvPr>
          <p:cNvCxnSpPr>
            <a:stCxn id="19" idx="2"/>
          </p:cNvCxnSpPr>
          <p:nvPr/>
        </p:nvCxnSpPr>
        <p:spPr>
          <a:xfrm>
            <a:off x="2900637" y="4908829"/>
            <a:ext cx="0" cy="180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55A01305-FBD5-C0D0-292B-60B780D0DE3B}"/>
              </a:ext>
            </a:extLst>
          </p:cNvPr>
          <p:cNvCxnSpPr>
            <a:cxnSpLocks/>
            <a:stCxn id="15" idx="0"/>
            <a:endCxn id="35" idx="1"/>
          </p:cNvCxnSpPr>
          <p:nvPr/>
        </p:nvCxnSpPr>
        <p:spPr>
          <a:xfrm rot="16200000" flipH="1">
            <a:off x="2333626" y="4452216"/>
            <a:ext cx="395820" cy="2358206"/>
          </a:xfrm>
          <a:prstGeom prst="bentConnector4">
            <a:avLst>
              <a:gd name="adj1" fmla="val -44553"/>
              <a:gd name="adj2" fmla="val 10327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5549649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DBE4AB7-62DC-043F-E78A-42DE33965FDB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2869540" y="5253355"/>
            <a:ext cx="1" cy="2079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5780178" y="5450614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4915313" y="4352544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4872774" y="5906414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FAAA84E-DCD0-D7B7-9C0E-9E1FF741C098}"/>
              </a:ext>
            </a:extLst>
          </p:cNvPr>
          <p:cNvSpPr txBox="1"/>
          <p:nvPr/>
        </p:nvSpPr>
        <p:spPr>
          <a:xfrm>
            <a:off x="4627293" y="2217205"/>
            <a:ext cx="1741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6">
                    <a:lumMod val="50000"/>
                  </a:schemeClr>
                </a:solidFill>
              </a:rPr>
              <a:t>IoT 5G Antenna 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6509352" y="477923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6566585" y="4517566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F028600-722A-7E17-3136-F930C49E08B3}"/>
              </a:ext>
            </a:extLst>
          </p:cNvPr>
          <p:cNvCxnSpPr>
            <a:cxnSpLocks/>
          </p:cNvCxnSpPr>
          <p:nvPr/>
        </p:nvCxnSpPr>
        <p:spPr>
          <a:xfrm>
            <a:off x="6632678" y="5549649"/>
            <a:ext cx="0" cy="2302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3155ECCE-090A-F076-DC4C-7AB4AD745293}"/>
              </a:ext>
            </a:extLst>
          </p:cNvPr>
          <p:cNvSpPr/>
          <p:nvPr/>
        </p:nvSpPr>
        <p:spPr>
          <a:xfrm>
            <a:off x="7896759" y="2511144"/>
            <a:ext cx="996059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 </a:t>
            </a:r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C596B7E7-3865-25F7-EF6C-DD2655093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051" y="1837012"/>
            <a:ext cx="621263" cy="54066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AC55AA68-DB1C-9B26-2599-520B03655BB5}"/>
              </a:ext>
            </a:extLst>
          </p:cNvPr>
          <p:cNvSpPr txBox="1"/>
          <p:nvPr/>
        </p:nvSpPr>
        <p:spPr>
          <a:xfrm>
            <a:off x="8982531" y="1793957"/>
            <a:ext cx="801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/>
              <a:t>Data Process Logic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5E7F4B0-DED2-7A1B-F640-5CE78714CAD8}"/>
              </a:ext>
            </a:extLst>
          </p:cNvPr>
          <p:cNvCxnSpPr>
            <a:cxnSpLocks/>
            <a:stCxn id="47" idx="3"/>
            <a:endCxn id="92" idx="1"/>
          </p:cNvCxnSpPr>
          <p:nvPr/>
        </p:nvCxnSpPr>
        <p:spPr>
          <a:xfrm flipV="1">
            <a:off x="4569987" y="2651652"/>
            <a:ext cx="332677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89FBE41-3283-2925-4DAA-C08C2D5F28AA}"/>
              </a:ext>
            </a:extLst>
          </p:cNvPr>
          <p:cNvSpPr txBox="1"/>
          <p:nvPr/>
        </p:nvSpPr>
        <p:spPr>
          <a:xfrm>
            <a:off x="4664451" y="2636303"/>
            <a:ext cx="21302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(Drone fly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5932A095-9191-172B-C9FE-AC4425BA43D9}"/>
              </a:ext>
            </a:extLst>
          </p:cNvPr>
          <p:cNvCxnSpPr/>
          <p:nvPr/>
        </p:nvCxnSpPr>
        <p:spPr>
          <a:xfrm rot="5400000" flipH="1" flipV="1">
            <a:off x="6509149" y="3521219"/>
            <a:ext cx="2141721" cy="633500"/>
          </a:xfrm>
          <a:prstGeom prst="bentConnector3">
            <a:avLst>
              <a:gd name="adj1" fmla="val 9960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F31E912-988C-98F9-A0F3-408D966AC1D7}"/>
              </a:ext>
            </a:extLst>
          </p:cNvPr>
          <p:cNvSpPr txBox="1"/>
          <p:nvPr/>
        </p:nvSpPr>
        <p:spPr>
          <a:xfrm>
            <a:off x="6682734" y="3858927"/>
            <a:ext cx="113381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temp and fan-speed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174AD778-74FB-B924-27B5-FFD874A5F6DD}"/>
              </a:ext>
            </a:extLst>
          </p:cNvPr>
          <p:cNvCxnSpPr>
            <a:endCxn id="81" idx="3"/>
          </p:cNvCxnSpPr>
          <p:nvPr/>
        </p:nvCxnSpPr>
        <p:spPr>
          <a:xfrm rot="5400000">
            <a:off x="6599961" y="3527640"/>
            <a:ext cx="2296723" cy="54742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AC12CB8B-131A-A916-DF61-8F8109989FF5}"/>
              </a:ext>
            </a:extLst>
          </p:cNvPr>
          <p:cNvSpPr txBox="1"/>
          <p:nvPr/>
        </p:nvSpPr>
        <p:spPr>
          <a:xfrm>
            <a:off x="7379947" y="2958039"/>
            <a:ext cx="12593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Data Subscribe (Fan and valve moto control request )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531F89FB-8564-A336-DA3E-8674C92321B1}"/>
              </a:ext>
            </a:extLst>
          </p:cNvPr>
          <p:cNvCxnSpPr>
            <a:stCxn id="93" idx="2"/>
          </p:cNvCxnSpPr>
          <p:nvPr/>
        </p:nvCxnSpPr>
        <p:spPr>
          <a:xfrm flipH="1">
            <a:off x="8576682" y="2377679"/>
            <a:ext cx="1" cy="13346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2EF8C326-1111-88D4-0239-256EB8B7F89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0974" y="2281994"/>
            <a:ext cx="1114477" cy="176862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14" name="Rectangle 113">
            <a:extLst>
              <a:ext uri="{FF2B5EF4-FFF2-40B4-BE49-F238E27FC236}">
                <a16:creationId xmlns:a16="http://schemas.microsoft.com/office/drawing/2014/main" id="{61ABEA43-1B13-4EFD-A074-E00CE4C34EC6}"/>
              </a:ext>
            </a:extLst>
          </p:cNvPr>
          <p:cNvSpPr/>
          <p:nvPr/>
        </p:nvSpPr>
        <p:spPr>
          <a:xfrm>
            <a:off x="9095485" y="2874697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5A90B30B-4C4A-D794-E9F8-E6707404A193}"/>
              </a:ext>
            </a:extLst>
          </p:cNvPr>
          <p:cNvCxnSpPr>
            <a:cxnSpLocks/>
            <a:stCxn id="92" idx="3"/>
            <a:endCxn id="114" idx="0"/>
          </p:cNvCxnSpPr>
          <p:nvPr/>
        </p:nvCxnSpPr>
        <p:spPr>
          <a:xfrm>
            <a:off x="8892818" y="2651652"/>
            <a:ext cx="685295" cy="223045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F47D2997-F313-076C-EB39-8ED5CDE82A49}"/>
              </a:ext>
            </a:extLst>
          </p:cNvPr>
          <p:cNvSpPr txBox="1"/>
          <p:nvPr/>
        </p:nvSpPr>
        <p:spPr>
          <a:xfrm>
            <a:off x="9742000" y="1733177"/>
            <a:ext cx="12548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2">
                    <a:lumMod val="50000"/>
                  </a:schemeClr>
                </a:solidFill>
              </a:rPr>
              <a:t>Drone State Monitor HMI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F00080B1-57FE-3EF4-943B-EFB50200C31E}"/>
              </a:ext>
            </a:extLst>
          </p:cNvPr>
          <p:cNvSpPr/>
          <p:nvPr/>
        </p:nvSpPr>
        <p:spPr>
          <a:xfrm>
            <a:off x="8435239" y="469634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9CD34D5-0DFF-0E85-0BE0-3E3477BA54E0}"/>
              </a:ext>
            </a:extLst>
          </p:cNvPr>
          <p:cNvCxnSpPr/>
          <p:nvPr/>
        </p:nvCxnSpPr>
        <p:spPr>
          <a:xfrm>
            <a:off x="8576682" y="2839299"/>
            <a:ext cx="0" cy="1833968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E319561A-7CF9-9856-960B-3F40F2DA7024}"/>
              </a:ext>
            </a:extLst>
          </p:cNvPr>
          <p:cNvCxnSpPr>
            <a:cxnSpLocks/>
          </p:cNvCxnSpPr>
          <p:nvPr/>
        </p:nvCxnSpPr>
        <p:spPr>
          <a:xfrm flipV="1">
            <a:off x="8799075" y="2800340"/>
            <a:ext cx="0" cy="1872927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84911D7E-8171-FF64-1FB7-46C9EADFA4AF}"/>
              </a:ext>
            </a:extLst>
          </p:cNvPr>
          <p:cNvSpPr txBox="1"/>
          <p:nvPr/>
        </p:nvSpPr>
        <p:spPr>
          <a:xfrm>
            <a:off x="8974494" y="4217172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7F91118A-0A8E-8363-4D3B-D7A0B626CAD1}"/>
              </a:ext>
            </a:extLst>
          </p:cNvPr>
          <p:cNvSpPr txBox="1"/>
          <p:nvPr/>
        </p:nvSpPr>
        <p:spPr>
          <a:xfrm>
            <a:off x="9419959" y="4511802"/>
            <a:ext cx="2130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/>
              <a:t>Factory Environment Monitor Dashboard </a:t>
            </a: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F4CB6EC-3BB3-C9CE-4BB0-7C66CC110353}"/>
              </a:ext>
            </a:extLst>
          </p:cNvPr>
          <p:cNvCxnSpPr>
            <a:cxnSpLocks/>
          </p:cNvCxnSpPr>
          <p:nvPr/>
        </p:nvCxnSpPr>
        <p:spPr>
          <a:xfrm flipV="1">
            <a:off x="4663006" y="1567050"/>
            <a:ext cx="62030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FF26E35C-F07C-D71E-9EE1-21F5BA435C29}"/>
              </a:ext>
            </a:extLst>
          </p:cNvPr>
          <p:cNvSpPr txBox="1"/>
          <p:nvPr/>
        </p:nvSpPr>
        <p:spPr>
          <a:xfrm>
            <a:off x="5330009" y="1421456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MQTT Data Subscribe Request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1D14FC2-D575-B83B-3310-6F877724A0F1}"/>
              </a:ext>
            </a:extLst>
          </p:cNvPr>
          <p:cNvCxnSpPr>
            <a:cxnSpLocks/>
          </p:cNvCxnSpPr>
          <p:nvPr/>
        </p:nvCxnSpPr>
        <p:spPr>
          <a:xfrm>
            <a:off x="4677832" y="1783408"/>
            <a:ext cx="605480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9BA9486-9630-D344-1BE6-3CA911C992FC}"/>
              </a:ext>
            </a:extLst>
          </p:cNvPr>
          <p:cNvSpPr txBox="1"/>
          <p:nvPr/>
        </p:nvSpPr>
        <p:spPr>
          <a:xfrm>
            <a:off x="5337689" y="1642185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MQTT Data Publish 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03D145-A7A6-19DE-CBAD-F0264A76DE70}"/>
              </a:ext>
            </a:extLst>
          </p:cNvPr>
          <p:cNvSpPr/>
          <p:nvPr/>
        </p:nvSpPr>
        <p:spPr>
          <a:xfrm>
            <a:off x="6519118" y="521821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ED4F42A-0BEE-8BF1-BA0B-EF2804695581}"/>
              </a:ext>
            </a:extLst>
          </p:cNvPr>
          <p:cNvCxnSpPr>
            <a:cxnSpLocks/>
            <a:endCxn id="81" idx="1"/>
          </p:cNvCxnSpPr>
          <p:nvPr/>
        </p:nvCxnSpPr>
        <p:spPr>
          <a:xfrm rot="5400000" flipH="1" flipV="1">
            <a:off x="5988932" y="5259499"/>
            <a:ext cx="830203" cy="210638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0443A5-3904-604F-97A6-3E8435033BFF}"/>
              </a:ext>
            </a:extLst>
          </p:cNvPr>
          <p:cNvCxnSpPr>
            <a:cxnSpLocks/>
            <a:stCxn id="120" idx="1"/>
            <a:endCxn id="2" idx="3"/>
          </p:cNvCxnSpPr>
          <p:nvPr/>
        </p:nvCxnSpPr>
        <p:spPr>
          <a:xfrm rot="10800000" flipV="1">
            <a:off x="7484375" y="4866826"/>
            <a:ext cx="950865" cy="521866"/>
          </a:xfrm>
          <a:prstGeom prst="bentConnector3">
            <a:avLst>
              <a:gd name="adj1" fmla="val 3653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385657-537C-6196-4B7C-14E3DBFF65FF}"/>
              </a:ext>
            </a:extLst>
          </p:cNvPr>
          <p:cNvSpPr txBox="1"/>
          <p:nvPr/>
        </p:nvSpPr>
        <p:spPr>
          <a:xfrm>
            <a:off x="7141680" y="5620952"/>
            <a:ext cx="13497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Direct Overwrite control</a:t>
            </a:r>
            <a:endParaRPr lang="en-SG" sz="11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CBE11D-52C4-DBF1-0423-DCE2EF202234}"/>
              </a:ext>
            </a:extLst>
          </p:cNvPr>
          <p:cNvSpPr txBox="1"/>
          <p:nvPr/>
        </p:nvSpPr>
        <p:spPr>
          <a:xfrm>
            <a:off x="489416" y="735860"/>
            <a:ext cx="10632433" cy="4616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 Python RTU/</a:t>
            </a:r>
            <a:r>
              <a:rPr lang="en-US" sz="2400" b="1" dirty="0" err="1"/>
              <a:t>IIoT</a:t>
            </a:r>
            <a:r>
              <a:rPr lang="en-US" sz="2400" b="1" dirty="0"/>
              <a:t> Simulator with IEC-20922 MQTT Communication Protocol</a:t>
            </a:r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266</Words>
  <Application>Microsoft Office PowerPoint</Application>
  <PresentationFormat>Widescreen</PresentationFormat>
  <Paragraphs>60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11</cp:revision>
  <dcterms:created xsi:type="dcterms:W3CDTF">2026-06-03T06:21:53Z</dcterms:created>
  <dcterms:modified xsi:type="dcterms:W3CDTF">2026-06-06T07:26:07Z</dcterms:modified>
</cp:coreProperties>
</file>