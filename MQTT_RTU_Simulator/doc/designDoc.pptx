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5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574-0654-1B36-4D83-9BDC125AC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C0E16-350C-DDB4-1939-44C26C8FBC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47839-9251-EA5B-3483-51E1A608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48822-ED9B-3820-FA2D-1384A6B99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72640-7FAA-16B6-33D3-DC57963CF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16935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06137-3003-E672-15AA-5B636850D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24A7A-362F-B144-1858-5B3A4CF402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D2DEE-7441-C814-D863-B6A3637F7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E1375-3111-C11D-1492-99CC3FD30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E2EA5-86F9-BD64-6081-000725013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362994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A3CE-154D-E0E1-63FE-7A435368E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43BE0B-109F-5702-3C72-F955B9D3B3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4DD9B-F9CA-4C49-0100-10DAF8C92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2F387-B7BD-4322-B4C9-DC586E0B6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E3C4C-DC9C-34FC-5979-21936A3B1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02818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69D47-5936-3387-D1BC-9DA6761E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9A2C7-8E5B-A992-4D97-339140663D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DAB1B6-6594-DAFF-1FCD-077F3BBDF7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7BCE0-9B62-9913-0E5D-CA64CB280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971A05-4F2D-4319-4CE3-B3CA6338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0EA918-8E8C-197C-99F4-AAC4F5C41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8542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9105-73D3-D288-C0C2-9A8ACF053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E343E8-26BC-4CE2-930C-E033E0CA3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589BE-041A-2FE9-FA0D-733C707C1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EB441-DEF0-617D-B306-AF855B2D04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8514F1-B928-922C-DB2A-BDB7FC3C5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17AB26-BA28-E1BF-62C3-46F5E9EC1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23168-3431-76BE-B050-20C9771C0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E0762A-BEC0-92DD-03E0-ABF63F97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50616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D4A2-CACA-0464-E99D-1937256E7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6E1B5B-D956-D546-7A93-B1CCAD07E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DEF4E2-C9D8-324F-EE6E-E905F67E6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F0AD79-A672-DE25-16E8-72BA94A2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73728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9F0F89-37F2-054B-F1C3-593F58708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A3BD70-9B41-21E5-F574-273C872CF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3716F-FF3D-6E6B-428D-62B125BC7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896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194D83-B62C-D1CF-948F-F9545C3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279D1-E2C4-BED5-78E7-DF8FCF29A3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93598-2BE8-1CAD-C2F0-BBA230332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13334-D73D-7779-8DB8-56B52B74A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ABF0-3342-C6CE-39A4-DBE6EF98F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411C-BD04-2DB6-BF0A-7021BC44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4918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8278-239C-AC7D-0D1F-5ACD0A533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A008F3-1A15-C438-9D08-EF2C15400A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B9FD52-9FAB-D6C5-2D54-D32298245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541BF3-0247-2DE9-6EFE-5EC2517EF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B2018A-6081-A5B4-C22E-13F82F6E4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DFF314-1D3B-86D5-B196-07A33DD23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5960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C72B3-65A4-6F06-CF9B-FAA08F0D5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C1B450-3BBC-9211-5041-5A42E72320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8481C-11D6-D9AD-2195-D6D5684FB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03366-295C-0677-F2B9-3F766EBEA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92F8-7397-C1A8-E921-213A9BD78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2191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626019-65CD-D2EE-3AA5-06B7FDD293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E5BCF5-A62A-665E-A1D0-26B023692C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F6958-7A58-6F2D-3B72-5B394C83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080D6-74EE-5618-74F1-AD2C87D65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F9F5CD-71CF-1ED2-0E40-73237D69C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363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836A1F-74DC-ABE6-6C02-1194744E6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AA1CD-B198-1FFC-7BEC-8A8F846A0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32A28-F543-EBEB-CB25-523336D57E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C4233-9FD4-48E0-99C1-555DE8AF0C0C}" type="datetimeFigureOut">
              <a:rPr lang="en-SG" smtClean="0"/>
              <a:t>3/6/2026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675E4-8FE5-A9EF-72A1-A3AFF7B2FF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23D92-65EA-B209-0DA4-E5ACB61A1B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D6C70C-4FFC-4D88-A0EC-4E387C73A79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7002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E5197B4-4DE7-CC07-E13A-AEC4F709645F}"/>
              </a:ext>
            </a:extLst>
          </p:cNvPr>
          <p:cNvSpPr/>
          <p:nvPr/>
        </p:nvSpPr>
        <p:spPr>
          <a:xfrm>
            <a:off x="1526177" y="4149635"/>
            <a:ext cx="5516270" cy="757072"/>
          </a:xfrm>
          <a:prstGeom prst="roundRect">
            <a:avLst/>
          </a:prstGeom>
          <a:solidFill>
            <a:srgbClr val="38A3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1FDBE-BA81-08CE-4269-CFD5B8380253}"/>
              </a:ext>
            </a:extLst>
          </p:cNvPr>
          <p:cNvSpPr txBox="1"/>
          <p:nvPr/>
        </p:nvSpPr>
        <p:spPr>
          <a:xfrm>
            <a:off x="1637951" y="4180054"/>
            <a:ext cx="13206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Level 0</a:t>
            </a:r>
          </a:p>
          <a:p>
            <a:r>
              <a:rPr lang="en-US" sz="1200" dirty="0">
                <a:solidFill>
                  <a:schemeClr val="bg1"/>
                </a:solidFill>
              </a:rPr>
              <a:t>Physical Process</a:t>
            </a:r>
          </a:p>
          <a:p>
            <a:r>
              <a:rPr lang="en-US" sz="1200" dirty="0">
                <a:solidFill>
                  <a:schemeClr val="bg1"/>
                </a:solidFill>
              </a:rPr>
              <a:t>Field I/O device </a:t>
            </a:r>
            <a:endParaRPr lang="en-SG" sz="1200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3AF4DF-B366-1099-D346-83455AA304CE}"/>
              </a:ext>
            </a:extLst>
          </p:cNvPr>
          <p:cNvSpPr/>
          <p:nvPr/>
        </p:nvSpPr>
        <p:spPr>
          <a:xfrm>
            <a:off x="3200556" y="4352922"/>
            <a:ext cx="472819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 err="1">
                <a:solidFill>
                  <a:schemeClr val="tx1"/>
                </a:solidFill>
              </a:rPr>
              <a:t>IIoT</a:t>
            </a:r>
            <a:endParaRPr lang="en-SG" sz="1200" b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46A1D6-F15E-CAD7-5311-499BD4FAD07D}"/>
              </a:ext>
            </a:extLst>
          </p:cNvPr>
          <p:cNvSpPr/>
          <p:nvPr/>
        </p:nvSpPr>
        <p:spPr>
          <a:xfrm>
            <a:off x="3895701" y="4352921"/>
            <a:ext cx="1165150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Metering Unit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E1A17A-1EB1-84E0-8F84-52FC2A4D0880}"/>
              </a:ext>
            </a:extLst>
          </p:cNvPr>
          <p:cNvSpPr/>
          <p:nvPr/>
        </p:nvSpPr>
        <p:spPr>
          <a:xfrm>
            <a:off x="5283177" y="4352921"/>
            <a:ext cx="790296" cy="35639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>
                <a:solidFill>
                  <a:schemeClr val="tx1"/>
                </a:solidFill>
              </a:rPr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16A09C6-A80A-1773-2A4E-62EEE664A80B}"/>
              </a:ext>
            </a:extLst>
          </p:cNvPr>
          <p:cNvSpPr/>
          <p:nvPr/>
        </p:nvSpPr>
        <p:spPr>
          <a:xfrm>
            <a:off x="1526177" y="3190874"/>
            <a:ext cx="5516270" cy="674137"/>
          </a:xfrm>
          <a:prstGeom prst="roundRect">
            <a:avLst/>
          </a:prstGeom>
          <a:solidFill>
            <a:srgbClr val="F4C54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2317B8-6544-4A01-559C-4AF56B81F75F}"/>
              </a:ext>
            </a:extLst>
          </p:cNvPr>
          <p:cNvSpPr txBox="1"/>
          <p:nvPr/>
        </p:nvSpPr>
        <p:spPr>
          <a:xfrm>
            <a:off x="1670217" y="3315125"/>
            <a:ext cx="113967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Level 1</a:t>
            </a:r>
          </a:p>
          <a:p>
            <a:r>
              <a:rPr lang="en-US" sz="1100" dirty="0"/>
              <a:t>Controller LAN </a:t>
            </a:r>
            <a:endParaRPr lang="en-SG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086DE35-CD7A-4960-8049-92C03F0DC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938" y="3287119"/>
            <a:ext cx="664712" cy="472684"/>
          </a:xfrm>
          <a:prstGeom prst="rect">
            <a:avLst/>
          </a:prstGeom>
        </p:spPr>
      </p:pic>
      <p:pic>
        <p:nvPicPr>
          <p:cNvPr id="15" name="Picture 14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053B07FA-9A1F-651A-5C38-9472179A0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6654" y="3246330"/>
            <a:ext cx="468371" cy="513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BD8A088-E4BB-E724-5076-D08DB8E427E8}"/>
              </a:ext>
            </a:extLst>
          </p:cNvPr>
          <p:cNvSpPr txBox="1"/>
          <p:nvPr/>
        </p:nvSpPr>
        <p:spPr>
          <a:xfrm>
            <a:off x="3965025" y="3583558"/>
            <a:ext cx="5744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PLC</a:t>
            </a:r>
            <a:endParaRPr lang="en-SG" sz="11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41D427-DF0E-AE86-58E1-98B06C6DAC66}"/>
              </a:ext>
            </a:extLst>
          </p:cNvPr>
          <p:cNvSpPr txBox="1"/>
          <p:nvPr/>
        </p:nvSpPr>
        <p:spPr>
          <a:xfrm>
            <a:off x="5572124" y="3550797"/>
            <a:ext cx="559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RTU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A2FCE97-444D-96B7-9D79-5FBBE78FB7FC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 rot="5400000">
            <a:off x="4567226" y="3670853"/>
            <a:ext cx="593118" cy="771018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ABBCD2F-3340-3611-60D8-67FC7B402EA8}"/>
              </a:ext>
            </a:extLst>
          </p:cNvPr>
          <p:cNvCxnSpPr>
            <a:cxnSpLocks/>
            <a:stCxn id="14" idx="2"/>
            <a:endCxn id="10" idx="0"/>
          </p:cNvCxnSpPr>
          <p:nvPr/>
        </p:nvCxnSpPr>
        <p:spPr>
          <a:xfrm rot="16200000" flipH="1">
            <a:off x="5167250" y="3841846"/>
            <a:ext cx="593118" cy="42903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9F8FF0A-CC3B-D85F-14F7-F6AAFD2ED6EF}"/>
              </a:ext>
            </a:extLst>
          </p:cNvPr>
          <p:cNvCxnSpPr>
            <a:stCxn id="15" idx="2"/>
            <a:endCxn id="9" idx="0"/>
          </p:cNvCxnSpPr>
          <p:nvPr/>
        </p:nvCxnSpPr>
        <p:spPr>
          <a:xfrm rot="16200000" flipH="1">
            <a:off x="3807999" y="3682644"/>
            <a:ext cx="593118" cy="74743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A045BB4-02E1-7CB8-438E-336304F8BEFC}"/>
              </a:ext>
            </a:extLst>
          </p:cNvPr>
          <p:cNvSpPr/>
          <p:nvPr/>
        </p:nvSpPr>
        <p:spPr>
          <a:xfrm>
            <a:off x="1513770" y="2315964"/>
            <a:ext cx="5528677" cy="726901"/>
          </a:xfrm>
          <a:prstGeom prst="roundRect">
            <a:avLst/>
          </a:prstGeom>
          <a:solidFill>
            <a:srgbClr val="D67A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3C95A0-8B87-3913-A665-E1AED7872846}"/>
              </a:ext>
            </a:extLst>
          </p:cNvPr>
          <p:cNvSpPr txBox="1"/>
          <p:nvPr/>
        </p:nvSpPr>
        <p:spPr>
          <a:xfrm>
            <a:off x="1636303" y="2326390"/>
            <a:ext cx="139155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2</a:t>
            </a:r>
          </a:p>
          <a:p>
            <a:r>
              <a:rPr lang="en-US" sz="1100" dirty="0">
                <a:solidFill>
                  <a:schemeClr val="bg1"/>
                </a:solidFill>
              </a:rPr>
              <a:t>Control Center (HQ) Processing LAN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D569A22-E2F8-0826-B7AE-58B88D739DB7}"/>
              </a:ext>
            </a:extLst>
          </p:cNvPr>
          <p:cNvSpPr txBox="1"/>
          <p:nvPr/>
        </p:nvSpPr>
        <p:spPr>
          <a:xfrm>
            <a:off x="3548625" y="2389939"/>
            <a:ext cx="147137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MQTT Broker Server </a:t>
            </a:r>
          </a:p>
        </p:txBody>
      </p:sp>
      <p:pic>
        <p:nvPicPr>
          <p:cNvPr id="54" name="Graphic 53" descr="Computer with solid fill">
            <a:extLst>
              <a:ext uri="{FF2B5EF4-FFF2-40B4-BE49-F238E27FC236}">
                <a16:creationId xmlns:a16="http://schemas.microsoft.com/office/drawing/2014/main" id="{6F931331-CF0E-CDB1-A653-DFA5C93DD7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01032" y="2434371"/>
            <a:ext cx="446421" cy="446421"/>
          </a:xfrm>
          <a:prstGeom prst="rect">
            <a:avLst/>
          </a:prstGeom>
        </p:spPr>
      </p:pic>
      <p:pic>
        <p:nvPicPr>
          <p:cNvPr id="55" name="Graphic 54" descr="Ui Ux with solid fill">
            <a:extLst>
              <a:ext uri="{FF2B5EF4-FFF2-40B4-BE49-F238E27FC236}">
                <a16:creationId xmlns:a16="http://schemas.microsoft.com/office/drawing/2014/main" id="{E646BA4E-4971-C662-B2AF-D7D19C7BDB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7965" y="2459578"/>
            <a:ext cx="550375" cy="550375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A7B914-C084-414E-0015-D24396A5E0B9}"/>
              </a:ext>
            </a:extLst>
          </p:cNvPr>
          <p:cNvCxnSpPr>
            <a:cxnSpLocks/>
          </p:cNvCxnSpPr>
          <p:nvPr/>
        </p:nvCxnSpPr>
        <p:spPr>
          <a:xfrm>
            <a:off x="3270434" y="2807272"/>
            <a:ext cx="0" cy="1552571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CB167245-CB3A-9A72-E5F0-A87AC53F2AE1}"/>
              </a:ext>
            </a:extLst>
          </p:cNvPr>
          <p:cNvSpPr txBox="1"/>
          <p:nvPr/>
        </p:nvSpPr>
        <p:spPr>
          <a:xfrm>
            <a:off x="7874679" y="3620423"/>
            <a:ext cx="9660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Railway Track Control HMI</a:t>
            </a:r>
            <a:endParaRPr lang="en-SG" sz="1100" dirty="0">
              <a:solidFill>
                <a:schemeClr val="bg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8F1823D-7A98-9481-2731-0F15ECBFBC8B}"/>
              </a:ext>
            </a:extLst>
          </p:cNvPr>
          <p:cNvSpPr txBox="1"/>
          <p:nvPr/>
        </p:nvSpPr>
        <p:spPr>
          <a:xfrm>
            <a:off x="5668987" y="2410749"/>
            <a:ext cx="92216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Control HMI / Console machine </a:t>
            </a:r>
            <a:endParaRPr lang="en-SG" sz="1100" dirty="0">
              <a:solidFill>
                <a:schemeClr val="bg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5789B378-9903-3123-F7BE-BA64054115F6}"/>
              </a:ext>
            </a:extLst>
          </p:cNvPr>
          <p:cNvCxnSpPr>
            <a:cxnSpLocks/>
          </p:cNvCxnSpPr>
          <p:nvPr/>
        </p:nvCxnSpPr>
        <p:spPr>
          <a:xfrm>
            <a:off x="3312071" y="2972223"/>
            <a:ext cx="1088479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E17D7B93-3D52-6A63-2CAE-3B373903F065}"/>
              </a:ext>
            </a:extLst>
          </p:cNvPr>
          <p:cNvCxnSpPr>
            <a:cxnSpLocks/>
            <a:endCxn id="14" idx="1"/>
          </p:cNvCxnSpPr>
          <p:nvPr/>
        </p:nvCxnSpPr>
        <p:spPr>
          <a:xfrm rot="16200000" flipH="1">
            <a:off x="4391401" y="2997924"/>
            <a:ext cx="529982" cy="521092"/>
          </a:xfrm>
          <a:prstGeom prst="bentConnector2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085F8B8-30AA-8B36-DBEE-23D06A53EEC9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3730839" y="2950968"/>
            <a:ext cx="1" cy="29536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982C9C0-B90A-77C5-9E1B-E8EED6AF2A97}"/>
              </a:ext>
            </a:extLst>
          </p:cNvPr>
          <p:cNvCxnSpPr>
            <a:cxnSpLocks/>
          </p:cNvCxnSpPr>
          <p:nvPr/>
        </p:nvCxnSpPr>
        <p:spPr>
          <a:xfrm flipV="1">
            <a:off x="3523111" y="2769956"/>
            <a:ext cx="1595735" cy="160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9C680C74-5947-5BB3-935A-54E988877DDC}"/>
              </a:ext>
            </a:extLst>
          </p:cNvPr>
          <p:cNvSpPr/>
          <p:nvPr/>
        </p:nvSpPr>
        <p:spPr>
          <a:xfrm>
            <a:off x="1513770" y="1317221"/>
            <a:ext cx="5528678" cy="825418"/>
          </a:xfrm>
          <a:prstGeom prst="roundRect">
            <a:avLst/>
          </a:prstGeom>
          <a:solidFill>
            <a:srgbClr val="6458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93A9111-C8F6-8825-72CA-3522CEA1FF8F}"/>
              </a:ext>
            </a:extLst>
          </p:cNvPr>
          <p:cNvSpPr txBox="1"/>
          <p:nvPr/>
        </p:nvSpPr>
        <p:spPr>
          <a:xfrm>
            <a:off x="1632142" y="1389411"/>
            <a:ext cx="132480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</a:rPr>
              <a:t>Level 3</a:t>
            </a:r>
          </a:p>
          <a:p>
            <a:r>
              <a:rPr lang="en-US" sz="1100" dirty="0">
                <a:solidFill>
                  <a:schemeClr val="bg1"/>
                </a:solidFill>
              </a:rPr>
              <a:t>Operations Management Zone </a:t>
            </a:r>
          </a:p>
        </p:txBody>
      </p:sp>
      <p:pic>
        <p:nvPicPr>
          <p:cNvPr id="82" name="Graphic 81" descr="Full Brick Wall with solid fill">
            <a:extLst>
              <a:ext uri="{FF2B5EF4-FFF2-40B4-BE49-F238E27FC236}">
                <a16:creationId xmlns:a16="http://schemas.microsoft.com/office/drawing/2014/main" id="{2B48AA09-73E4-DF2A-E705-D4E41C3FDF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85563" y="1550258"/>
            <a:ext cx="418359" cy="418359"/>
          </a:xfrm>
          <a:prstGeom prst="rect">
            <a:avLst/>
          </a:prstGeom>
        </p:spPr>
      </p:pic>
      <p:pic>
        <p:nvPicPr>
          <p:cNvPr id="83" name="Graphic 82" descr="Ui Ux with solid fill">
            <a:extLst>
              <a:ext uri="{FF2B5EF4-FFF2-40B4-BE49-F238E27FC236}">
                <a16:creationId xmlns:a16="http://schemas.microsoft.com/office/drawing/2014/main" id="{25C9A69D-991D-5B40-0C5E-96302FC149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4979" y="1455059"/>
            <a:ext cx="572105" cy="572105"/>
          </a:xfrm>
          <a:prstGeom prst="rect">
            <a:avLst/>
          </a:prstGeom>
        </p:spPr>
      </p:pic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91B2906-003D-1E6E-8405-1203055F55D1}"/>
              </a:ext>
            </a:extLst>
          </p:cNvPr>
          <p:cNvCxnSpPr>
            <a:cxnSpLocks/>
          </p:cNvCxnSpPr>
          <p:nvPr/>
        </p:nvCxnSpPr>
        <p:spPr>
          <a:xfrm>
            <a:off x="3273063" y="1959574"/>
            <a:ext cx="0" cy="56117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2" name="Graphic 91" descr="Smart Phone with solid fill">
            <a:extLst>
              <a:ext uri="{FF2B5EF4-FFF2-40B4-BE49-F238E27FC236}">
                <a16:creationId xmlns:a16="http://schemas.microsoft.com/office/drawing/2014/main" id="{AB93BEFD-64A8-D824-B50B-BED279B56A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52996" y="1458938"/>
            <a:ext cx="557955" cy="557955"/>
          </a:xfrm>
          <a:prstGeom prst="rect">
            <a:avLst/>
          </a:prstGeom>
        </p:spPr>
      </p:pic>
      <p:sp>
        <p:nvSpPr>
          <p:cNvPr id="93" name="TextBox 92">
            <a:extLst>
              <a:ext uri="{FF2B5EF4-FFF2-40B4-BE49-F238E27FC236}">
                <a16:creationId xmlns:a16="http://schemas.microsoft.com/office/drawing/2014/main" id="{87E0CAF7-1E85-F4AE-9B86-E2AF0B15BE78}"/>
              </a:ext>
            </a:extLst>
          </p:cNvPr>
          <p:cNvSpPr txBox="1"/>
          <p:nvPr/>
        </p:nvSpPr>
        <p:spPr>
          <a:xfrm>
            <a:off x="5678325" y="1500904"/>
            <a:ext cx="127251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Control Touch Screen/Phone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D41C0FF-A27A-EDDD-BFEE-3DF571D620F6}"/>
              </a:ext>
            </a:extLst>
          </p:cNvPr>
          <p:cNvSpPr txBox="1"/>
          <p:nvPr/>
        </p:nvSpPr>
        <p:spPr>
          <a:xfrm>
            <a:off x="4478276" y="1508536"/>
            <a:ext cx="80490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dirty="0">
                <a:solidFill>
                  <a:schemeClr val="bg1"/>
                </a:solidFill>
              </a:rPr>
              <a:t>Monitor Desktop</a:t>
            </a:r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599E9AA-13C7-927C-1BD1-54E634FC2B70}"/>
              </a:ext>
            </a:extLst>
          </p:cNvPr>
          <p:cNvCxnSpPr>
            <a:cxnSpLocks/>
          </p:cNvCxnSpPr>
          <p:nvPr/>
        </p:nvCxnSpPr>
        <p:spPr>
          <a:xfrm>
            <a:off x="3284991" y="2219279"/>
            <a:ext cx="2146982" cy="617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8EED556-F557-6903-C88E-56FAEEC18A59}"/>
              </a:ext>
            </a:extLst>
          </p:cNvPr>
          <p:cNvCxnSpPr>
            <a:cxnSpLocks/>
          </p:cNvCxnSpPr>
          <p:nvPr/>
        </p:nvCxnSpPr>
        <p:spPr>
          <a:xfrm>
            <a:off x="4201031" y="1931791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1A3A285C-834D-DCEC-5380-69407F46FD3F}"/>
              </a:ext>
            </a:extLst>
          </p:cNvPr>
          <p:cNvCxnSpPr>
            <a:cxnSpLocks/>
          </p:cNvCxnSpPr>
          <p:nvPr/>
        </p:nvCxnSpPr>
        <p:spPr>
          <a:xfrm>
            <a:off x="5443899" y="1968617"/>
            <a:ext cx="1" cy="26869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BCEFDA0-13CC-0309-E415-50A9C59B2777}"/>
              </a:ext>
            </a:extLst>
          </p:cNvPr>
          <p:cNvCxnSpPr>
            <a:cxnSpLocks/>
          </p:cNvCxnSpPr>
          <p:nvPr/>
        </p:nvCxnSpPr>
        <p:spPr>
          <a:xfrm flipH="1">
            <a:off x="7369390" y="4709312"/>
            <a:ext cx="505288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49CB5C1-AE5E-9A1B-0C8A-089939B0B1B2}"/>
              </a:ext>
            </a:extLst>
          </p:cNvPr>
          <p:cNvSpPr txBox="1"/>
          <p:nvPr/>
        </p:nvSpPr>
        <p:spPr>
          <a:xfrm>
            <a:off x="7939387" y="4539996"/>
            <a:ext cx="236601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/>
              <a:t>MQTT Communication Channel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415396D-9C53-1587-417D-9A32007E22A8}"/>
              </a:ext>
            </a:extLst>
          </p:cNvPr>
          <p:cNvSpPr txBox="1"/>
          <p:nvPr/>
        </p:nvSpPr>
        <p:spPr>
          <a:xfrm>
            <a:off x="3233101" y="4116874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EC0B4D5-E208-DCAB-B095-19C55FDDADF4}"/>
              </a:ext>
            </a:extLst>
          </p:cNvPr>
          <p:cNvSpPr txBox="1"/>
          <p:nvPr/>
        </p:nvSpPr>
        <p:spPr>
          <a:xfrm>
            <a:off x="4395045" y="1889667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20000"/>
                    <a:lumOff val="80000"/>
                  </a:schemeClr>
                </a:solidFill>
              </a:rPr>
              <a:t>MQTT Client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4BFA4F3-5EF4-46A0-0227-93E0F59487AB}"/>
              </a:ext>
            </a:extLst>
          </p:cNvPr>
          <p:cNvSpPr txBox="1"/>
          <p:nvPr/>
        </p:nvSpPr>
        <p:spPr>
          <a:xfrm>
            <a:off x="3965025" y="3203835"/>
            <a:ext cx="10434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100" b="1" dirty="0">
                <a:solidFill>
                  <a:schemeClr val="accent4">
                    <a:lumMod val="75000"/>
                  </a:schemeClr>
                </a:solidFill>
              </a:rPr>
              <a:t>MQTT Client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73D2FF-9E4E-AB67-962A-FAB6F39B7120}"/>
              </a:ext>
            </a:extLst>
          </p:cNvPr>
          <p:cNvSpPr txBox="1"/>
          <p:nvPr/>
        </p:nvSpPr>
        <p:spPr>
          <a:xfrm>
            <a:off x="7419914" y="3600000"/>
            <a:ext cx="2609906" cy="646331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publish the data to the broker server</a:t>
            </a:r>
            <a:endParaRPr lang="en-SG" sz="1200" b="1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A9A1C01-9B9C-82AD-6BDE-BDE5978CC6B5}"/>
              </a:ext>
            </a:extLst>
          </p:cNvPr>
          <p:cNvCxnSpPr>
            <a:cxnSpLocks/>
            <a:stCxn id="110" idx="1"/>
            <a:endCxn id="12" idx="3"/>
          </p:cNvCxnSpPr>
          <p:nvPr/>
        </p:nvCxnSpPr>
        <p:spPr>
          <a:xfrm rot="10800000">
            <a:off x="7042448" y="3527944"/>
            <a:ext cx="377467" cy="39522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59F7EB0E-EC13-D766-51E9-5DA6BC03650F}"/>
              </a:ext>
            </a:extLst>
          </p:cNvPr>
          <p:cNvCxnSpPr>
            <a:cxnSpLocks/>
            <a:stCxn id="110" idx="1"/>
            <a:endCxn id="4" idx="3"/>
          </p:cNvCxnSpPr>
          <p:nvPr/>
        </p:nvCxnSpPr>
        <p:spPr>
          <a:xfrm rot="10800000" flipV="1">
            <a:off x="7042448" y="3923165"/>
            <a:ext cx="377467" cy="60500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82619E8-0251-109B-BCA4-DE8EA01FA204}"/>
              </a:ext>
            </a:extLst>
          </p:cNvPr>
          <p:cNvSpPr txBox="1"/>
          <p:nvPr/>
        </p:nvSpPr>
        <p:spPr>
          <a:xfrm>
            <a:off x="7447747" y="1406318"/>
            <a:ext cx="2582073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Client connection interface lib to subscribe the data from the broker server</a:t>
            </a:r>
            <a:endParaRPr lang="en-SG" sz="1200" b="1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DE2AB975-86C3-2B7C-54C1-542288DBAB6F}"/>
              </a:ext>
            </a:extLst>
          </p:cNvPr>
          <p:cNvCxnSpPr>
            <a:cxnSpLocks/>
            <a:stCxn id="117" idx="1"/>
            <a:endCxn id="57" idx="3"/>
          </p:cNvCxnSpPr>
          <p:nvPr/>
        </p:nvCxnSpPr>
        <p:spPr>
          <a:xfrm rot="10800000" flipV="1">
            <a:off x="6591155" y="1821817"/>
            <a:ext cx="856593" cy="88901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802DB019-A146-1A4B-4854-57629F991AAD}"/>
              </a:ext>
            </a:extLst>
          </p:cNvPr>
          <p:cNvCxnSpPr>
            <a:cxnSpLocks/>
            <a:endCxn id="79" idx="3"/>
          </p:cNvCxnSpPr>
          <p:nvPr/>
        </p:nvCxnSpPr>
        <p:spPr>
          <a:xfrm flipH="1">
            <a:off x="7042448" y="1716347"/>
            <a:ext cx="41729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D2558A6D-7D2D-10D8-0FFF-801D6B589E13}"/>
              </a:ext>
            </a:extLst>
          </p:cNvPr>
          <p:cNvCxnSpPr>
            <a:cxnSpLocks/>
          </p:cNvCxnSpPr>
          <p:nvPr/>
        </p:nvCxnSpPr>
        <p:spPr>
          <a:xfrm flipH="1" flipV="1">
            <a:off x="3547453" y="2835633"/>
            <a:ext cx="3821936" cy="24844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1B9340DC-E70B-E0E9-7AAD-CA28DAB1BBDA}"/>
              </a:ext>
            </a:extLst>
          </p:cNvPr>
          <p:cNvSpPr txBox="1"/>
          <p:nvPr/>
        </p:nvSpPr>
        <p:spPr>
          <a:xfrm>
            <a:off x="7369389" y="2517921"/>
            <a:ext cx="2660435" cy="830997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200" b="1" dirty="0"/>
              <a:t>Provide The MQTT Broker interface lib to save the data execution the control logic and handle all the data publish and subscribe request</a:t>
            </a:r>
            <a:endParaRPr lang="en-SG" sz="1200" b="1" dirty="0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538CD5-1E8F-CBEA-B39C-63746835BAA1}"/>
              </a:ext>
            </a:extLst>
          </p:cNvPr>
          <p:cNvSpPr txBox="1"/>
          <p:nvPr/>
        </p:nvSpPr>
        <p:spPr>
          <a:xfrm>
            <a:off x="1398824" y="790295"/>
            <a:ext cx="89065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Different OT levels MQTT data follow with related Broker server and Client device configuration  </a:t>
            </a:r>
          </a:p>
        </p:txBody>
      </p:sp>
    </p:spTree>
    <p:extLst>
      <p:ext uri="{BB962C8B-B14F-4D97-AF65-F5344CB8AC3E}">
        <p14:creationId xmlns:p14="http://schemas.microsoft.com/office/powerpoint/2010/main" val="36961908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128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2026-06-03T06:21:53Z</dcterms:created>
  <dcterms:modified xsi:type="dcterms:W3CDTF">2026-06-03T06:54:14Z</dcterms:modified>
</cp:coreProperties>
</file>