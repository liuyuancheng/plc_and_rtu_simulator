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7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38F6C-DD49-E6C4-A8C1-9D8B327BD6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00039B-C899-6C20-2AC6-CF090B83B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06941-7F80-9114-0B27-6B73EB289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11/12/2025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E4B4D-6422-F24B-DC04-5FB04AC6E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047B0-C257-A2A4-96DF-85B24F126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63140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F1620-18AA-ECE0-7D52-6C0ADFC90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17B04-E194-E4A2-3530-BCB7B6792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4F8F0-180B-9DB4-7D3F-9B08BF234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11/12/2025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A53A1-9323-F9E2-A5C4-C367F0829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076B5-99DA-E51B-067E-53AFABCB9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42104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898A-F2B4-FAED-A343-7D2818E46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C875FF-CF6A-BAAA-E513-AB7BA31E5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C6A9C-90BF-B959-4237-47B6404F8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11/12/2025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A0D4F-B941-C81E-F937-659802F6B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9D32C-3276-0564-C0B0-31D576CF4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69802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754C4-A9D5-3F53-C3B1-5DB06E14A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6767D-1A1D-0440-6F00-7E3E2CC3CF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1DD5F-39AF-DA6B-04EB-32CFB2559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5CFF3A-4A67-78AD-4888-CC3157FDA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11/12/2025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6B438B-EE01-F471-70F0-264F07088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8137A-9575-F372-80B4-498647219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1987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86AE5-5B31-CF7E-3E05-FDF6CB856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6256D-A787-F821-80D5-BE667C4AE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C564E8-DB3C-2C31-B7E0-51231596BE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FF7B4B-2AFF-E0AD-DC3B-A714C6F1CC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B43-17D1-88A4-0890-FE44598C9E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9E92FB-F65D-3F64-85C8-1C1FB00A6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11/12/2025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77BEC6-01DC-9BB3-F9A4-7CDAC289B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C4A87F-25A0-5166-8528-F1B279907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46410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477AB-6761-6049-75A1-844563FD0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E36590-09F9-5216-3E2B-F2A9DC4E9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11/12/2025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1DC0F4-851A-B5F4-9C2F-2566B52D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BC788-6650-08B5-153D-2981CE156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2969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67D8B2-C409-B7EC-77A9-1A82952B2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11/12/2025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8BC897-DEF7-F338-8869-386871635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B9604-F622-F171-FE51-BC5282DE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80648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69F1-F4BC-F1D8-16FE-276433A2B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F2B6-05E8-DE23-29B7-1B80F2F8C1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5AC3EE-FB06-7B9A-9BD0-4FE0EF79E8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061F73-A553-EE0B-BBF2-6B0C6FEAF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11/12/2025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C75C2-7205-4A36-3E14-EFAF10E3D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AA9C2A-32B3-ECC0-37E3-E28E712D8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9835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1CB96-147F-2CCE-CD5C-65C3CE7DC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C46E4-A597-AF69-CB98-25C1282545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2B61AD-95BC-8E62-B457-932A677D8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62ED2E-4E76-787C-EB12-87704017A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11/12/2025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B8AF81-B4E1-BAE8-92E6-6AEE5A03E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7BEF4D-D41B-9B21-1A4A-7A57658BC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5748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2E400-870C-A81B-F399-8F5C8783F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30EE61-20D6-B3AA-7988-2B63CBC8D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CA7BC-035F-119B-097F-E469AD612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11/12/2025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8E811-A138-C9E2-3425-8627B8D71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C5A95-C597-ED14-7CE9-9488981D6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29491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4F920B-57D2-680B-91DB-6C2C6C9926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C9764E-24E3-7A34-3D59-017ADDCCA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BD2F69-656F-75D9-F2D2-B345DC9D4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2A3BA-B397-446C-B373-EC30C6B5623D}" type="datetimeFigureOut">
              <a:rPr lang="en-SG" smtClean="0"/>
              <a:t>11/12/2025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96C4BA-B109-B85C-9E29-88DF7B67E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1E15E-71C5-3CF5-32B3-BE14E3F7F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07302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7E0094-20DB-FA33-623A-E867DCDA6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F8D05-DC43-2649-8E85-B96448EF0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16F8E-EFB8-46DE-0C63-45DF7CD864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72A3BA-B397-446C-B373-EC30C6B5623D}" type="datetimeFigureOut">
              <a:rPr lang="en-SG" smtClean="0"/>
              <a:t>11/12/2025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E7D99D-7DBB-A859-EDF2-70BD458C0E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19C2DD-D460-1FF6-CA0C-A46875C1FB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B1517E-496F-4C5D-BFCB-B5A45BF6DD7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20899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computer network&#10;&#10;Description automatically generated with medium confidence">
            <a:extLst>
              <a:ext uri="{FF2B5EF4-FFF2-40B4-BE49-F238E27FC236}">
                <a16:creationId xmlns:a16="http://schemas.microsoft.com/office/drawing/2014/main" id="{1E2D1F50-8F6C-973B-2032-BD3AF0BD30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1" t="40830" r="2289" b="4449"/>
          <a:stretch/>
        </p:blipFill>
        <p:spPr>
          <a:xfrm>
            <a:off x="3714068" y="1805940"/>
            <a:ext cx="7416703" cy="324612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45E4F8E-2DBD-018D-ECED-17EB9DF12DD1}"/>
              </a:ext>
            </a:extLst>
          </p:cNvPr>
          <p:cNvCxnSpPr>
            <a:cxnSpLocks/>
          </p:cNvCxnSpPr>
          <p:nvPr/>
        </p:nvCxnSpPr>
        <p:spPr>
          <a:xfrm>
            <a:off x="3502310" y="4436284"/>
            <a:ext cx="19986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E963E89-F205-BA35-74CC-607A9DF35AE0}"/>
              </a:ext>
            </a:extLst>
          </p:cNvPr>
          <p:cNvSpPr txBox="1"/>
          <p:nvPr/>
        </p:nvSpPr>
        <p:spPr>
          <a:xfrm>
            <a:off x="1233521" y="4218494"/>
            <a:ext cx="2268789" cy="83099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connection interface lib for user to connect to the virtual or physical level0 OT device </a:t>
            </a:r>
            <a:endParaRPr lang="en-SG" sz="1200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50C818C-A0BD-B2DF-200A-F0C367616485}"/>
              </a:ext>
            </a:extLst>
          </p:cNvPr>
          <p:cNvCxnSpPr>
            <a:cxnSpLocks/>
          </p:cNvCxnSpPr>
          <p:nvPr/>
        </p:nvCxnSpPr>
        <p:spPr>
          <a:xfrm>
            <a:off x="3502310" y="3883763"/>
            <a:ext cx="2166970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4C5B4BB-87CF-1FCB-7CDF-8B274EF9EA18}"/>
              </a:ext>
            </a:extLst>
          </p:cNvPr>
          <p:cNvSpPr txBox="1"/>
          <p:nvPr/>
        </p:nvSpPr>
        <p:spPr>
          <a:xfrm>
            <a:off x="1234093" y="3051405"/>
            <a:ext cx="2255863" cy="101566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PLC, IED and RTU simulation program with </a:t>
            </a: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</a:rPr>
              <a:t>OPC-UA-TCP server </a:t>
            </a:r>
            <a:r>
              <a:rPr lang="en-US" sz="1200" b="1" dirty="0"/>
              <a:t>for user to build different Level1 OT field controller </a:t>
            </a:r>
            <a:endParaRPr lang="en-SG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02E59-111C-294F-5175-27BD18132836}"/>
              </a:ext>
            </a:extLst>
          </p:cNvPr>
          <p:cNvSpPr txBox="1"/>
          <p:nvPr/>
        </p:nvSpPr>
        <p:spPr>
          <a:xfrm>
            <a:off x="1233521" y="1833031"/>
            <a:ext cx="2250790" cy="1015663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</a:t>
            </a: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OPC-UA-TCP client </a:t>
            </a:r>
            <a:r>
              <a:rPr lang="en-US" sz="1200" b="1" dirty="0"/>
              <a:t>Communication interface for user to build their own HMI and Operation management Zone data base.</a:t>
            </a:r>
            <a:endParaRPr lang="en-SG" sz="1200" b="1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F62C02A-C721-7E5B-D44E-EEFF1F8F7138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484311" y="2340863"/>
            <a:ext cx="1798053" cy="1392388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8FF1F7-AC92-4C29-A721-6EFB393E30F0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484311" y="2340863"/>
            <a:ext cx="1798053" cy="737417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BABED4C-C9CF-0FC8-A8A9-EEC49C036B83}"/>
              </a:ext>
            </a:extLst>
          </p:cNvPr>
          <p:cNvSpPr txBox="1"/>
          <p:nvPr/>
        </p:nvSpPr>
        <p:spPr>
          <a:xfrm>
            <a:off x="5831172" y="3891658"/>
            <a:ext cx="529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PLC</a:t>
            </a:r>
            <a:endParaRPr lang="en-SG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B7CE16-06AA-BEFB-17CF-DCDF8E58DDF6}"/>
              </a:ext>
            </a:extLst>
          </p:cNvPr>
          <p:cNvSpPr txBox="1"/>
          <p:nvPr/>
        </p:nvSpPr>
        <p:spPr>
          <a:xfrm>
            <a:off x="6892764" y="3891657"/>
            <a:ext cx="529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RTU</a:t>
            </a:r>
            <a:endParaRPr lang="en-SG" sz="12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ED0AB5-FBCF-B005-E1D2-67ABC228D9DC}"/>
              </a:ext>
            </a:extLst>
          </p:cNvPr>
          <p:cNvSpPr txBox="1"/>
          <p:nvPr/>
        </p:nvSpPr>
        <p:spPr>
          <a:xfrm>
            <a:off x="5392260" y="3475651"/>
            <a:ext cx="12313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Client 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08DEDB-B997-9BD8-5962-C4E36011BB2C}"/>
              </a:ext>
            </a:extLst>
          </p:cNvPr>
          <p:cNvSpPr txBox="1"/>
          <p:nvPr/>
        </p:nvSpPr>
        <p:spPr>
          <a:xfrm>
            <a:off x="7879037" y="3456252"/>
            <a:ext cx="30094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Electrical Signal Simulation Link Clients</a:t>
            </a:r>
            <a:endParaRPr lang="en-SG" sz="1200" b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940CA5B-C451-18EF-D9B0-A8480118E5E7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7295308" y="3594752"/>
            <a:ext cx="583729" cy="59631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0F8F5B0-C633-6E34-DA7E-63C1BC3D6D7D}"/>
              </a:ext>
            </a:extLst>
          </p:cNvPr>
          <p:cNvSpPr txBox="1"/>
          <p:nvPr/>
        </p:nvSpPr>
        <p:spPr>
          <a:xfrm>
            <a:off x="7879037" y="4483061"/>
            <a:ext cx="30094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Electrical Signal Simulation Link Server</a:t>
            </a:r>
            <a:endParaRPr lang="en-SG" sz="1200" b="1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0759DFA-D647-0324-8D7F-7AAFBCB40364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7295308" y="4621561"/>
            <a:ext cx="58372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B092182-820F-D028-6797-81BA0D01D5A7}"/>
              </a:ext>
            </a:extLst>
          </p:cNvPr>
          <p:cNvCxnSpPr>
            <a:cxnSpLocks/>
          </p:cNvCxnSpPr>
          <p:nvPr/>
        </p:nvCxnSpPr>
        <p:spPr>
          <a:xfrm flipV="1">
            <a:off x="5431536" y="2807014"/>
            <a:ext cx="0" cy="364525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EF6315D-7C5A-4E44-053C-ED174BF99EA4}"/>
              </a:ext>
            </a:extLst>
          </p:cNvPr>
          <p:cNvCxnSpPr>
            <a:cxnSpLocks/>
          </p:cNvCxnSpPr>
          <p:nvPr/>
        </p:nvCxnSpPr>
        <p:spPr>
          <a:xfrm>
            <a:off x="5431536" y="2791055"/>
            <a:ext cx="3218688" cy="1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8DD0457C-8A6B-8BCC-803B-F4704A620A89}"/>
              </a:ext>
            </a:extLst>
          </p:cNvPr>
          <p:cNvCxnSpPr/>
          <p:nvPr/>
        </p:nvCxnSpPr>
        <p:spPr>
          <a:xfrm rot="5400000" flipH="1" flipV="1">
            <a:off x="7917637" y="2460804"/>
            <a:ext cx="450191" cy="210312"/>
          </a:xfrm>
          <a:prstGeom prst="bentConnector3">
            <a:avLst>
              <a:gd name="adj1" fmla="val 98747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2F45F6A8-8726-4D1C-74D3-8D14CF2D550B}"/>
              </a:ext>
            </a:extLst>
          </p:cNvPr>
          <p:cNvCxnSpPr/>
          <p:nvPr/>
        </p:nvCxnSpPr>
        <p:spPr>
          <a:xfrm rot="5400000" flipH="1" flipV="1">
            <a:off x="8557718" y="2460803"/>
            <a:ext cx="450191" cy="210312"/>
          </a:xfrm>
          <a:prstGeom prst="bentConnector3">
            <a:avLst>
              <a:gd name="adj1" fmla="val 98747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955C0FD-45E4-F69B-EC1D-FA5A0F5D974A}"/>
              </a:ext>
            </a:extLst>
          </p:cNvPr>
          <p:cNvSpPr txBox="1"/>
          <p:nvPr/>
        </p:nvSpPr>
        <p:spPr>
          <a:xfrm>
            <a:off x="5392260" y="3083268"/>
            <a:ext cx="12313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BC82DF-9349-2E0F-3BDB-FD4011F39E1E}"/>
              </a:ext>
            </a:extLst>
          </p:cNvPr>
          <p:cNvSpPr txBox="1"/>
          <p:nvPr/>
        </p:nvSpPr>
        <p:spPr>
          <a:xfrm>
            <a:off x="4874086" y="3954318"/>
            <a:ext cx="9257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EC27E2-2DD5-1733-C42C-5913DAD2EF57}"/>
              </a:ext>
            </a:extLst>
          </p:cNvPr>
          <p:cNvSpPr txBox="1"/>
          <p:nvPr/>
        </p:nvSpPr>
        <p:spPr>
          <a:xfrm>
            <a:off x="6196114" y="3813694"/>
            <a:ext cx="9257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Server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D3A163-D27B-FCA5-FA25-D6DCCF26843D}"/>
              </a:ext>
            </a:extLst>
          </p:cNvPr>
          <p:cNvSpPr txBox="1"/>
          <p:nvPr/>
        </p:nvSpPr>
        <p:spPr>
          <a:xfrm>
            <a:off x="7000907" y="3228945"/>
            <a:ext cx="9620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</a:rPr>
              <a:t>OPC-UA Client </a:t>
            </a:r>
            <a:endParaRPr lang="en-SG" sz="1000" b="1" dirty="0">
              <a:solidFill>
                <a:srgbClr val="C0000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41740A-70ED-D6DD-2198-13A361E923D7}"/>
              </a:ext>
            </a:extLst>
          </p:cNvPr>
          <p:cNvSpPr txBox="1"/>
          <p:nvPr/>
        </p:nvSpPr>
        <p:spPr>
          <a:xfrm>
            <a:off x="7783151" y="2041245"/>
            <a:ext cx="110481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OPC-UA Client </a:t>
            </a:r>
            <a:endParaRPr lang="en-SG" sz="1000" b="1" dirty="0">
              <a:solidFill>
                <a:srgbClr val="FF00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8384C8-B196-384D-6117-E7FCA38D0824}"/>
              </a:ext>
            </a:extLst>
          </p:cNvPr>
          <p:cNvSpPr txBox="1"/>
          <p:nvPr/>
        </p:nvSpPr>
        <p:spPr>
          <a:xfrm>
            <a:off x="8695944" y="2027155"/>
            <a:ext cx="13350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OPC-UA Client </a:t>
            </a:r>
            <a:endParaRPr lang="en-SG" sz="1000" b="1" dirty="0">
              <a:solidFill>
                <a:srgbClr val="FF0000"/>
              </a:solidFill>
            </a:endParaRP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934C0A1-5BF1-E68B-48A4-50314D4BE06C}"/>
              </a:ext>
            </a:extLst>
          </p:cNvPr>
          <p:cNvCxnSpPr>
            <a:cxnSpLocks/>
          </p:cNvCxnSpPr>
          <p:nvPr/>
        </p:nvCxnSpPr>
        <p:spPr>
          <a:xfrm rot="16200000" flipV="1">
            <a:off x="5274171" y="3653422"/>
            <a:ext cx="457612" cy="263041"/>
          </a:xfrm>
          <a:prstGeom prst="bentConnector3">
            <a:avLst>
              <a:gd name="adj1" fmla="val 2043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C686EED-5585-AEBC-C0F3-C1CCE34684D1}"/>
              </a:ext>
            </a:extLst>
          </p:cNvPr>
          <p:cNvSpPr txBox="1"/>
          <p:nvPr/>
        </p:nvSpPr>
        <p:spPr>
          <a:xfrm>
            <a:off x="1233521" y="1418764"/>
            <a:ext cx="101080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Different OT levels OPC-UA data follow with related OPC-UA-TCP server and client configuration  </a:t>
            </a:r>
          </a:p>
        </p:txBody>
      </p:sp>
    </p:spTree>
    <p:extLst>
      <p:ext uri="{BB962C8B-B14F-4D97-AF65-F5344CB8AC3E}">
        <p14:creationId xmlns:p14="http://schemas.microsoft.com/office/powerpoint/2010/main" val="2569307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A18B5A0A-6969-7F67-02FE-B5FCC3964F98}"/>
              </a:ext>
            </a:extLst>
          </p:cNvPr>
          <p:cNvSpPr/>
          <p:nvPr/>
        </p:nvSpPr>
        <p:spPr>
          <a:xfrm>
            <a:off x="8689344" y="1609745"/>
            <a:ext cx="3211175" cy="31036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962A4AD-77BC-3C4F-146F-68E995CC99B8}"/>
              </a:ext>
            </a:extLst>
          </p:cNvPr>
          <p:cNvSpPr/>
          <p:nvPr/>
        </p:nvSpPr>
        <p:spPr>
          <a:xfrm>
            <a:off x="4522296" y="1578985"/>
            <a:ext cx="3579817" cy="47620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94F508-0E63-A8B0-4AFC-01A2330280AE}"/>
              </a:ext>
            </a:extLst>
          </p:cNvPr>
          <p:cNvCxnSpPr>
            <a:cxnSpLocks/>
          </p:cNvCxnSpPr>
          <p:nvPr/>
        </p:nvCxnSpPr>
        <p:spPr>
          <a:xfrm>
            <a:off x="4209464" y="1331614"/>
            <a:ext cx="0" cy="511421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3F286D-9BD1-56BB-59F9-6B6E3B4B205E}"/>
              </a:ext>
            </a:extLst>
          </p:cNvPr>
          <p:cNvSpPr/>
          <p:nvPr/>
        </p:nvSpPr>
        <p:spPr>
          <a:xfrm>
            <a:off x="356119" y="1578985"/>
            <a:ext cx="3476351" cy="4762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AA913-A29B-D91E-B019-B340E80FDE59}"/>
              </a:ext>
            </a:extLst>
          </p:cNvPr>
          <p:cNvSpPr txBox="1"/>
          <p:nvPr/>
        </p:nvSpPr>
        <p:spPr>
          <a:xfrm>
            <a:off x="307493" y="1104992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114E0-A6D3-730A-DA37-3038D4FDF4DE}"/>
              </a:ext>
            </a:extLst>
          </p:cNvPr>
          <p:cNvSpPr/>
          <p:nvPr/>
        </p:nvSpPr>
        <p:spPr>
          <a:xfrm>
            <a:off x="3253101" y="4219379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ACARS Channel to PLC input </a:t>
            </a:r>
            <a:endParaRPr lang="en-SG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E869A-F5A6-2EEE-EB85-695572B0278F}"/>
              </a:ext>
            </a:extLst>
          </p:cNvPr>
          <p:cNvSpPr txBox="1"/>
          <p:nvPr/>
        </p:nvSpPr>
        <p:spPr>
          <a:xfrm>
            <a:off x="356119" y="1594256"/>
            <a:ext cx="3434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Runway Light Physical World Simulator 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6169345-CD59-858A-D168-0175864E63EE}"/>
              </a:ext>
            </a:extLst>
          </p:cNvPr>
          <p:cNvCxnSpPr>
            <a:cxnSpLocks/>
          </p:cNvCxnSpPr>
          <p:nvPr/>
        </p:nvCxnSpPr>
        <p:spPr>
          <a:xfrm>
            <a:off x="733113" y="3938816"/>
            <a:ext cx="0" cy="20595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973C2-7D9E-5CA7-BDC3-BF564838FC68}"/>
              </a:ext>
            </a:extLst>
          </p:cNvPr>
          <p:cNvSpPr/>
          <p:nvPr/>
        </p:nvSpPr>
        <p:spPr>
          <a:xfrm>
            <a:off x="1050102" y="4347286"/>
            <a:ext cx="1501835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Airport Traffic Tracker</a:t>
            </a:r>
            <a:endParaRPr lang="en-SG" sz="105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AA0F87-D125-13AC-C43F-CF9FC1571D60}"/>
              </a:ext>
            </a:extLst>
          </p:cNvPr>
          <p:cNvSpPr/>
          <p:nvPr/>
        </p:nvSpPr>
        <p:spPr>
          <a:xfrm>
            <a:off x="1055585" y="4833537"/>
            <a:ext cx="1496352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Weather Info Sensor</a:t>
            </a:r>
            <a:endParaRPr lang="en-SG" sz="105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A68DBE-A868-FFB8-EB9E-5D0BFFA821FF}"/>
              </a:ext>
            </a:extLst>
          </p:cNvPr>
          <p:cNvSpPr/>
          <p:nvPr/>
        </p:nvSpPr>
        <p:spPr>
          <a:xfrm>
            <a:off x="1048952" y="5272421"/>
            <a:ext cx="1496352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Airspace info Tracker</a:t>
            </a:r>
            <a:endParaRPr lang="en-SG" sz="105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39DF91-A8B2-730E-FFA1-BDF0D574BBD9}"/>
              </a:ext>
            </a:extLst>
          </p:cNvPr>
          <p:cNvSpPr/>
          <p:nvPr/>
        </p:nvSpPr>
        <p:spPr>
          <a:xfrm>
            <a:off x="1005377" y="5843758"/>
            <a:ext cx="2076196" cy="30175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Grand Station ADS-B Antenna </a:t>
            </a:r>
            <a:endParaRPr lang="en-SG" sz="105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289AE06-8109-79F3-E31D-63C376FAA7A6}"/>
              </a:ext>
            </a:extLst>
          </p:cNvPr>
          <p:cNvCxnSpPr>
            <a:cxnSpLocks/>
          </p:cNvCxnSpPr>
          <p:nvPr/>
        </p:nvCxnSpPr>
        <p:spPr>
          <a:xfrm>
            <a:off x="733113" y="4498162"/>
            <a:ext cx="31698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9428395-9AC9-B7C7-6DFF-81BCFA3EF1FE}"/>
              </a:ext>
            </a:extLst>
          </p:cNvPr>
          <p:cNvCxnSpPr>
            <a:cxnSpLocks/>
          </p:cNvCxnSpPr>
          <p:nvPr/>
        </p:nvCxnSpPr>
        <p:spPr>
          <a:xfrm flipV="1">
            <a:off x="733113" y="4984412"/>
            <a:ext cx="316988" cy="14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6792B7D-4A52-604D-DE58-ECACBF938F9B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733113" y="5423296"/>
            <a:ext cx="315839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268C3D-7220-04E8-B292-2B0A15542367}"/>
              </a:ext>
            </a:extLst>
          </p:cNvPr>
          <p:cNvCxnSpPr>
            <a:cxnSpLocks/>
          </p:cNvCxnSpPr>
          <p:nvPr/>
        </p:nvCxnSpPr>
        <p:spPr>
          <a:xfrm>
            <a:off x="723969" y="5989172"/>
            <a:ext cx="27226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3A7C4FE-59D4-DB55-6480-BA0AD44A69D7}"/>
              </a:ext>
            </a:extLst>
          </p:cNvPr>
          <p:cNvSpPr txBox="1"/>
          <p:nvPr/>
        </p:nvSpPr>
        <p:spPr>
          <a:xfrm>
            <a:off x="4557058" y="1609745"/>
            <a:ext cx="343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OPC-UA PLC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29B4C-04C6-3BB3-AD78-7DE58C8D2B6D}"/>
              </a:ext>
            </a:extLst>
          </p:cNvPr>
          <p:cNvSpPr txBox="1"/>
          <p:nvPr/>
        </p:nvSpPr>
        <p:spPr>
          <a:xfrm>
            <a:off x="4465979" y="1077081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ABB435E-D1C5-2A1D-D5B6-FF9D65A294BC}"/>
              </a:ext>
            </a:extLst>
          </p:cNvPr>
          <p:cNvSpPr/>
          <p:nvPr/>
        </p:nvSpPr>
        <p:spPr>
          <a:xfrm>
            <a:off x="5174675" y="244899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/>
              <a:t>ar_Int16</a:t>
            </a: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E7DEB4B8-1FDC-0C57-7FF9-3EFB3B9A11F4}"/>
              </a:ext>
            </a:extLst>
          </p:cNvPr>
          <p:cNvCxnSpPr>
            <a:cxnSpLocks/>
            <a:stCxn id="7" idx="1"/>
            <a:endCxn id="16" idx="3"/>
          </p:cNvCxnSpPr>
          <p:nvPr/>
        </p:nvCxnSpPr>
        <p:spPr>
          <a:xfrm rot="10800000" flipV="1">
            <a:off x="2545305" y="4434207"/>
            <a:ext cx="707797" cy="989089"/>
          </a:xfrm>
          <a:prstGeom prst="bentConnector3">
            <a:avLst>
              <a:gd name="adj1" fmla="val 65503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C8D18B1-2871-3609-9064-4C63D393655B}"/>
              </a:ext>
            </a:extLst>
          </p:cNvPr>
          <p:cNvCxnSpPr>
            <a:cxnSpLocks/>
          </p:cNvCxnSpPr>
          <p:nvPr/>
        </p:nvCxnSpPr>
        <p:spPr>
          <a:xfrm>
            <a:off x="2551937" y="4464580"/>
            <a:ext cx="214954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01E8581F-D3D3-6078-F256-4DE00D9D11B5}"/>
              </a:ext>
            </a:extLst>
          </p:cNvPr>
          <p:cNvSpPr txBox="1"/>
          <p:nvPr/>
        </p:nvSpPr>
        <p:spPr>
          <a:xfrm>
            <a:off x="4544774" y="2052508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input variables</a:t>
            </a:r>
            <a:endParaRPr lang="en-SG" sz="1200" b="1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C6982E0-F568-FDEB-F36D-A8A4B4ECAAC2}"/>
              </a:ext>
            </a:extLst>
          </p:cNvPr>
          <p:cNvSpPr/>
          <p:nvPr/>
        </p:nvSpPr>
        <p:spPr>
          <a:xfrm>
            <a:off x="6477215" y="2834949"/>
            <a:ext cx="1193597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UA-Name Space</a:t>
            </a:r>
            <a:endParaRPr lang="en-SG" sz="105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EF1424-FF7D-72FE-F53F-C306F472F681}"/>
              </a:ext>
            </a:extLst>
          </p:cNvPr>
          <p:cNvCxnSpPr>
            <a:cxnSpLocks/>
          </p:cNvCxnSpPr>
          <p:nvPr/>
        </p:nvCxnSpPr>
        <p:spPr>
          <a:xfrm>
            <a:off x="6285718" y="2135981"/>
            <a:ext cx="0" cy="3862335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B07DB28-A322-EE63-4405-11479194F6BA}"/>
              </a:ext>
            </a:extLst>
          </p:cNvPr>
          <p:cNvCxnSpPr/>
          <p:nvPr/>
        </p:nvCxnSpPr>
        <p:spPr>
          <a:xfrm>
            <a:off x="10645209" y="5938131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FE92F7D-928C-1178-B356-6B2C0362C822}"/>
              </a:ext>
            </a:extLst>
          </p:cNvPr>
          <p:cNvSpPr/>
          <p:nvPr/>
        </p:nvSpPr>
        <p:spPr>
          <a:xfrm>
            <a:off x="7103765" y="2183518"/>
            <a:ext cx="1193597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Server </a:t>
            </a:r>
            <a:endParaRPr lang="en-SG" sz="1050" b="1" dirty="0"/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EC21AE7-940A-A782-B415-D8135DE4BCD8}"/>
              </a:ext>
            </a:extLst>
          </p:cNvPr>
          <p:cNvCxnSpPr>
            <a:cxnSpLocks/>
          </p:cNvCxnSpPr>
          <p:nvPr/>
        </p:nvCxnSpPr>
        <p:spPr>
          <a:xfrm>
            <a:off x="8474892" y="1281995"/>
            <a:ext cx="0" cy="505906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A359336-8DCF-D73D-017F-3F3B60206625}"/>
              </a:ext>
            </a:extLst>
          </p:cNvPr>
          <p:cNvSpPr txBox="1"/>
          <p:nvPr/>
        </p:nvSpPr>
        <p:spPr>
          <a:xfrm>
            <a:off x="8725166" y="1660331"/>
            <a:ext cx="3048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SCADA HMI/Console Program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81F40CF-233A-6A23-E3ED-3D7D7080726B}"/>
              </a:ext>
            </a:extLst>
          </p:cNvPr>
          <p:cNvSpPr/>
          <p:nvPr/>
        </p:nvSpPr>
        <p:spPr>
          <a:xfrm>
            <a:off x="8864794" y="2192712"/>
            <a:ext cx="1145147" cy="3190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Client</a:t>
            </a:r>
            <a:endParaRPr lang="en-SG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83E1CEC-6EF2-2118-A6BD-8A8BB9AABEF5}"/>
              </a:ext>
            </a:extLst>
          </p:cNvPr>
          <p:cNvSpPr txBox="1"/>
          <p:nvPr/>
        </p:nvSpPr>
        <p:spPr>
          <a:xfrm>
            <a:off x="8624465" y="1104992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 OT Control Center (HQ)</a:t>
            </a:r>
            <a:endParaRPr lang="en-SG" sz="14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832DE67-645D-10F3-7277-C215577A5EE7}"/>
              </a:ext>
            </a:extLst>
          </p:cNvPr>
          <p:cNvSpPr txBox="1"/>
          <p:nvPr/>
        </p:nvSpPr>
        <p:spPr>
          <a:xfrm>
            <a:off x="8704261" y="1897490"/>
            <a:ext cx="1567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Periodic message</a:t>
            </a:r>
            <a:endParaRPr lang="en-SG" sz="1200" b="1" dirty="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E04E0445-5CB2-9692-08F8-3535A7295FBE}"/>
              </a:ext>
            </a:extLst>
          </p:cNvPr>
          <p:cNvSpPr/>
          <p:nvPr/>
        </p:nvSpPr>
        <p:spPr>
          <a:xfrm>
            <a:off x="10272221" y="2191007"/>
            <a:ext cx="1501314" cy="32074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Data Management Module </a:t>
            </a:r>
            <a:endParaRPr lang="en-SG" sz="105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876544-B632-5624-CE69-D0AEB4C1B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522" y="1897490"/>
            <a:ext cx="3286336" cy="176640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350E997-534A-3CB9-264F-6AAA1526C42B}"/>
              </a:ext>
            </a:extLst>
          </p:cNvPr>
          <p:cNvSpPr/>
          <p:nvPr/>
        </p:nvSpPr>
        <p:spPr>
          <a:xfrm>
            <a:off x="2505362" y="3648428"/>
            <a:ext cx="1000146" cy="29572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Plane ADS-B </a:t>
            </a:r>
            <a:endParaRPr lang="en-SG" sz="105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95BC8-B6C5-DB05-A7F1-2920CADF63BE}"/>
              </a:ext>
            </a:extLst>
          </p:cNvPr>
          <p:cNvSpPr/>
          <p:nvPr/>
        </p:nvSpPr>
        <p:spPr>
          <a:xfrm>
            <a:off x="548214" y="3643380"/>
            <a:ext cx="1000146" cy="295727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Tower ADS-B </a:t>
            </a:r>
            <a:endParaRPr lang="en-SG" sz="1050" b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9D46688-1AC1-5E09-9EFA-0FC4357EDAC5}"/>
              </a:ext>
            </a:extLst>
          </p:cNvPr>
          <p:cNvSpPr/>
          <p:nvPr/>
        </p:nvSpPr>
        <p:spPr>
          <a:xfrm>
            <a:off x="3273701" y="5338455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ACARS Channel to PLC output </a:t>
            </a:r>
            <a:endParaRPr lang="en-SG" sz="1050" b="1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6E59ED7-6BD5-D26D-9D32-64CCE0B9EACA}"/>
              </a:ext>
            </a:extLst>
          </p:cNvPr>
          <p:cNvCxnSpPr>
            <a:cxnSpLocks/>
          </p:cNvCxnSpPr>
          <p:nvPr/>
        </p:nvCxnSpPr>
        <p:spPr>
          <a:xfrm>
            <a:off x="2551937" y="4994825"/>
            <a:ext cx="259787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EEB276C-868D-11DD-662A-3D0349BC4CA8}"/>
              </a:ext>
            </a:extLst>
          </p:cNvPr>
          <p:cNvCxnSpPr>
            <a:cxnSpLocks/>
          </p:cNvCxnSpPr>
          <p:nvPr/>
        </p:nvCxnSpPr>
        <p:spPr>
          <a:xfrm flipH="1">
            <a:off x="2904550" y="3944155"/>
            <a:ext cx="0" cy="18647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57A3C19-291D-CCA6-29E3-85DE7A24D6E8}"/>
              </a:ext>
            </a:extLst>
          </p:cNvPr>
          <p:cNvCxnSpPr>
            <a:cxnSpLocks/>
          </p:cNvCxnSpPr>
          <p:nvPr/>
        </p:nvCxnSpPr>
        <p:spPr>
          <a:xfrm flipH="1" flipV="1">
            <a:off x="3004635" y="4434207"/>
            <a:ext cx="9610" cy="1374655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5F3C673-95C7-5367-E25F-92130ADBB6BE}"/>
              </a:ext>
            </a:extLst>
          </p:cNvPr>
          <p:cNvCxnSpPr>
            <a:cxnSpLocks/>
            <a:stCxn id="51" idx="1"/>
            <a:endCxn id="18" idx="3"/>
          </p:cNvCxnSpPr>
          <p:nvPr/>
        </p:nvCxnSpPr>
        <p:spPr>
          <a:xfrm rot="10800000" flipV="1">
            <a:off x="3081573" y="5553284"/>
            <a:ext cx="192128" cy="441350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76956C8-6322-DBA6-E532-757D510E700C}"/>
              </a:ext>
            </a:extLst>
          </p:cNvPr>
          <p:cNvCxnSpPr>
            <a:cxnSpLocks/>
          </p:cNvCxnSpPr>
          <p:nvPr/>
        </p:nvCxnSpPr>
        <p:spPr>
          <a:xfrm rot="5400000">
            <a:off x="4129184" y="3164829"/>
            <a:ext cx="1628741" cy="456830"/>
          </a:xfrm>
          <a:prstGeom prst="bentConnector3">
            <a:avLst>
              <a:gd name="adj1" fmla="val 595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7314ED-A24B-78BD-6DF1-870EFC18D658}"/>
              </a:ext>
            </a:extLst>
          </p:cNvPr>
          <p:cNvCxnSpPr>
            <a:cxnSpLocks/>
          </p:cNvCxnSpPr>
          <p:nvPr/>
        </p:nvCxnSpPr>
        <p:spPr>
          <a:xfrm>
            <a:off x="4708332" y="3003649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504067F-036D-8488-B2A9-19B3289F5FD6}"/>
              </a:ext>
            </a:extLst>
          </p:cNvPr>
          <p:cNvCxnSpPr>
            <a:cxnSpLocks/>
          </p:cNvCxnSpPr>
          <p:nvPr/>
        </p:nvCxnSpPr>
        <p:spPr>
          <a:xfrm>
            <a:off x="4719282" y="3387306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903CA6-DCDF-67E0-D26F-25C61F5DA2F5}"/>
              </a:ext>
            </a:extLst>
          </p:cNvPr>
          <p:cNvCxnSpPr>
            <a:cxnSpLocks/>
          </p:cNvCxnSpPr>
          <p:nvPr/>
        </p:nvCxnSpPr>
        <p:spPr>
          <a:xfrm>
            <a:off x="4708332" y="3796292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DEAD90-080D-4005-C58F-8A69A8681897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5574730" y="2744725"/>
            <a:ext cx="1" cy="147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219C6DC-E430-B27D-ED11-6AB2DA7DEA0C}"/>
              </a:ext>
            </a:extLst>
          </p:cNvPr>
          <p:cNvSpPr/>
          <p:nvPr/>
        </p:nvSpPr>
        <p:spPr>
          <a:xfrm>
            <a:off x="5182919" y="2855786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B23D02C-51CF-53CB-D764-1F98322F2306}"/>
              </a:ext>
            </a:extLst>
          </p:cNvPr>
          <p:cNvSpPr/>
          <p:nvPr/>
        </p:nvSpPr>
        <p:spPr>
          <a:xfrm>
            <a:off x="5182918" y="3261769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ar_Str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509DE3B-F28B-FCA3-D312-3F785FAAF02C}"/>
              </a:ext>
            </a:extLst>
          </p:cNvPr>
          <p:cNvSpPr/>
          <p:nvPr/>
        </p:nvSpPr>
        <p:spPr>
          <a:xfrm>
            <a:off x="5171968" y="367527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ar_Bool</a:t>
            </a:r>
            <a:endParaRPr lang="en-SG" sz="105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C33FDE4-EC23-3B71-1F53-0228AF9D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050" y="4245740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D4382C0D-5A0E-3734-305E-F4A8DA872770}"/>
              </a:ext>
            </a:extLst>
          </p:cNvPr>
          <p:cNvSpPr/>
          <p:nvPr/>
        </p:nvSpPr>
        <p:spPr>
          <a:xfrm>
            <a:off x="5212603" y="566669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08BC73F-EDA6-7485-AA00-2696C036303D}"/>
              </a:ext>
            </a:extLst>
          </p:cNvPr>
          <p:cNvCxnSpPr>
            <a:cxnSpLocks/>
          </p:cNvCxnSpPr>
          <p:nvPr/>
        </p:nvCxnSpPr>
        <p:spPr>
          <a:xfrm flipH="1">
            <a:off x="5576083" y="4936461"/>
            <a:ext cx="0" cy="747916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4110A911-EE3D-D61C-52DE-1AC39674F8F3}"/>
              </a:ext>
            </a:extLst>
          </p:cNvPr>
          <p:cNvSpPr/>
          <p:nvPr/>
        </p:nvSpPr>
        <p:spPr>
          <a:xfrm>
            <a:off x="5194408" y="5190591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ar_Str</a:t>
            </a:r>
            <a:endParaRPr lang="en-SG" sz="1050" b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9FA077B2-D8F0-4FEB-5C84-DD1A3C829F03}"/>
              </a:ext>
            </a:extLst>
          </p:cNvPr>
          <p:cNvCxnSpPr>
            <a:cxnSpLocks/>
            <a:stCxn id="55" idx="1"/>
            <a:endCxn id="51" idx="3"/>
          </p:cNvCxnSpPr>
          <p:nvPr/>
        </p:nvCxnSpPr>
        <p:spPr>
          <a:xfrm rot="10800000" flipV="1">
            <a:off x="4887426" y="5338454"/>
            <a:ext cx="306982" cy="214829"/>
          </a:xfrm>
          <a:prstGeom prst="bentConnector3">
            <a:avLst>
              <a:gd name="adj1" fmla="val 47021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155D77B1-08E9-154E-8C98-D672A18469DD}"/>
              </a:ext>
            </a:extLst>
          </p:cNvPr>
          <p:cNvCxnSpPr>
            <a:cxnSpLocks/>
            <a:stCxn id="64" idx="1"/>
            <a:endCxn id="51" idx="3"/>
          </p:cNvCxnSpPr>
          <p:nvPr/>
        </p:nvCxnSpPr>
        <p:spPr>
          <a:xfrm rot="10800000">
            <a:off x="4887427" y="5553284"/>
            <a:ext cx="325177" cy="261278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432798B-CADC-3199-B451-6D8F1746DCA4}"/>
              </a:ext>
            </a:extLst>
          </p:cNvPr>
          <p:cNvSpPr txBox="1"/>
          <p:nvPr/>
        </p:nvSpPr>
        <p:spPr>
          <a:xfrm>
            <a:off x="4533113" y="5980212"/>
            <a:ext cx="17389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output variables</a:t>
            </a:r>
            <a:endParaRPr lang="en-SG" sz="1200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F56E9E-54E0-748A-065D-3A8C30252DC5}"/>
              </a:ext>
            </a:extLst>
          </p:cNvPr>
          <p:cNvSpPr txBox="1"/>
          <p:nvPr/>
        </p:nvSpPr>
        <p:spPr>
          <a:xfrm>
            <a:off x="4544774" y="4897602"/>
            <a:ext cx="1221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Ladder Logic</a:t>
            </a:r>
            <a:endParaRPr lang="en-SG" sz="1200" b="1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4EA485A-2499-EECA-EC2F-672E4CE197B4}"/>
              </a:ext>
            </a:extLst>
          </p:cNvPr>
          <p:cNvSpPr/>
          <p:nvPr/>
        </p:nvSpPr>
        <p:spPr>
          <a:xfrm>
            <a:off x="6676218" y="3289066"/>
            <a:ext cx="82877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UA-Object</a:t>
            </a:r>
            <a:endParaRPr lang="en-SG" sz="1050" b="1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0E99037-4CB7-001B-4073-9328A9D72650}"/>
              </a:ext>
            </a:extLst>
          </p:cNvPr>
          <p:cNvCxnSpPr>
            <a:cxnSpLocks/>
          </p:cNvCxnSpPr>
          <p:nvPr/>
        </p:nvCxnSpPr>
        <p:spPr>
          <a:xfrm rot="10800000">
            <a:off x="6570204" y="3136433"/>
            <a:ext cx="87164" cy="298789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D5FE424-A367-3C28-9EC2-FEC206B51DD2}"/>
              </a:ext>
            </a:extLst>
          </p:cNvPr>
          <p:cNvSpPr/>
          <p:nvPr/>
        </p:nvSpPr>
        <p:spPr>
          <a:xfrm>
            <a:off x="6938027" y="3772894"/>
            <a:ext cx="72750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79411E-32F9-607A-B802-1701A9941E8F}"/>
              </a:ext>
            </a:extLst>
          </p:cNvPr>
          <p:cNvSpPr/>
          <p:nvPr/>
        </p:nvSpPr>
        <p:spPr>
          <a:xfrm>
            <a:off x="6960558" y="4246116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D9F366C-1167-ADB7-31FA-71CB1091E8E7}"/>
              </a:ext>
            </a:extLst>
          </p:cNvPr>
          <p:cNvSpPr txBox="1"/>
          <p:nvPr/>
        </p:nvSpPr>
        <p:spPr>
          <a:xfrm>
            <a:off x="6683350" y="3557496"/>
            <a:ext cx="14778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Input OW MD Flag</a:t>
            </a:r>
            <a:endParaRPr lang="en-SG" sz="1000" b="1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11925AC-536C-97AD-B446-13955461CC2E}"/>
              </a:ext>
            </a:extLst>
          </p:cNvPr>
          <p:cNvSpPr txBox="1"/>
          <p:nvPr/>
        </p:nvSpPr>
        <p:spPr>
          <a:xfrm>
            <a:off x="6684119" y="4048950"/>
            <a:ext cx="13619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output OW MD Flag</a:t>
            </a:r>
            <a:endParaRPr lang="en-SG" sz="1000" b="1" dirty="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5BB47A3-EA29-EE6A-82C2-B2AA8E4FC2D3}"/>
              </a:ext>
            </a:extLst>
          </p:cNvPr>
          <p:cNvCxnSpPr>
            <a:cxnSpLocks/>
          </p:cNvCxnSpPr>
          <p:nvPr/>
        </p:nvCxnSpPr>
        <p:spPr>
          <a:xfrm>
            <a:off x="6723986" y="3609452"/>
            <a:ext cx="0" cy="245310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E440B2E-5A51-2DD2-5D6C-2D0A8963ED29}"/>
              </a:ext>
            </a:extLst>
          </p:cNvPr>
          <p:cNvCxnSpPr>
            <a:cxnSpLocks/>
          </p:cNvCxnSpPr>
          <p:nvPr/>
        </p:nvCxnSpPr>
        <p:spPr>
          <a:xfrm>
            <a:off x="6737299" y="3904944"/>
            <a:ext cx="178238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18FEA681-93E8-4A7E-2054-1B48AB3FE81A}"/>
              </a:ext>
            </a:extLst>
          </p:cNvPr>
          <p:cNvCxnSpPr>
            <a:cxnSpLocks/>
          </p:cNvCxnSpPr>
          <p:nvPr/>
        </p:nvCxnSpPr>
        <p:spPr>
          <a:xfrm>
            <a:off x="6732750" y="4407920"/>
            <a:ext cx="21690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94B6F9B-C05F-5310-77F4-28FCB9D9AC83}"/>
              </a:ext>
            </a:extLst>
          </p:cNvPr>
          <p:cNvSpPr/>
          <p:nvPr/>
        </p:nvSpPr>
        <p:spPr>
          <a:xfrm>
            <a:off x="6960558" y="4713380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UA-int16</a:t>
            </a:r>
            <a:endParaRPr lang="en-SG" sz="1050" b="1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94455B8-F8A1-1CEF-DDA5-D27631E4C40A}"/>
              </a:ext>
            </a:extLst>
          </p:cNvPr>
          <p:cNvSpPr/>
          <p:nvPr/>
        </p:nvSpPr>
        <p:spPr>
          <a:xfrm>
            <a:off x="6960558" y="5109378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UA-float</a:t>
            </a:r>
            <a:endParaRPr lang="en-SG" sz="1050" b="1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99F708D-26AB-4FBF-046F-8F867ABB61B3}"/>
              </a:ext>
            </a:extLst>
          </p:cNvPr>
          <p:cNvSpPr/>
          <p:nvPr/>
        </p:nvSpPr>
        <p:spPr>
          <a:xfrm>
            <a:off x="6974887" y="5489450"/>
            <a:ext cx="690868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UA-str</a:t>
            </a:r>
            <a:endParaRPr lang="en-SG" sz="1050" b="1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DE9E7FE-8B31-9E1A-B618-7E7853FA2784}"/>
              </a:ext>
            </a:extLst>
          </p:cNvPr>
          <p:cNvSpPr/>
          <p:nvPr/>
        </p:nvSpPr>
        <p:spPr>
          <a:xfrm>
            <a:off x="6993127" y="5892305"/>
            <a:ext cx="677684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C8359F1D-E211-65C5-39F1-44C9EEB5ABAA}"/>
              </a:ext>
            </a:extLst>
          </p:cNvPr>
          <p:cNvCxnSpPr>
            <a:cxnSpLocks/>
          </p:cNvCxnSpPr>
          <p:nvPr/>
        </p:nvCxnSpPr>
        <p:spPr>
          <a:xfrm flipV="1">
            <a:off x="6731293" y="4875223"/>
            <a:ext cx="227462" cy="128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755B939D-BB10-A9AD-8905-782AAD4749F4}"/>
              </a:ext>
            </a:extLst>
          </p:cNvPr>
          <p:cNvCxnSpPr>
            <a:cxnSpLocks/>
          </p:cNvCxnSpPr>
          <p:nvPr/>
        </p:nvCxnSpPr>
        <p:spPr>
          <a:xfrm>
            <a:off x="6728201" y="5275317"/>
            <a:ext cx="21690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55D78C37-A35E-4426-3B80-302CAAD47379}"/>
              </a:ext>
            </a:extLst>
          </p:cNvPr>
          <p:cNvCxnSpPr>
            <a:cxnSpLocks/>
            <a:endCxn id="140" idx="1"/>
          </p:cNvCxnSpPr>
          <p:nvPr/>
        </p:nvCxnSpPr>
        <p:spPr>
          <a:xfrm>
            <a:off x="6730475" y="5635606"/>
            <a:ext cx="24441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985B0B4-E456-20D2-8AC1-C6E4032ACAC1}"/>
              </a:ext>
            </a:extLst>
          </p:cNvPr>
          <p:cNvCxnSpPr>
            <a:cxnSpLocks/>
          </p:cNvCxnSpPr>
          <p:nvPr/>
        </p:nvCxnSpPr>
        <p:spPr>
          <a:xfrm>
            <a:off x="6729204" y="6045285"/>
            <a:ext cx="25709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8AF2848-8EBA-6653-4AE8-E7890A31EA81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5974786" y="2588050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11777A80-DDC1-B43C-F8D5-AA87FACED535}"/>
              </a:ext>
            </a:extLst>
          </p:cNvPr>
          <p:cNvCxnSpPr>
            <a:cxnSpLocks/>
          </p:cNvCxnSpPr>
          <p:nvPr/>
        </p:nvCxnSpPr>
        <p:spPr>
          <a:xfrm flipV="1">
            <a:off x="5998472" y="300477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AB152814-F4EE-D280-11C7-B7BC5907F0C3}"/>
              </a:ext>
            </a:extLst>
          </p:cNvPr>
          <p:cNvCxnSpPr>
            <a:cxnSpLocks/>
          </p:cNvCxnSpPr>
          <p:nvPr/>
        </p:nvCxnSpPr>
        <p:spPr>
          <a:xfrm flipV="1">
            <a:off x="5998472" y="3397108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37B8FA1-AEAF-41F4-670D-CCD486D9338B}"/>
              </a:ext>
            </a:extLst>
          </p:cNvPr>
          <p:cNvCxnSpPr>
            <a:cxnSpLocks/>
          </p:cNvCxnSpPr>
          <p:nvPr/>
        </p:nvCxnSpPr>
        <p:spPr>
          <a:xfrm flipV="1">
            <a:off x="5994519" y="379124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9742BBF-A5E9-65F0-3328-10E6EBF9387A}"/>
              </a:ext>
            </a:extLst>
          </p:cNvPr>
          <p:cNvCxnSpPr>
            <a:cxnSpLocks/>
          </p:cNvCxnSpPr>
          <p:nvPr/>
        </p:nvCxnSpPr>
        <p:spPr>
          <a:xfrm flipV="1">
            <a:off x="5998472" y="5339577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EB9B173-83E2-4EF7-6216-C0220EBEB8F7}"/>
              </a:ext>
            </a:extLst>
          </p:cNvPr>
          <p:cNvCxnSpPr>
            <a:cxnSpLocks/>
          </p:cNvCxnSpPr>
          <p:nvPr/>
        </p:nvCxnSpPr>
        <p:spPr>
          <a:xfrm flipV="1">
            <a:off x="6012714" y="580223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FF26618-206F-F9B9-7307-0C8B78FF7E11}"/>
              </a:ext>
            </a:extLst>
          </p:cNvPr>
          <p:cNvSpPr txBox="1"/>
          <p:nvPr/>
        </p:nvSpPr>
        <p:spPr>
          <a:xfrm>
            <a:off x="6366597" y="2547103"/>
            <a:ext cx="1496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UA Data Structure</a:t>
            </a:r>
            <a:endParaRPr lang="en-SG" sz="1200" b="1" dirty="0"/>
          </a:p>
        </p:txBody>
      </p: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424E51D-9621-B78C-862F-D3DFF5CB4E31}"/>
              </a:ext>
            </a:extLst>
          </p:cNvPr>
          <p:cNvCxnSpPr>
            <a:cxnSpLocks/>
          </p:cNvCxnSpPr>
          <p:nvPr/>
        </p:nvCxnSpPr>
        <p:spPr>
          <a:xfrm>
            <a:off x="6285718" y="4766826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F3DA13-5E0C-97F4-464E-A11C8483736F}"/>
              </a:ext>
            </a:extLst>
          </p:cNvPr>
          <p:cNvCxnSpPr>
            <a:cxnSpLocks/>
          </p:cNvCxnSpPr>
          <p:nvPr/>
        </p:nvCxnSpPr>
        <p:spPr>
          <a:xfrm>
            <a:off x="6285718" y="5174601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8EDEB0B-C7F3-C7E5-B3F1-F6AA3731E5B8}"/>
              </a:ext>
            </a:extLst>
          </p:cNvPr>
          <p:cNvCxnSpPr>
            <a:cxnSpLocks/>
          </p:cNvCxnSpPr>
          <p:nvPr/>
        </p:nvCxnSpPr>
        <p:spPr>
          <a:xfrm>
            <a:off x="6285718" y="5553284"/>
            <a:ext cx="66393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A8F7639-1573-25BF-3363-56F799B726BA}"/>
              </a:ext>
            </a:extLst>
          </p:cNvPr>
          <p:cNvCxnSpPr>
            <a:cxnSpLocks/>
          </p:cNvCxnSpPr>
          <p:nvPr/>
        </p:nvCxnSpPr>
        <p:spPr>
          <a:xfrm>
            <a:off x="6285718" y="5962425"/>
            <a:ext cx="69598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95DF373D-6217-2B47-BE54-01602BA0ED5D}"/>
              </a:ext>
            </a:extLst>
          </p:cNvPr>
          <p:cNvCxnSpPr>
            <a:cxnSpLocks/>
          </p:cNvCxnSpPr>
          <p:nvPr/>
        </p:nvCxnSpPr>
        <p:spPr>
          <a:xfrm>
            <a:off x="7994627" y="2503039"/>
            <a:ext cx="0" cy="3495277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2A6A185-4D75-4898-D7D9-86804AA33662}"/>
              </a:ext>
            </a:extLst>
          </p:cNvPr>
          <p:cNvCxnSpPr>
            <a:cxnSpLocks/>
          </p:cNvCxnSpPr>
          <p:nvPr/>
        </p:nvCxnSpPr>
        <p:spPr>
          <a:xfrm>
            <a:off x="7685105" y="3881300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D867D1-FF5C-00DF-0569-DA047F1B0F52}"/>
              </a:ext>
            </a:extLst>
          </p:cNvPr>
          <p:cNvCxnSpPr>
            <a:cxnSpLocks/>
          </p:cNvCxnSpPr>
          <p:nvPr/>
        </p:nvCxnSpPr>
        <p:spPr>
          <a:xfrm>
            <a:off x="7677154" y="4335888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EC9CBB72-AAEF-1834-6078-B5EF5B78AA7F}"/>
              </a:ext>
            </a:extLst>
          </p:cNvPr>
          <p:cNvCxnSpPr>
            <a:cxnSpLocks/>
          </p:cNvCxnSpPr>
          <p:nvPr/>
        </p:nvCxnSpPr>
        <p:spPr>
          <a:xfrm>
            <a:off x="7677154" y="4869382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C7EB736-3D32-B1D3-10A5-D9B00C90F927}"/>
              </a:ext>
            </a:extLst>
          </p:cNvPr>
          <p:cNvCxnSpPr>
            <a:cxnSpLocks/>
          </p:cNvCxnSpPr>
          <p:nvPr/>
        </p:nvCxnSpPr>
        <p:spPr>
          <a:xfrm>
            <a:off x="7677154" y="5246344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E8BBB2C4-0C1E-9F73-3643-125FB192A4E7}"/>
              </a:ext>
            </a:extLst>
          </p:cNvPr>
          <p:cNvCxnSpPr>
            <a:cxnSpLocks/>
          </p:cNvCxnSpPr>
          <p:nvPr/>
        </p:nvCxnSpPr>
        <p:spPr>
          <a:xfrm>
            <a:off x="7677154" y="5640621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FC68B51C-E7AF-0A90-B2F0-4C6558175EB3}"/>
              </a:ext>
            </a:extLst>
          </p:cNvPr>
          <p:cNvCxnSpPr>
            <a:cxnSpLocks/>
          </p:cNvCxnSpPr>
          <p:nvPr/>
        </p:nvCxnSpPr>
        <p:spPr>
          <a:xfrm>
            <a:off x="7700386" y="5998316"/>
            <a:ext cx="294241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A2CAD7A5-C028-C3EB-9FE0-FCA3A050E419}"/>
              </a:ext>
            </a:extLst>
          </p:cNvPr>
          <p:cNvCxnSpPr>
            <a:cxnSpLocks/>
            <a:stCxn id="150" idx="3"/>
          </p:cNvCxnSpPr>
          <p:nvPr/>
        </p:nvCxnSpPr>
        <p:spPr>
          <a:xfrm>
            <a:off x="8297362" y="2324026"/>
            <a:ext cx="58686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4" name="Picture 22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D5D7A81-7A1B-6D82-40E2-8F7915660A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6313" y="2951647"/>
            <a:ext cx="2877236" cy="154651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32" name="TextBox 231">
            <a:extLst>
              <a:ext uri="{FF2B5EF4-FFF2-40B4-BE49-F238E27FC236}">
                <a16:creationId xmlns:a16="http://schemas.microsoft.com/office/drawing/2014/main" id="{DC5DF342-2363-0748-E49A-4EBC751D472B}"/>
              </a:ext>
            </a:extLst>
          </p:cNvPr>
          <p:cNvSpPr txBox="1"/>
          <p:nvPr/>
        </p:nvSpPr>
        <p:spPr>
          <a:xfrm>
            <a:off x="8689344" y="2588050"/>
            <a:ext cx="18716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ADS-B Monitor HMI</a:t>
            </a:r>
            <a:endParaRPr lang="en-SG" sz="1400" b="1" dirty="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C2E3E224-995B-1B4A-E7E1-6BB2E1DE07D0}"/>
              </a:ext>
            </a:extLst>
          </p:cNvPr>
          <p:cNvSpPr/>
          <p:nvPr/>
        </p:nvSpPr>
        <p:spPr>
          <a:xfrm>
            <a:off x="8923375" y="4607061"/>
            <a:ext cx="1193597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Server </a:t>
            </a:r>
            <a:endParaRPr lang="en-SG" sz="1050" b="1" dirty="0"/>
          </a:p>
        </p:txBody>
      </p: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6A6D96EF-619A-D6E8-6199-8D50118DC53F}"/>
              </a:ext>
            </a:extLst>
          </p:cNvPr>
          <p:cNvCxnSpPr>
            <a:cxnSpLocks/>
            <a:stCxn id="173" idx="3"/>
            <a:endCxn id="188" idx="1"/>
          </p:cNvCxnSpPr>
          <p:nvPr/>
        </p:nvCxnSpPr>
        <p:spPr>
          <a:xfrm flipV="1">
            <a:off x="10009941" y="2351380"/>
            <a:ext cx="262280" cy="8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9223E44D-AFE8-550B-45C5-A09C60FCF73F}"/>
              </a:ext>
            </a:extLst>
          </p:cNvPr>
          <p:cNvCxnSpPr>
            <a:cxnSpLocks/>
          </p:cNvCxnSpPr>
          <p:nvPr/>
        </p:nvCxnSpPr>
        <p:spPr>
          <a:xfrm>
            <a:off x="10589246" y="2511752"/>
            <a:ext cx="0" cy="446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Rectangle 245">
            <a:extLst>
              <a:ext uri="{FF2B5EF4-FFF2-40B4-BE49-F238E27FC236}">
                <a16:creationId xmlns:a16="http://schemas.microsoft.com/office/drawing/2014/main" id="{7DB1A51A-65F4-F78F-66E9-26BEC7D1F429}"/>
              </a:ext>
            </a:extLst>
          </p:cNvPr>
          <p:cNvSpPr/>
          <p:nvPr/>
        </p:nvSpPr>
        <p:spPr>
          <a:xfrm>
            <a:off x="8704261" y="5092440"/>
            <a:ext cx="3211175" cy="124861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359ACE4B-3480-1629-6C53-E4F0CAF8E3B3}"/>
              </a:ext>
            </a:extLst>
          </p:cNvPr>
          <p:cNvSpPr/>
          <p:nvPr/>
        </p:nvSpPr>
        <p:spPr>
          <a:xfrm>
            <a:off x="8931896" y="5238543"/>
            <a:ext cx="1145147" cy="25601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 Client</a:t>
            </a:r>
            <a:endParaRPr lang="en-SG" sz="1050" b="1" dirty="0"/>
          </a:p>
        </p:txBody>
      </p:sp>
      <p:cxnSp>
        <p:nvCxnSpPr>
          <p:cNvPr id="248" name="Straight Arrow Connector 247">
            <a:extLst>
              <a:ext uri="{FF2B5EF4-FFF2-40B4-BE49-F238E27FC236}">
                <a16:creationId xmlns:a16="http://schemas.microsoft.com/office/drawing/2014/main" id="{959A3D80-20E7-6494-1D50-D8A9B0B3484F}"/>
              </a:ext>
            </a:extLst>
          </p:cNvPr>
          <p:cNvCxnSpPr>
            <a:cxnSpLocks/>
            <a:stCxn id="236" idx="2"/>
            <a:endCxn id="247" idx="0"/>
          </p:cNvCxnSpPr>
          <p:nvPr/>
        </p:nvCxnSpPr>
        <p:spPr>
          <a:xfrm flipH="1">
            <a:off x="9504470" y="4888077"/>
            <a:ext cx="0" cy="3504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TextBox 251">
            <a:extLst>
              <a:ext uri="{FF2B5EF4-FFF2-40B4-BE49-F238E27FC236}">
                <a16:creationId xmlns:a16="http://schemas.microsoft.com/office/drawing/2014/main" id="{612C7A6D-884F-9B2F-931F-082EDBE5C19E}"/>
              </a:ext>
            </a:extLst>
          </p:cNvPr>
          <p:cNvSpPr txBox="1"/>
          <p:nvPr/>
        </p:nvSpPr>
        <p:spPr>
          <a:xfrm>
            <a:off x="9966284" y="4819172"/>
            <a:ext cx="2215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Level3 OT Data Center</a:t>
            </a:r>
            <a:endParaRPr lang="en-SG" sz="1400" b="1" dirty="0"/>
          </a:p>
        </p:txBody>
      </p:sp>
      <p:cxnSp>
        <p:nvCxnSpPr>
          <p:cNvPr id="255" name="Connector: Elbow 254">
            <a:extLst>
              <a:ext uri="{FF2B5EF4-FFF2-40B4-BE49-F238E27FC236}">
                <a16:creationId xmlns:a16="http://schemas.microsoft.com/office/drawing/2014/main" id="{B07E0819-309C-FF9A-04E7-9AAE27F3F026}"/>
              </a:ext>
            </a:extLst>
          </p:cNvPr>
          <p:cNvCxnSpPr>
            <a:cxnSpLocks/>
            <a:endCxn id="247" idx="1"/>
          </p:cNvCxnSpPr>
          <p:nvPr/>
        </p:nvCxnSpPr>
        <p:spPr>
          <a:xfrm rot="16200000" flipH="1">
            <a:off x="7146456" y="3581112"/>
            <a:ext cx="2854800" cy="716080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5" name="Rectangle 264">
            <a:extLst>
              <a:ext uri="{FF2B5EF4-FFF2-40B4-BE49-F238E27FC236}">
                <a16:creationId xmlns:a16="http://schemas.microsoft.com/office/drawing/2014/main" id="{F94FBC31-405F-9590-9187-6C801EEEA3BE}"/>
              </a:ext>
            </a:extLst>
          </p:cNvPr>
          <p:cNvSpPr/>
          <p:nvPr/>
        </p:nvSpPr>
        <p:spPr>
          <a:xfrm>
            <a:off x="8959527" y="5602522"/>
            <a:ext cx="1143900" cy="51618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Data Management Module </a:t>
            </a:r>
            <a:endParaRPr lang="en-SG" sz="1050" b="1" dirty="0"/>
          </a:p>
        </p:txBody>
      </p:sp>
      <p:sp>
        <p:nvSpPr>
          <p:cNvPr id="266" name="Cylinder 265">
            <a:extLst>
              <a:ext uri="{FF2B5EF4-FFF2-40B4-BE49-F238E27FC236}">
                <a16:creationId xmlns:a16="http://schemas.microsoft.com/office/drawing/2014/main" id="{AD58B6B5-D484-911D-B29A-0AF1614A3D0D}"/>
              </a:ext>
            </a:extLst>
          </p:cNvPr>
          <p:cNvSpPr/>
          <p:nvPr/>
        </p:nvSpPr>
        <p:spPr>
          <a:xfrm>
            <a:off x="10304935" y="5394616"/>
            <a:ext cx="570017" cy="47771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8" name="Cylinder 267">
            <a:extLst>
              <a:ext uri="{FF2B5EF4-FFF2-40B4-BE49-F238E27FC236}">
                <a16:creationId xmlns:a16="http://schemas.microsoft.com/office/drawing/2014/main" id="{BF5BF641-A012-7453-356E-57A75520B0A0}"/>
              </a:ext>
            </a:extLst>
          </p:cNvPr>
          <p:cNvSpPr/>
          <p:nvPr/>
        </p:nvSpPr>
        <p:spPr>
          <a:xfrm>
            <a:off x="11222761" y="5391277"/>
            <a:ext cx="550774" cy="455686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46E59D0E-E458-CCB4-663F-07BA86679AA2}"/>
              </a:ext>
            </a:extLst>
          </p:cNvPr>
          <p:cNvSpPr txBox="1"/>
          <p:nvPr/>
        </p:nvSpPr>
        <p:spPr>
          <a:xfrm>
            <a:off x="10989414" y="5109056"/>
            <a:ext cx="10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Historian DB</a:t>
            </a:r>
            <a:endParaRPr lang="en-SG" sz="1100" b="1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DC201EEC-5598-9804-0FF5-0346D500B83E}"/>
              </a:ext>
            </a:extLst>
          </p:cNvPr>
          <p:cNvSpPr txBox="1"/>
          <p:nvPr/>
        </p:nvSpPr>
        <p:spPr>
          <a:xfrm>
            <a:off x="10139634" y="5124728"/>
            <a:ext cx="10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I/O Raw DB</a:t>
            </a:r>
            <a:endParaRPr lang="en-SG" sz="1100" b="1" dirty="0"/>
          </a:p>
        </p:txBody>
      </p: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2ECC3611-0879-8288-A694-00A2792CE974}"/>
              </a:ext>
            </a:extLst>
          </p:cNvPr>
          <p:cNvCxnSpPr>
            <a:cxnSpLocks/>
          </p:cNvCxnSpPr>
          <p:nvPr/>
        </p:nvCxnSpPr>
        <p:spPr>
          <a:xfrm>
            <a:off x="10132002" y="6062556"/>
            <a:ext cx="1428750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7A82369E-9A5C-CB1E-0A77-565DA7B513BD}"/>
              </a:ext>
            </a:extLst>
          </p:cNvPr>
          <p:cNvCxnSpPr>
            <a:cxnSpLocks/>
            <a:stCxn id="266" idx="3"/>
          </p:cNvCxnSpPr>
          <p:nvPr/>
        </p:nvCxnSpPr>
        <p:spPr>
          <a:xfrm>
            <a:off x="10589944" y="5872334"/>
            <a:ext cx="1" cy="190222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78DE714-9D56-C349-B43A-4A5986A4117D}"/>
              </a:ext>
            </a:extLst>
          </p:cNvPr>
          <p:cNvCxnSpPr>
            <a:cxnSpLocks/>
          </p:cNvCxnSpPr>
          <p:nvPr/>
        </p:nvCxnSpPr>
        <p:spPr>
          <a:xfrm>
            <a:off x="11541703" y="5843758"/>
            <a:ext cx="0" cy="209433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A887078-4E2D-346C-254D-8656107C9DA8}"/>
              </a:ext>
            </a:extLst>
          </p:cNvPr>
          <p:cNvSpPr txBox="1"/>
          <p:nvPr/>
        </p:nvSpPr>
        <p:spPr>
          <a:xfrm>
            <a:off x="319543" y="462947"/>
            <a:ext cx="11666162" cy="46166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400" b="1" dirty="0"/>
              <a:t>Python Virtual PLC Simulator with IEC 62541 OPC-UA-TCP Communication Protocol </a:t>
            </a:r>
            <a:endParaRPr lang="en-SG" sz="2400" b="1" dirty="0"/>
          </a:p>
        </p:txBody>
      </p:sp>
    </p:spTree>
    <p:extLst>
      <p:ext uri="{BB962C8B-B14F-4D97-AF65-F5344CB8AC3E}">
        <p14:creationId xmlns:p14="http://schemas.microsoft.com/office/powerpoint/2010/main" val="1314084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71675EC-0BAF-32C0-B50B-602795616657}"/>
              </a:ext>
            </a:extLst>
          </p:cNvPr>
          <p:cNvSpPr/>
          <p:nvPr/>
        </p:nvSpPr>
        <p:spPr>
          <a:xfrm>
            <a:off x="3246845" y="1387586"/>
            <a:ext cx="1525103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PLC input hash table variables</a:t>
            </a:r>
            <a:endParaRPr lang="en-SG" sz="105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DD4F69-9A1B-C8DF-3630-108F0BEC86A5}"/>
              </a:ext>
            </a:extLst>
          </p:cNvPr>
          <p:cNvSpPr/>
          <p:nvPr/>
        </p:nvSpPr>
        <p:spPr>
          <a:xfrm>
            <a:off x="4359691" y="2204804"/>
            <a:ext cx="2314379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Ladder Logic calculation module </a:t>
            </a:r>
            <a:endParaRPr lang="en-SG" sz="1050" b="1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6DBB44F-6D16-4CB1-E5C5-094F3D80E0B1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771948" y="1646245"/>
            <a:ext cx="744933" cy="55855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68CBE30-D3FA-8C3E-1B0F-6386226EF08C}"/>
              </a:ext>
            </a:extLst>
          </p:cNvPr>
          <p:cNvSpPr/>
          <p:nvPr/>
        </p:nvSpPr>
        <p:spPr>
          <a:xfrm>
            <a:off x="1065186" y="1179098"/>
            <a:ext cx="1161785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Weather Sensor </a:t>
            </a:r>
            <a:endParaRPr lang="en-SG" sz="105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3A273FC-F917-1A2B-1CB4-4AA7B7590AD1}"/>
              </a:ext>
            </a:extLst>
          </p:cNvPr>
          <p:cNvCxnSpPr>
            <a:cxnSpLocks/>
          </p:cNvCxnSpPr>
          <p:nvPr/>
        </p:nvCxnSpPr>
        <p:spPr>
          <a:xfrm>
            <a:off x="2492111" y="1570123"/>
            <a:ext cx="7310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42404ECD-80F5-75EE-05C2-6E6C64F9CF7C}"/>
              </a:ext>
            </a:extLst>
          </p:cNvPr>
          <p:cNvSpPr/>
          <p:nvPr/>
        </p:nvSpPr>
        <p:spPr>
          <a:xfrm>
            <a:off x="7861129" y="2117963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 UA Server</a:t>
            </a:r>
            <a:endParaRPr lang="en-SG" sz="1050" b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40546D7-C0EB-733F-CA9F-87504E974245}"/>
              </a:ext>
            </a:extLst>
          </p:cNvPr>
          <p:cNvSpPr/>
          <p:nvPr/>
        </p:nvSpPr>
        <p:spPr>
          <a:xfrm>
            <a:off x="1065186" y="2492974"/>
            <a:ext cx="672174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Plane</a:t>
            </a:r>
            <a:endParaRPr lang="en-SG" sz="105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D89267-5C64-CEBD-1EC5-4BC32D9788BD}"/>
              </a:ext>
            </a:extLst>
          </p:cNvPr>
          <p:cNvSpPr/>
          <p:nvPr/>
        </p:nvSpPr>
        <p:spPr>
          <a:xfrm>
            <a:off x="1065187" y="1687014"/>
            <a:ext cx="1184566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Weather Radar</a:t>
            </a:r>
            <a:endParaRPr lang="en-SG" sz="1050" b="1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DE7529E9-DE8D-C7C4-68DC-8FC4E8170030}"/>
              </a:ext>
            </a:extLst>
          </p:cNvPr>
          <p:cNvCxnSpPr>
            <a:cxnSpLocks/>
            <a:stCxn id="17" idx="3"/>
            <a:endCxn id="2" idx="3"/>
          </p:cNvCxnSpPr>
          <p:nvPr/>
        </p:nvCxnSpPr>
        <p:spPr>
          <a:xfrm>
            <a:off x="2226971" y="1333070"/>
            <a:ext cx="22782" cy="507916"/>
          </a:xfrm>
          <a:prstGeom prst="bentConnector3">
            <a:avLst>
              <a:gd name="adj1" fmla="val 110342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60D393-9BF8-CE07-F867-23FBD7630E8C}"/>
              </a:ext>
            </a:extLst>
          </p:cNvPr>
          <p:cNvCxnSpPr>
            <a:cxnSpLocks/>
          </p:cNvCxnSpPr>
          <p:nvPr/>
        </p:nvCxnSpPr>
        <p:spPr>
          <a:xfrm>
            <a:off x="4771948" y="1487042"/>
            <a:ext cx="1903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24F6E7E5-FE9B-D3FF-3203-6DFCCF261A8B}"/>
              </a:ext>
            </a:extLst>
          </p:cNvPr>
          <p:cNvSpPr/>
          <p:nvPr/>
        </p:nvSpPr>
        <p:spPr>
          <a:xfrm>
            <a:off x="6675120" y="1312003"/>
            <a:ext cx="1421867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 data structure variable </a:t>
            </a:r>
            <a:endParaRPr lang="en-SG" sz="1050" b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36BBBF2-412D-0A89-0F92-E88C3514FAB3}"/>
              </a:ext>
            </a:extLst>
          </p:cNvPr>
          <p:cNvSpPr/>
          <p:nvPr/>
        </p:nvSpPr>
        <p:spPr>
          <a:xfrm>
            <a:off x="3246845" y="2954431"/>
            <a:ext cx="1525103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PLC input hash table variables</a:t>
            </a:r>
            <a:endParaRPr lang="en-SG" sz="1050" b="1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5C86241-053D-5EA6-3081-FFEC4CD14046}"/>
              </a:ext>
            </a:extLst>
          </p:cNvPr>
          <p:cNvCxnSpPr>
            <a:cxnSpLocks/>
            <a:stCxn id="14" idx="2"/>
          </p:cNvCxnSpPr>
          <p:nvPr/>
        </p:nvCxnSpPr>
        <p:spPr>
          <a:xfrm rot="5400000">
            <a:off x="4923312" y="2428452"/>
            <a:ext cx="442207" cy="74493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46FFA20-69E2-6B81-9530-B30D4DBBD879}"/>
              </a:ext>
            </a:extLst>
          </p:cNvPr>
          <p:cNvCxnSpPr>
            <a:cxnSpLocks/>
          </p:cNvCxnSpPr>
          <p:nvPr/>
        </p:nvCxnSpPr>
        <p:spPr>
          <a:xfrm>
            <a:off x="4793284" y="3229410"/>
            <a:ext cx="1903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10524C7-F4CD-F7AB-1821-555F2C4744FF}"/>
              </a:ext>
            </a:extLst>
          </p:cNvPr>
          <p:cNvCxnSpPr>
            <a:cxnSpLocks/>
          </p:cNvCxnSpPr>
          <p:nvPr/>
        </p:nvCxnSpPr>
        <p:spPr>
          <a:xfrm flipH="1">
            <a:off x="2409403" y="3141936"/>
            <a:ext cx="8374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6BD78A6-7E95-3C8F-5DD4-B3C06BB741D9}"/>
              </a:ext>
            </a:extLst>
          </p:cNvPr>
          <p:cNvSpPr/>
          <p:nvPr/>
        </p:nvSpPr>
        <p:spPr>
          <a:xfrm>
            <a:off x="1065186" y="3022022"/>
            <a:ext cx="1322881" cy="3079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ADS-B antenna </a:t>
            </a:r>
            <a:endParaRPr lang="en-SG" sz="1050" b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D164133-C45C-6E22-76BD-2F63A75314A8}"/>
              </a:ext>
            </a:extLst>
          </p:cNvPr>
          <p:cNvCxnSpPr>
            <a:cxnSpLocks/>
          </p:cNvCxnSpPr>
          <p:nvPr/>
        </p:nvCxnSpPr>
        <p:spPr>
          <a:xfrm flipV="1">
            <a:off x="1320497" y="2800918"/>
            <a:ext cx="0" cy="212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708FFD17-62AE-70EC-4096-89001700CFC3}"/>
              </a:ext>
            </a:extLst>
          </p:cNvPr>
          <p:cNvSpPr/>
          <p:nvPr/>
        </p:nvSpPr>
        <p:spPr>
          <a:xfrm>
            <a:off x="6717792" y="2988488"/>
            <a:ext cx="1421867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 data structure variable </a:t>
            </a:r>
            <a:endParaRPr lang="en-SG" sz="1050" b="1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2AE3F88D-DF42-A8ED-6CD6-9589B84673C9}"/>
              </a:ext>
            </a:extLst>
          </p:cNvPr>
          <p:cNvCxnSpPr>
            <a:cxnSpLocks/>
            <a:stCxn id="24" idx="2"/>
            <a:endCxn id="21" idx="0"/>
          </p:cNvCxnSpPr>
          <p:nvPr/>
        </p:nvCxnSpPr>
        <p:spPr>
          <a:xfrm rot="16200000" flipH="1">
            <a:off x="7700920" y="1372147"/>
            <a:ext cx="430949" cy="1060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9258463F-E708-EA87-AC67-C843FD1D9B54}"/>
              </a:ext>
            </a:extLst>
          </p:cNvPr>
          <p:cNvCxnSpPr>
            <a:cxnSpLocks/>
            <a:stCxn id="47" idx="0"/>
            <a:endCxn id="21" idx="2"/>
          </p:cNvCxnSpPr>
          <p:nvPr/>
        </p:nvCxnSpPr>
        <p:spPr>
          <a:xfrm rot="5400000" flipH="1" flipV="1">
            <a:off x="7689973" y="2231727"/>
            <a:ext cx="495514" cy="10180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53667102-D0AE-4021-CA7E-A07037310B78}"/>
              </a:ext>
            </a:extLst>
          </p:cNvPr>
          <p:cNvSpPr/>
          <p:nvPr/>
        </p:nvSpPr>
        <p:spPr>
          <a:xfrm>
            <a:off x="9730302" y="2117963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 UA Client</a:t>
            </a:r>
            <a:endParaRPr lang="en-SG" sz="1050" b="1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8BFF255-3827-161F-6836-A309515214D7}"/>
              </a:ext>
            </a:extLst>
          </p:cNvPr>
          <p:cNvCxnSpPr>
            <a:cxnSpLocks/>
            <a:stCxn id="21" idx="3"/>
            <a:endCxn id="54" idx="1"/>
          </p:cNvCxnSpPr>
          <p:nvPr/>
        </p:nvCxnSpPr>
        <p:spPr>
          <a:xfrm>
            <a:off x="9032340" y="2305469"/>
            <a:ext cx="6979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9F92C80D-71D8-E84F-62D8-DE7BCBCEE867}"/>
              </a:ext>
            </a:extLst>
          </p:cNvPr>
          <p:cNvSpPr/>
          <p:nvPr/>
        </p:nvSpPr>
        <p:spPr>
          <a:xfrm>
            <a:off x="9699889" y="1333070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Tower HMI</a:t>
            </a:r>
            <a:endParaRPr lang="en-SG" sz="1050" b="1" dirty="0"/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4756C74-689F-38CD-99BF-42EDE105262B}"/>
              </a:ext>
            </a:extLst>
          </p:cNvPr>
          <p:cNvCxnSpPr>
            <a:cxnSpLocks/>
          </p:cNvCxnSpPr>
          <p:nvPr/>
        </p:nvCxnSpPr>
        <p:spPr>
          <a:xfrm flipV="1">
            <a:off x="10236659" y="1708081"/>
            <a:ext cx="0" cy="3917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6C0E9CC4-BEA5-B33B-82CB-6A6DE2D0B5AC}"/>
              </a:ext>
            </a:extLst>
          </p:cNvPr>
          <p:cNvSpPr/>
          <p:nvPr/>
        </p:nvSpPr>
        <p:spPr>
          <a:xfrm>
            <a:off x="9784462" y="2954430"/>
            <a:ext cx="1171211" cy="37501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Raw Data Base</a:t>
            </a:r>
            <a:endParaRPr lang="en-SG" sz="1050" b="1" dirty="0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05869A0-843A-C03F-B1ED-34B464184E68}"/>
              </a:ext>
            </a:extLst>
          </p:cNvPr>
          <p:cNvCxnSpPr>
            <a:cxnSpLocks/>
          </p:cNvCxnSpPr>
          <p:nvPr/>
        </p:nvCxnSpPr>
        <p:spPr>
          <a:xfrm flipH="1">
            <a:off x="10254947" y="2492974"/>
            <a:ext cx="0" cy="40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70110136-CD70-6B13-AC46-4F18120F245B}"/>
              </a:ext>
            </a:extLst>
          </p:cNvPr>
          <p:cNvSpPr/>
          <p:nvPr/>
        </p:nvSpPr>
        <p:spPr>
          <a:xfrm>
            <a:off x="2655907" y="1379978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827D954-0DF1-8AD2-1F5E-88698408D93D}"/>
              </a:ext>
            </a:extLst>
          </p:cNvPr>
          <p:cNvSpPr/>
          <p:nvPr/>
        </p:nvSpPr>
        <p:spPr>
          <a:xfrm>
            <a:off x="5164244" y="1570312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2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37E0436-0E40-E576-EF61-2A87DD7B8182}"/>
              </a:ext>
            </a:extLst>
          </p:cNvPr>
          <p:cNvSpPr/>
          <p:nvPr/>
        </p:nvSpPr>
        <p:spPr>
          <a:xfrm>
            <a:off x="5820361" y="1387586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3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FF0CF517-32FE-9E19-0D2B-4BA2978CBE2E}"/>
              </a:ext>
            </a:extLst>
          </p:cNvPr>
          <p:cNvSpPr/>
          <p:nvPr/>
        </p:nvSpPr>
        <p:spPr>
          <a:xfrm>
            <a:off x="5215089" y="2845255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9BA8FA2-8EE1-2AD4-0325-CEC8E9816068}"/>
              </a:ext>
            </a:extLst>
          </p:cNvPr>
          <p:cNvSpPr/>
          <p:nvPr/>
        </p:nvSpPr>
        <p:spPr>
          <a:xfrm>
            <a:off x="5883589" y="301528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F1E7B881-7E00-2D25-F90F-C6A7CC07A5D7}"/>
              </a:ext>
            </a:extLst>
          </p:cNvPr>
          <p:cNvSpPr/>
          <p:nvPr/>
        </p:nvSpPr>
        <p:spPr>
          <a:xfrm>
            <a:off x="2670876" y="2927808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6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0076C5C-DB70-B361-168D-9C87F2575662}"/>
              </a:ext>
            </a:extLst>
          </p:cNvPr>
          <p:cNvSpPr/>
          <p:nvPr/>
        </p:nvSpPr>
        <p:spPr>
          <a:xfrm>
            <a:off x="7545606" y="1925524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7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293B6311-92B1-77DA-6852-C4C146C4A6DB}"/>
              </a:ext>
            </a:extLst>
          </p:cNvPr>
          <p:cNvSpPr/>
          <p:nvPr/>
        </p:nvSpPr>
        <p:spPr>
          <a:xfrm>
            <a:off x="7604047" y="2490636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7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5A6E2366-83BF-B808-57E4-8DE7B850F923}"/>
              </a:ext>
            </a:extLst>
          </p:cNvPr>
          <p:cNvSpPr/>
          <p:nvPr/>
        </p:nvSpPr>
        <p:spPr>
          <a:xfrm>
            <a:off x="10301472" y="1840986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40AE996A-B757-165F-D076-0CD30A882DF6}"/>
              </a:ext>
            </a:extLst>
          </p:cNvPr>
          <p:cNvSpPr/>
          <p:nvPr/>
        </p:nvSpPr>
        <p:spPr>
          <a:xfrm>
            <a:off x="10315907" y="2623191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9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C6BE31C-745F-3170-4635-392C365FA6E8}"/>
              </a:ext>
            </a:extLst>
          </p:cNvPr>
          <p:cNvCxnSpPr>
            <a:cxnSpLocks/>
          </p:cNvCxnSpPr>
          <p:nvPr/>
        </p:nvCxnSpPr>
        <p:spPr>
          <a:xfrm>
            <a:off x="2067809" y="5214952"/>
            <a:ext cx="140514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0" name="Picture 79">
            <a:extLst>
              <a:ext uri="{FF2B5EF4-FFF2-40B4-BE49-F238E27FC236}">
                <a16:creationId xmlns:a16="http://schemas.microsoft.com/office/drawing/2014/main" id="{48A40D56-6D66-4307-BA80-4C471F9913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225" y="4376735"/>
            <a:ext cx="506017" cy="400107"/>
          </a:xfrm>
          <a:prstGeom prst="rect">
            <a:avLst/>
          </a:prstGeom>
        </p:spPr>
      </p:pic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95AC806E-0666-FC6E-C133-41C54AA53FBB}"/>
              </a:ext>
            </a:extLst>
          </p:cNvPr>
          <p:cNvCxnSpPr>
            <a:cxnSpLocks/>
          </p:cNvCxnSpPr>
          <p:nvPr/>
        </p:nvCxnSpPr>
        <p:spPr>
          <a:xfrm>
            <a:off x="2084495" y="4567263"/>
            <a:ext cx="13738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2" name="Picture 81">
            <a:extLst>
              <a:ext uri="{FF2B5EF4-FFF2-40B4-BE49-F238E27FC236}">
                <a16:creationId xmlns:a16="http://schemas.microsoft.com/office/drawing/2014/main" id="{FC0B319F-9DBC-90AC-5ADE-5C2F4CAE10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225" y="5020130"/>
            <a:ext cx="506017" cy="400107"/>
          </a:xfrm>
          <a:prstGeom prst="rect">
            <a:avLst/>
          </a:prstGeom>
        </p:spPr>
      </p:pic>
      <p:sp>
        <p:nvSpPr>
          <p:cNvPr id="85" name="Rectangle 84">
            <a:extLst>
              <a:ext uri="{FF2B5EF4-FFF2-40B4-BE49-F238E27FC236}">
                <a16:creationId xmlns:a16="http://schemas.microsoft.com/office/drawing/2014/main" id="{5616ABDE-72F0-00B9-2BEA-C71C1C383599}"/>
              </a:ext>
            </a:extLst>
          </p:cNvPr>
          <p:cNvSpPr/>
          <p:nvPr/>
        </p:nvSpPr>
        <p:spPr>
          <a:xfrm>
            <a:off x="3458391" y="4410446"/>
            <a:ext cx="1373896" cy="9722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>
                <a:solidFill>
                  <a:schemeClr val="tx1"/>
                </a:solidFill>
              </a:rPr>
              <a:t>IF Temp1 &gt; Temp2 :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  OUT = True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ELSE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  OUT = False</a:t>
            </a:r>
          </a:p>
          <a:p>
            <a:r>
              <a:rPr lang="en-US" sz="1050" b="1" dirty="0">
                <a:solidFill>
                  <a:schemeClr val="tx1"/>
                </a:solidFill>
              </a:rPr>
              <a:t>END IF 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2E29714-AB56-55C3-3FB8-82623C434158}"/>
              </a:ext>
            </a:extLst>
          </p:cNvPr>
          <p:cNvSpPr/>
          <p:nvPr/>
        </p:nvSpPr>
        <p:spPr>
          <a:xfrm>
            <a:off x="6230151" y="4410446"/>
            <a:ext cx="1373896" cy="3325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 err="1">
                <a:solidFill>
                  <a:schemeClr val="tx1"/>
                </a:solidFill>
              </a:rPr>
              <a:t>compare_bool_var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339CD68-061E-D41E-3D45-5F5A08BA6558}"/>
              </a:ext>
            </a:extLst>
          </p:cNvPr>
          <p:cNvSpPr txBox="1"/>
          <p:nvPr/>
        </p:nvSpPr>
        <p:spPr>
          <a:xfrm>
            <a:off x="1430837" y="4142188"/>
            <a:ext cx="13048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050" b="1" dirty="0"/>
              <a:t>Temperature_var1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243B3C17-66BA-11C5-5C17-3369DDB2E20E}"/>
              </a:ext>
            </a:extLst>
          </p:cNvPr>
          <p:cNvCxnSpPr>
            <a:cxnSpLocks/>
          </p:cNvCxnSpPr>
          <p:nvPr/>
        </p:nvCxnSpPr>
        <p:spPr>
          <a:xfrm>
            <a:off x="4844271" y="4576788"/>
            <a:ext cx="13738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BBC243E-1ADF-FDE4-EEAD-FE865EA4952A}"/>
              </a:ext>
            </a:extLst>
          </p:cNvPr>
          <p:cNvCxnSpPr>
            <a:cxnSpLocks/>
          </p:cNvCxnSpPr>
          <p:nvPr/>
        </p:nvCxnSpPr>
        <p:spPr>
          <a:xfrm>
            <a:off x="3223134" y="4567644"/>
            <a:ext cx="0" cy="9187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4F2E716F-FA0B-07B3-7803-69C224692576}"/>
              </a:ext>
            </a:extLst>
          </p:cNvPr>
          <p:cNvCxnSpPr>
            <a:cxnSpLocks/>
          </p:cNvCxnSpPr>
          <p:nvPr/>
        </p:nvCxnSpPr>
        <p:spPr>
          <a:xfrm>
            <a:off x="2970600" y="5204372"/>
            <a:ext cx="0" cy="40532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9276C1CC-2E57-4244-E0F9-A8ABC4FA56B2}"/>
              </a:ext>
            </a:extLst>
          </p:cNvPr>
          <p:cNvCxnSpPr>
            <a:cxnSpLocks/>
          </p:cNvCxnSpPr>
          <p:nvPr/>
        </p:nvCxnSpPr>
        <p:spPr>
          <a:xfrm flipV="1">
            <a:off x="3213990" y="5486400"/>
            <a:ext cx="30041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1349FDC-B6C6-7FF0-AE63-3F645444A948}"/>
              </a:ext>
            </a:extLst>
          </p:cNvPr>
          <p:cNvCxnSpPr>
            <a:cxnSpLocks/>
          </p:cNvCxnSpPr>
          <p:nvPr/>
        </p:nvCxnSpPr>
        <p:spPr>
          <a:xfrm>
            <a:off x="2961756" y="5609696"/>
            <a:ext cx="3256411" cy="108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3AAA9EB-B1A7-B4B4-31B4-A61D1B357A0D}"/>
              </a:ext>
            </a:extLst>
          </p:cNvPr>
          <p:cNvSpPr/>
          <p:nvPr/>
        </p:nvSpPr>
        <p:spPr>
          <a:xfrm>
            <a:off x="6230151" y="5396288"/>
            <a:ext cx="1373896" cy="3325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 err="1">
                <a:solidFill>
                  <a:schemeClr val="tx1"/>
                </a:solidFill>
              </a:rPr>
              <a:t>combine_message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1E2B849-F6AB-2DFD-B0B5-7978C159D8A0}"/>
              </a:ext>
            </a:extLst>
          </p:cNvPr>
          <p:cNvSpPr txBox="1"/>
          <p:nvPr/>
        </p:nvSpPr>
        <p:spPr>
          <a:xfrm>
            <a:off x="1430836" y="4834214"/>
            <a:ext cx="13048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050" b="1" dirty="0"/>
              <a:t>Temperature_var2</a:t>
            </a:r>
          </a:p>
        </p:txBody>
      </p:sp>
    </p:spTree>
    <p:extLst>
      <p:ext uri="{BB962C8B-B14F-4D97-AF65-F5344CB8AC3E}">
        <p14:creationId xmlns:p14="http://schemas.microsoft.com/office/powerpoint/2010/main" val="34787079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1049</TotalTime>
  <Words>334</Words>
  <Application>Microsoft Office PowerPoint</Application>
  <PresentationFormat>Widescreen</PresentationFormat>
  <Paragraphs>93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16</cp:revision>
  <dcterms:created xsi:type="dcterms:W3CDTF">2025-12-05T01:36:25Z</dcterms:created>
  <dcterms:modified xsi:type="dcterms:W3CDTF">2025-12-11T00:35:21Z</dcterms:modified>
</cp:coreProperties>
</file>