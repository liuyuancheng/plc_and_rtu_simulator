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38F6C-DD49-E6C4-A8C1-9D8B327BD6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00039B-C899-6C20-2AC6-CF090B83BC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306941-7F80-9114-0B27-6B73EB289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2A3BA-B397-446C-B373-EC30C6B5623D}" type="datetimeFigureOut">
              <a:rPr lang="en-SG" smtClean="0"/>
              <a:t>5/12/2025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E4B4D-6422-F24B-DC04-5FB04AC6E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8047B0-C257-A2A4-96DF-85B24F126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1517E-496F-4C5D-BFCB-B5A45BF6DD7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63140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F1620-18AA-ECE0-7D52-6C0ADFC90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117B04-E194-E4A2-3530-BCB7B67928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64F8F0-180B-9DB4-7D3F-9B08BF234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2A3BA-B397-446C-B373-EC30C6B5623D}" type="datetimeFigureOut">
              <a:rPr lang="en-SG" smtClean="0"/>
              <a:t>5/12/2025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0A53A1-9323-F9E2-A5C4-C367F0829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0076B5-99DA-E51B-067E-53AFABCB9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1517E-496F-4C5D-BFCB-B5A45BF6DD7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42104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9898A-F2B4-FAED-A343-7D2818E46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C875FF-CF6A-BAAA-E513-AB7BA31E58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C6A9C-90BF-B959-4237-47B6404F8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2A3BA-B397-446C-B373-EC30C6B5623D}" type="datetimeFigureOut">
              <a:rPr lang="en-SG" smtClean="0"/>
              <a:t>5/12/2025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FA0D4F-B941-C81E-F937-659802F6B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B9D32C-3276-0564-C0B0-31D576CF4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1517E-496F-4C5D-BFCB-B5A45BF6DD7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69802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754C4-A9D5-3F53-C3B1-5DB06E14A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E6767D-1A1D-0440-6F00-7E3E2CC3CF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61DD5F-39AF-DA6B-04EB-32CFB25591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5CFF3A-4A67-78AD-4888-CC3157FDA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2A3BA-B397-446C-B373-EC30C6B5623D}" type="datetimeFigureOut">
              <a:rPr lang="en-SG" smtClean="0"/>
              <a:t>5/12/2025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6B438B-EE01-F471-70F0-264F07088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78137A-9575-F372-80B4-498647219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1517E-496F-4C5D-BFCB-B5A45BF6DD7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719872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86AE5-5B31-CF7E-3E05-FDF6CB856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66256D-A787-F821-80D5-BE667C4AED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C564E8-DB3C-2C31-B7E0-51231596BE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FF7B4B-2AFF-E0AD-DC3B-A714C6F1CC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9DEB43-17D1-88A4-0890-FE44598C9E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9E92FB-F65D-3F64-85C8-1C1FB00A6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2A3BA-B397-446C-B373-EC30C6B5623D}" type="datetimeFigureOut">
              <a:rPr lang="en-SG" smtClean="0"/>
              <a:t>5/12/2025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77BEC6-01DC-9BB3-F9A4-7CDAC289B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C4A87F-25A0-5166-8528-F1B279907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1517E-496F-4C5D-BFCB-B5A45BF6DD7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464108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477AB-6761-6049-75A1-844563FD0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E36590-09F9-5216-3E2B-F2A9DC4E9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2A3BA-B397-446C-B373-EC30C6B5623D}" type="datetimeFigureOut">
              <a:rPr lang="en-SG" smtClean="0"/>
              <a:t>5/12/2025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1DC0F4-851A-B5F4-9C2F-2566B52D3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FBC788-6650-08B5-153D-2981CE156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1517E-496F-4C5D-BFCB-B5A45BF6DD7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296957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67D8B2-C409-B7EC-77A9-1A82952B2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2A3BA-B397-446C-B373-EC30C6B5623D}" type="datetimeFigureOut">
              <a:rPr lang="en-SG" smtClean="0"/>
              <a:t>5/12/2025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8BC897-DEF7-F338-8869-386871635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5B9604-F622-F171-FE51-BC5282DEB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1517E-496F-4C5D-BFCB-B5A45BF6DD7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80648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A69F1-F4BC-F1D8-16FE-276433A2B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49F2B6-05E8-DE23-29B7-1B80F2F8C1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5AC3EE-FB06-7B9A-9BD0-4FE0EF79E8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061F73-A553-EE0B-BBF2-6B0C6FEAF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2A3BA-B397-446C-B373-EC30C6B5623D}" type="datetimeFigureOut">
              <a:rPr lang="en-SG" smtClean="0"/>
              <a:t>5/12/2025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FC75C2-7205-4A36-3E14-EFAF10E3D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AA9C2A-32B3-ECC0-37E3-E28E712D8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1517E-496F-4C5D-BFCB-B5A45BF6DD7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983542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1CB96-147F-2CCE-CD5C-65C3CE7DC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7C46E4-A597-AF69-CB98-25C1282545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2B61AD-95BC-8E62-B457-932A677D89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62ED2E-4E76-787C-EB12-87704017A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2A3BA-B397-446C-B373-EC30C6B5623D}" type="datetimeFigureOut">
              <a:rPr lang="en-SG" smtClean="0"/>
              <a:t>5/12/2025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B8AF81-B4E1-BAE8-92E6-6AEE5A03E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7BEF4D-D41B-9B21-1A4A-7A57658BC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1517E-496F-4C5D-BFCB-B5A45BF6DD7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757481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2E400-870C-A81B-F399-8F5C8783F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30EE61-20D6-B3AA-7988-2B63CBC8D0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0CA7BC-035F-119B-097F-E469AD612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2A3BA-B397-446C-B373-EC30C6B5623D}" type="datetimeFigureOut">
              <a:rPr lang="en-SG" smtClean="0"/>
              <a:t>5/12/2025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98E811-A138-C9E2-3425-8627B8D71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9C5A95-C597-ED14-7CE9-9488981D6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1517E-496F-4C5D-BFCB-B5A45BF6DD7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294913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4F920B-57D2-680B-91DB-6C2C6C9926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C9764E-24E3-7A34-3D59-017ADDCCA2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BD2F69-656F-75D9-F2D2-B345DC9D4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2A3BA-B397-446C-B373-EC30C6B5623D}" type="datetimeFigureOut">
              <a:rPr lang="en-SG" smtClean="0"/>
              <a:t>5/12/2025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96C4BA-B109-B85C-9E29-88DF7B67E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71E15E-71C5-3CF5-32B3-BE14E3F7F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1517E-496F-4C5D-BFCB-B5A45BF6DD7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07302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7E0094-20DB-FA33-623A-E867DCDA6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0F8D05-DC43-2649-8E85-B96448EF08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416F8E-EFB8-46DE-0C63-45DF7CD864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72A3BA-B397-446C-B373-EC30C6B5623D}" type="datetimeFigureOut">
              <a:rPr lang="en-SG" smtClean="0"/>
              <a:t>5/12/2025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E7D99D-7DBB-A859-EDF2-70BD458C0E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9C2DD-D460-1FF6-CA0C-A46875C1FB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B1517E-496F-4C5D-BFCB-B5A45BF6DD7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20899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diagram of a computer network&#10;&#10;Description automatically generated with medium confidence">
            <a:extLst>
              <a:ext uri="{FF2B5EF4-FFF2-40B4-BE49-F238E27FC236}">
                <a16:creationId xmlns:a16="http://schemas.microsoft.com/office/drawing/2014/main" id="{1E2D1F50-8F6C-973B-2032-BD3AF0BD303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1" t="40830" r="2289" b="4449"/>
          <a:stretch/>
        </p:blipFill>
        <p:spPr>
          <a:xfrm>
            <a:off x="3714068" y="1805940"/>
            <a:ext cx="7416703" cy="3246120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45E4F8E-2DBD-018D-ECED-17EB9DF12DD1}"/>
              </a:ext>
            </a:extLst>
          </p:cNvPr>
          <p:cNvCxnSpPr>
            <a:cxnSpLocks/>
          </p:cNvCxnSpPr>
          <p:nvPr/>
        </p:nvCxnSpPr>
        <p:spPr>
          <a:xfrm>
            <a:off x="3502310" y="4436284"/>
            <a:ext cx="1998686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E963E89-F205-BA35-74CC-607A9DF35AE0}"/>
              </a:ext>
            </a:extLst>
          </p:cNvPr>
          <p:cNvSpPr txBox="1"/>
          <p:nvPr/>
        </p:nvSpPr>
        <p:spPr>
          <a:xfrm>
            <a:off x="1233521" y="4218494"/>
            <a:ext cx="2268789" cy="830997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Provide connection interface lib for user to connect to the virtual or physical level0 OT device </a:t>
            </a:r>
            <a:endParaRPr lang="en-SG" sz="1200" b="1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50C818C-A0BD-B2DF-200A-F0C367616485}"/>
              </a:ext>
            </a:extLst>
          </p:cNvPr>
          <p:cNvCxnSpPr>
            <a:cxnSpLocks/>
          </p:cNvCxnSpPr>
          <p:nvPr/>
        </p:nvCxnSpPr>
        <p:spPr>
          <a:xfrm>
            <a:off x="3502310" y="3883763"/>
            <a:ext cx="2166970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4C5B4BB-87CF-1FCB-7CDF-8B274EF9EA18}"/>
              </a:ext>
            </a:extLst>
          </p:cNvPr>
          <p:cNvSpPr txBox="1"/>
          <p:nvPr/>
        </p:nvSpPr>
        <p:spPr>
          <a:xfrm>
            <a:off x="1234093" y="3051405"/>
            <a:ext cx="2255863" cy="1015663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Provide the PLC, IED and RTU simulation program with </a:t>
            </a:r>
            <a:r>
              <a:rPr lang="en-US" sz="1200" b="1">
                <a:solidFill>
                  <a:schemeClr val="accent2">
                    <a:lumMod val="75000"/>
                  </a:schemeClr>
                </a:solidFill>
              </a:rPr>
              <a:t>OPC-UA-TCP server </a:t>
            </a:r>
            <a:r>
              <a:rPr lang="en-US" sz="1200" b="1"/>
              <a:t>for </a:t>
            </a:r>
            <a:r>
              <a:rPr lang="en-US" sz="1200" b="1" dirty="0"/>
              <a:t>user to build different Level1 field controller </a:t>
            </a:r>
            <a:endParaRPr lang="en-SG" sz="12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902E59-111C-294F-5175-27BD18132836}"/>
              </a:ext>
            </a:extLst>
          </p:cNvPr>
          <p:cNvSpPr txBox="1"/>
          <p:nvPr/>
        </p:nvSpPr>
        <p:spPr>
          <a:xfrm>
            <a:off x="1233521" y="1833031"/>
            <a:ext cx="2250790" cy="1015663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Provide the </a:t>
            </a:r>
            <a:r>
              <a:rPr lang="en-US" sz="1200" b="1" dirty="0">
                <a:solidFill>
                  <a:schemeClr val="accent6">
                    <a:lumMod val="75000"/>
                  </a:schemeClr>
                </a:solidFill>
              </a:rPr>
              <a:t>OPC-UA-TCP client </a:t>
            </a:r>
            <a:r>
              <a:rPr lang="en-US" sz="1200" b="1" dirty="0"/>
              <a:t>Communication interface for user to build their own HMI and Operation management Zone service </a:t>
            </a:r>
            <a:endParaRPr lang="en-SG" sz="1200" b="1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F62C02A-C721-7E5B-D44E-EEFF1F8F7138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3484311" y="2340863"/>
            <a:ext cx="1798053" cy="1392388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88FF1F7-AC92-4C29-A721-6EFB393E30F0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3484311" y="2340863"/>
            <a:ext cx="1798053" cy="737417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BABED4C-C9CF-0FC8-A8A9-EEC49C036B83}"/>
              </a:ext>
            </a:extLst>
          </p:cNvPr>
          <p:cNvSpPr txBox="1"/>
          <p:nvPr/>
        </p:nvSpPr>
        <p:spPr>
          <a:xfrm>
            <a:off x="5831172" y="3891658"/>
            <a:ext cx="52965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PLC</a:t>
            </a:r>
            <a:endParaRPr lang="en-SG" sz="12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FB7CE16-06AA-BEFB-17CF-DCDF8E58DDF6}"/>
              </a:ext>
            </a:extLst>
          </p:cNvPr>
          <p:cNvSpPr txBox="1"/>
          <p:nvPr/>
        </p:nvSpPr>
        <p:spPr>
          <a:xfrm>
            <a:off x="6892764" y="3891657"/>
            <a:ext cx="52965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RTU</a:t>
            </a:r>
            <a:endParaRPr lang="en-SG" sz="12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ED0AB5-FBCF-B005-E1D2-67ABC228D9DC}"/>
              </a:ext>
            </a:extLst>
          </p:cNvPr>
          <p:cNvSpPr txBox="1"/>
          <p:nvPr/>
        </p:nvSpPr>
        <p:spPr>
          <a:xfrm>
            <a:off x="5392260" y="3475651"/>
            <a:ext cx="123130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>
                <a:solidFill>
                  <a:srgbClr val="C00000"/>
                </a:solidFill>
              </a:rPr>
              <a:t>OPC-UA Client </a:t>
            </a:r>
            <a:endParaRPr lang="en-SG" sz="1000" b="1" dirty="0">
              <a:solidFill>
                <a:srgbClr val="C0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908DEDB-B997-9BD8-5962-C4E36011BB2C}"/>
              </a:ext>
            </a:extLst>
          </p:cNvPr>
          <p:cNvSpPr txBox="1"/>
          <p:nvPr/>
        </p:nvSpPr>
        <p:spPr>
          <a:xfrm>
            <a:off x="7879037" y="3456252"/>
            <a:ext cx="300943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Electrical Signal Simulation Link Clients</a:t>
            </a:r>
            <a:endParaRPr lang="en-SG" sz="1200" b="1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940CA5B-C451-18EF-D9B0-A8480118E5E7}"/>
              </a:ext>
            </a:extLst>
          </p:cNvPr>
          <p:cNvCxnSpPr>
            <a:cxnSpLocks/>
            <a:stCxn id="16" idx="1"/>
          </p:cNvCxnSpPr>
          <p:nvPr/>
        </p:nvCxnSpPr>
        <p:spPr>
          <a:xfrm flipH="1">
            <a:off x="7295308" y="3594752"/>
            <a:ext cx="583729" cy="59631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0F8F5B0-C633-6E34-DA7E-63C1BC3D6D7D}"/>
              </a:ext>
            </a:extLst>
          </p:cNvPr>
          <p:cNvSpPr txBox="1"/>
          <p:nvPr/>
        </p:nvSpPr>
        <p:spPr>
          <a:xfrm>
            <a:off x="7879037" y="4483061"/>
            <a:ext cx="300943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Electrical Signal Simulation Link Server</a:t>
            </a:r>
            <a:endParaRPr lang="en-SG" sz="1200" b="1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0759DFA-D647-0324-8D7F-7AAFBCB40364}"/>
              </a:ext>
            </a:extLst>
          </p:cNvPr>
          <p:cNvCxnSpPr>
            <a:cxnSpLocks/>
            <a:stCxn id="18" idx="1"/>
          </p:cNvCxnSpPr>
          <p:nvPr/>
        </p:nvCxnSpPr>
        <p:spPr>
          <a:xfrm flipH="1">
            <a:off x="7295308" y="4621561"/>
            <a:ext cx="583729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B092182-820F-D028-6797-81BA0D01D5A7}"/>
              </a:ext>
            </a:extLst>
          </p:cNvPr>
          <p:cNvCxnSpPr>
            <a:cxnSpLocks/>
          </p:cNvCxnSpPr>
          <p:nvPr/>
        </p:nvCxnSpPr>
        <p:spPr>
          <a:xfrm flipV="1">
            <a:off x="5431536" y="2807014"/>
            <a:ext cx="0" cy="364525"/>
          </a:xfrm>
          <a:prstGeom prst="straightConnector1">
            <a:avLst/>
          </a:prstGeom>
          <a:ln>
            <a:solidFill>
              <a:srgbClr val="C000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EF6315D-7C5A-4E44-053C-ED174BF99EA4}"/>
              </a:ext>
            </a:extLst>
          </p:cNvPr>
          <p:cNvCxnSpPr>
            <a:cxnSpLocks/>
          </p:cNvCxnSpPr>
          <p:nvPr/>
        </p:nvCxnSpPr>
        <p:spPr>
          <a:xfrm>
            <a:off x="5431536" y="2791055"/>
            <a:ext cx="3218688" cy="1"/>
          </a:xfrm>
          <a:prstGeom prst="straightConnector1">
            <a:avLst/>
          </a:prstGeom>
          <a:ln>
            <a:solidFill>
              <a:srgbClr val="C000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8DD0457C-8A6B-8BCC-803B-F4704A620A89}"/>
              </a:ext>
            </a:extLst>
          </p:cNvPr>
          <p:cNvCxnSpPr/>
          <p:nvPr/>
        </p:nvCxnSpPr>
        <p:spPr>
          <a:xfrm rot="5400000" flipH="1" flipV="1">
            <a:off x="7917637" y="2460804"/>
            <a:ext cx="450191" cy="210312"/>
          </a:xfrm>
          <a:prstGeom prst="bentConnector3">
            <a:avLst>
              <a:gd name="adj1" fmla="val 98747"/>
            </a:avLst>
          </a:prstGeom>
          <a:ln>
            <a:solidFill>
              <a:srgbClr val="C000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2F45F6A8-8726-4D1C-74D3-8D14CF2D550B}"/>
              </a:ext>
            </a:extLst>
          </p:cNvPr>
          <p:cNvCxnSpPr/>
          <p:nvPr/>
        </p:nvCxnSpPr>
        <p:spPr>
          <a:xfrm rot="5400000" flipH="1" flipV="1">
            <a:off x="8557718" y="2460803"/>
            <a:ext cx="450191" cy="210312"/>
          </a:xfrm>
          <a:prstGeom prst="bentConnector3">
            <a:avLst>
              <a:gd name="adj1" fmla="val 98747"/>
            </a:avLst>
          </a:prstGeom>
          <a:ln>
            <a:solidFill>
              <a:srgbClr val="C000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3955C0FD-45E4-F69B-EC1D-FA5A0F5D974A}"/>
              </a:ext>
            </a:extLst>
          </p:cNvPr>
          <p:cNvSpPr txBox="1"/>
          <p:nvPr/>
        </p:nvSpPr>
        <p:spPr>
          <a:xfrm>
            <a:off x="5392260" y="3083268"/>
            <a:ext cx="123130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>
                <a:solidFill>
                  <a:srgbClr val="C00000"/>
                </a:solidFill>
              </a:rPr>
              <a:t>OPC-UA Server</a:t>
            </a:r>
            <a:endParaRPr lang="en-SG" sz="1000" b="1" dirty="0">
              <a:solidFill>
                <a:srgbClr val="C00000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FBC82DF-9349-2E0F-3BDB-FD4011F39E1E}"/>
              </a:ext>
            </a:extLst>
          </p:cNvPr>
          <p:cNvSpPr txBox="1"/>
          <p:nvPr/>
        </p:nvSpPr>
        <p:spPr>
          <a:xfrm>
            <a:off x="4874086" y="3954318"/>
            <a:ext cx="92572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>
                <a:solidFill>
                  <a:srgbClr val="C00000"/>
                </a:solidFill>
              </a:rPr>
              <a:t>OPC-UA Server</a:t>
            </a:r>
            <a:endParaRPr lang="en-SG" sz="1000" b="1" dirty="0">
              <a:solidFill>
                <a:srgbClr val="C00000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4EC27E2-2DD5-1733-C42C-5913DAD2EF57}"/>
              </a:ext>
            </a:extLst>
          </p:cNvPr>
          <p:cNvSpPr txBox="1"/>
          <p:nvPr/>
        </p:nvSpPr>
        <p:spPr>
          <a:xfrm>
            <a:off x="6196114" y="3813694"/>
            <a:ext cx="92572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>
                <a:solidFill>
                  <a:srgbClr val="C00000"/>
                </a:solidFill>
              </a:rPr>
              <a:t>OPC-UA Server</a:t>
            </a:r>
            <a:endParaRPr lang="en-SG" sz="1000" b="1" dirty="0">
              <a:solidFill>
                <a:srgbClr val="C00000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DD3A163-D27B-FCA5-FA25-D6DCCF26843D}"/>
              </a:ext>
            </a:extLst>
          </p:cNvPr>
          <p:cNvSpPr txBox="1"/>
          <p:nvPr/>
        </p:nvSpPr>
        <p:spPr>
          <a:xfrm>
            <a:off x="7000907" y="3228945"/>
            <a:ext cx="9620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>
                <a:solidFill>
                  <a:srgbClr val="C00000"/>
                </a:solidFill>
              </a:rPr>
              <a:t>OPC-UA Client </a:t>
            </a:r>
            <a:endParaRPr lang="en-SG" sz="1000" b="1" dirty="0">
              <a:solidFill>
                <a:srgbClr val="C00000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541740A-70ED-D6DD-2198-13A361E923D7}"/>
              </a:ext>
            </a:extLst>
          </p:cNvPr>
          <p:cNvSpPr txBox="1"/>
          <p:nvPr/>
        </p:nvSpPr>
        <p:spPr>
          <a:xfrm>
            <a:off x="7783151" y="2041245"/>
            <a:ext cx="110481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>
                <a:solidFill>
                  <a:srgbClr val="FF0000"/>
                </a:solidFill>
              </a:rPr>
              <a:t>OPC-UA Client </a:t>
            </a:r>
            <a:endParaRPr lang="en-SG" sz="1000" b="1" dirty="0">
              <a:solidFill>
                <a:srgbClr val="FF0000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58384C8-B196-384D-6117-E7FCA38D0824}"/>
              </a:ext>
            </a:extLst>
          </p:cNvPr>
          <p:cNvSpPr txBox="1"/>
          <p:nvPr/>
        </p:nvSpPr>
        <p:spPr>
          <a:xfrm>
            <a:off x="8695944" y="2027155"/>
            <a:ext cx="133502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>
                <a:solidFill>
                  <a:srgbClr val="FF0000"/>
                </a:solidFill>
              </a:rPr>
              <a:t>OPC-UA Client </a:t>
            </a:r>
            <a:endParaRPr lang="en-SG" sz="1000" b="1" dirty="0">
              <a:solidFill>
                <a:srgbClr val="FF0000"/>
              </a:solidFill>
            </a:endParaRPr>
          </a:p>
        </p:txBody>
      </p: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A934C0A1-5BF1-E68B-48A4-50314D4BE06C}"/>
              </a:ext>
            </a:extLst>
          </p:cNvPr>
          <p:cNvCxnSpPr>
            <a:cxnSpLocks/>
          </p:cNvCxnSpPr>
          <p:nvPr/>
        </p:nvCxnSpPr>
        <p:spPr>
          <a:xfrm rot="16200000" flipV="1">
            <a:off x="5274171" y="3653422"/>
            <a:ext cx="457612" cy="263041"/>
          </a:xfrm>
          <a:prstGeom prst="bentConnector3">
            <a:avLst>
              <a:gd name="adj1" fmla="val 2043"/>
            </a:avLst>
          </a:prstGeom>
          <a:ln>
            <a:solidFill>
              <a:srgbClr val="C000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5C686EED-5585-AEBC-C0F3-C1CCE34684D1}"/>
              </a:ext>
            </a:extLst>
          </p:cNvPr>
          <p:cNvSpPr txBox="1"/>
          <p:nvPr/>
        </p:nvSpPr>
        <p:spPr>
          <a:xfrm>
            <a:off x="1120735" y="1356650"/>
            <a:ext cx="101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Different OT levels OPC-UA data follow with related OPC-UA-TCP server and client configuration  </a:t>
            </a:r>
          </a:p>
        </p:txBody>
      </p:sp>
    </p:spTree>
    <p:extLst>
      <p:ext uri="{BB962C8B-B14F-4D97-AF65-F5344CB8AC3E}">
        <p14:creationId xmlns:p14="http://schemas.microsoft.com/office/powerpoint/2010/main" val="25693077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93</Words>
  <Application>Microsoft Office PowerPoint</Application>
  <PresentationFormat>Widescreen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yuancheng Liu</dc:creator>
  <cp:lastModifiedBy>yuancheng Liu</cp:lastModifiedBy>
  <cp:revision>3</cp:revision>
  <dcterms:created xsi:type="dcterms:W3CDTF">2025-12-05T01:36:25Z</dcterms:created>
  <dcterms:modified xsi:type="dcterms:W3CDTF">2025-12-05T01:55:21Z</dcterms:modified>
</cp:coreProperties>
</file>