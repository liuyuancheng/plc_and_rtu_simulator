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D8FD3-42E6-4115-9E5E-A8FCCF6B73B5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84150-ABA0-430E-8BFA-F7FBD0D352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677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84150-ABA0-430E-8BFA-F7FBD0D35203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9275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84150-ABA0-430E-8BFA-F7FBD0D35203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284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D497-B16D-6FAC-23EF-328805845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AA2F8-CFC1-ACF6-57C8-77066A4A8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EC5E-68E1-1351-937F-733A59FD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0B8C-6EB5-1C9A-C076-232A1C8E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95C80-B767-65BF-DAFA-B1470F94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396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DE530-5592-9FA7-7912-10AD37EC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11178-4904-2C15-5BC8-BEDEA42F1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7AC0-8651-3C4D-2F92-45902E38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8015-2C4E-1A55-F8C5-0EE5542A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C14E4-6128-4D0B-133C-4D1557A8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855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AFFC-1EA7-1C9E-83DF-384D86AF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5523D-E705-1D0D-B7A0-C71026D4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2D50B-0435-AE69-4B1A-2249195C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8F0A-E513-0660-BD1F-F1128C47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4D636-6188-F461-3F64-D66882BE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752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CC57-FDD3-9758-0CD3-E12449B9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97C5-5EB9-ECD6-7CF0-031225660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55FD7-9550-1333-A04B-81F5ECB1A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675C4-5416-D1AC-5CEA-77EEBA69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031FC-476E-FCA2-E731-3414CD08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5BD22-E144-EC17-6064-6801F37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947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D19A-AE31-D573-7FC8-BCC6C19F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48D7-5380-92CC-9BB5-C927F2998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24EEF-9BDB-7A14-48AC-3B387E3B8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68203-C3AC-9097-F482-43A2446C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1181C-0214-4744-4400-C4C60AC0D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7F5A2-AC77-593F-AAE2-0E2E8CAE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024E37-9778-FB97-7DE3-2E9005B4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B77D26-E220-B06C-E344-98051EC7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783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311-6F6C-2B43-CB4B-BA4C6AA1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9B6E9-FAED-2AEE-9AEB-E8FDEBF5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02133-40C9-6A3D-A4D0-26692552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08FA2-8CB2-43B0-CA63-B9E8F919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348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66069-3D37-25D7-3B02-3FFE107F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ED58F-3C03-0852-6A89-91DC0142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1DF36-91B3-02EE-51FC-F439EEAF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188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595A-B1FB-F5CA-3E10-4FA3D57A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4186-51FA-AA68-5560-735FFEEEE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221A6-8D79-0C6E-0C08-91DBA02AE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7BD6-B100-AD6B-9A8D-A9465F43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3E387-4CC7-CC0B-16D4-0267BDAF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1EAD-829F-DFFC-1C82-B73811FA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493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E5FA-C8AC-A08B-A7DB-47DD9BCC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82E8A-2AF9-1AFF-207C-94376AFD8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F293E-8996-6E8A-35F4-5286E46B5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DE34E-9019-DA2A-A280-A272B649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A2FA7-6CC6-301F-1481-6EB4A415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3E3B9-897A-57DE-3374-5C543D2C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647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E15E-0396-87F7-2571-119B1A59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DE21D-5350-9D97-EA59-14C148685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D6ACE-0D47-3876-E0C9-868E5E03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D1364-EAB8-ABB2-0F90-BEFEBCBF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9A529-2CE2-6739-78E3-FEA30461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749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842C9-2C63-6988-1D3A-79A1592F6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6F170-AFB7-386E-2A7A-009FA827F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7F4A-00FC-E1FA-86DE-E991133D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CE20F-7A03-7613-DC96-1A4ECF98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9FF4-0CF5-37CD-396B-CDBA2F8A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644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412238-D5B1-0093-D04C-5DC4E3DD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B8E5C-1E5C-3140-D124-EE3E5EAE2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6C63E-0304-12F4-292B-63D862843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AAF38-9343-4D68-A973-A40334CBD430}" type="datetimeFigureOut">
              <a:rPr lang="en-SG" smtClean="0"/>
              <a:t>16/1/2026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6AC65-D226-512E-566E-B6656C30C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3784D-657F-7CDC-9B6C-3B6CA83B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9A71-3D1F-440E-AA33-A92CD9F6DF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682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6F6E16-C3F8-D740-368F-380B2C850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0" y="448056"/>
            <a:ext cx="10549538" cy="6044184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FEC3D80-BC84-E651-2416-169D6DC96C44}"/>
              </a:ext>
            </a:extLst>
          </p:cNvPr>
          <p:cNvCxnSpPr>
            <a:cxnSpLocks/>
          </p:cNvCxnSpPr>
          <p:nvPr/>
        </p:nvCxnSpPr>
        <p:spPr>
          <a:xfrm>
            <a:off x="1581912" y="2157983"/>
            <a:ext cx="1197864" cy="820389"/>
          </a:xfrm>
          <a:prstGeom prst="bentConnector3">
            <a:avLst>
              <a:gd name="adj1" fmla="val 2672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E53D711-5C56-30D9-F8BF-DB66C4B69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24" y="1104030"/>
            <a:ext cx="2470040" cy="1172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B0F22F-0898-D07E-BFA6-2DAD1AEF8F6D}"/>
              </a:ext>
            </a:extLst>
          </p:cNvPr>
          <p:cNvSpPr txBox="1"/>
          <p:nvPr/>
        </p:nvSpPr>
        <p:spPr>
          <a:xfrm>
            <a:off x="1097280" y="5671280"/>
            <a:ext cx="4233672" cy="73866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Provide connection interface lib for controller to link to the virtual or physical level0 OT device such as the temperature sensor, security door locker </a:t>
            </a:r>
            <a:endParaRPr lang="en-SG" sz="1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8ECA6E-6E5E-4883-5BD8-63B1599232DF}"/>
              </a:ext>
            </a:extLst>
          </p:cNvPr>
          <p:cNvCxnSpPr>
            <a:cxnSpLocks/>
          </p:cNvCxnSpPr>
          <p:nvPr/>
        </p:nvCxnSpPr>
        <p:spPr>
          <a:xfrm flipV="1">
            <a:off x="4882896" y="5093208"/>
            <a:ext cx="932688" cy="578072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A7C705-8DB9-8984-4746-A77DFFEFA11D}"/>
              </a:ext>
            </a:extLst>
          </p:cNvPr>
          <p:cNvSpPr txBox="1"/>
          <p:nvPr/>
        </p:nvSpPr>
        <p:spPr>
          <a:xfrm>
            <a:off x="1097280" y="4581146"/>
            <a:ext cx="2903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Provide the RTU simulation program with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BACnet server </a:t>
            </a:r>
            <a:r>
              <a:rPr lang="en-US" sz="1400" b="1" dirty="0"/>
              <a:t>for user to build different Level1 OT field controller </a:t>
            </a:r>
            <a:endParaRPr lang="en-SG" sz="14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CAFB69-E6B3-D665-8C68-0ADABEF0CC2A}"/>
              </a:ext>
            </a:extLst>
          </p:cNvPr>
          <p:cNvCxnSpPr>
            <a:cxnSpLocks/>
          </p:cNvCxnSpPr>
          <p:nvPr/>
        </p:nvCxnSpPr>
        <p:spPr>
          <a:xfrm flipV="1">
            <a:off x="3042956" y="4003074"/>
            <a:ext cx="932688" cy="578072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A1A2180-4199-D988-EDC8-D3271038D150}"/>
              </a:ext>
            </a:extLst>
          </p:cNvPr>
          <p:cNvSpPr txBox="1"/>
          <p:nvPr/>
        </p:nvSpPr>
        <p:spPr>
          <a:xfrm>
            <a:off x="7546466" y="832104"/>
            <a:ext cx="3752484" cy="73866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Provide the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BACnet client </a:t>
            </a:r>
            <a:r>
              <a:rPr lang="en-US" sz="1400" b="1" dirty="0"/>
              <a:t>Communication interface for user to build their own HMI and Operation management Zone data base.</a:t>
            </a:r>
            <a:endParaRPr lang="en-SG" sz="1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1AF8EF-A203-2D9C-0519-0370D0354880}"/>
              </a:ext>
            </a:extLst>
          </p:cNvPr>
          <p:cNvCxnSpPr>
            <a:cxnSpLocks/>
          </p:cNvCxnSpPr>
          <p:nvPr/>
        </p:nvCxnSpPr>
        <p:spPr>
          <a:xfrm flipH="1">
            <a:off x="5815584" y="832104"/>
            <a:ext cx="1730882" cy="1014984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96BA62-4A10-D7DD-C3C0-8988C981901F}"/>
              </a:ext>
            </a:extLst>
          </p:cNvPr>
          <p:cNvCxnSpPr>
            <a:cxnSpLocks/>
          </p:cNvCxnSpPr>
          <p:nvPr/>
        </p:nvCxnSpPr>
        <p:spPr>
          <a:xfrm>
            <a:off x="8092440" y="5712156"/>
            <a:ext cx="676656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6A3F19-CD1D-7BF8-A8A5-FFFC13481B2B}"/>
              </a:ext>
            </a:extLst>
          </p:cNvPr>
          <p:cNvSpPr txBox="1"/>
          <p:nvPr/>
        </p:nvSpPr>
        <p:spPr>
          <a:xfrm>
            <a:off x="8895008" y="5558267"/>
            <a:ext cx="2403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Simulated Electrical Signal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E8A2D4D-D1AA-F1AF-CAA5-DC3EDAE1366B}"/>
              </a:ext>
            </a:extLst>
          </p:cNvPr>
          <p:cNvCxnSpPr>
            <a:cxnSpLocks/>
          </p:cNvCxnSpPr>
          <p:nvPr/>
        </p:nvCxnSpPr>
        <p:spPr>
          <a:xfrm>
            <a:off x="8092440" y="6093156"/>
            <a:ext cx="67665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B32BFAA-C15E-9FD9-3598-9CDD5E0A454E}"/>
              </a:ext>
            </a:extLst>
          </p:cNvPr>
          <p:cNvSpPr txBox="1"/>
          <p:nvPr/>
        </p:nvSpPr>
        <p:spPr>
          <a:xfrm>
            <a:off x="8895008" y="5939267"/>
            <a:ext cx="2480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BACnet Communication Bus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B31F78-D48C-BEC4-8610-2C3564FC4C41}"/>
              </a:ext>
            </a:extLst>
          </p:cNvPr>
          <p:cNvSpPr txBox="1"/>
          <p:nvPr/>
        </p:nvSpPr>
        <p:spPr>
          <a:xfrm>
            <a:off x="893050" y="796253"/>
            <a:ext cx="3011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Building Management Dashboard </a:t>
            </a:r>
          </a:p>
        </p:txBody>
      </p:sp>
    </p:spTree>
    <p:extLst>
      <p:ext uri="{BB962C8B-B14F-4D97-AF65-F5344CB8AC3E}">
        <p14:creationId xmlns:p14="http://schemas.microsoft.com/office/powerpoint/2010/main" val="252866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8F2139-5FB2-A488-50A4-CA081C68D190}"/>
              </a:ext>
            </a:extLst>
          </p:cNvPr>
          <p:cNvSpPr/>
          <p:nvPr/>
        </p:nvSpPr>
        <p:spPr>
          <a:xfrm>
            <a:off x="144379" y="2029968"/>
            <a:ext cx="11511815" cy="3054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F0480-660D-9366-D231-51E9D05A0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3" y="2151245"/>
            <a:ext cx="5389104" cy="2816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88B5A-B013-E01A-F2FD-384A7A0B6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18" y="2148716"/>
            <a:ext cx="6170997" cy="281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9AF108-E3E9-16C2-C63F-C1BABF08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50"/>
          <a:stretch>
            <a:fillRect/>
          </a:stretch>
        </p:blipFill>
        <p:spPr>
          <a:xfrm>
            <a:off x="842166" y="1005394"/>
            <a:ext cx="4861006" cy="5066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3FFCA-8E5F-AA08-2DC9-C1AC6BFB84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43" b="2743"/>
          <a:stretch>
            <a:fillRect/>
          </a:stretch>
        </p:blipFill>
        <p:spPr>
          <a:xfrm>
            <a:off x="5893870" y="1005394"/>
            <a:ext cx="4861006" cy="5066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52FE0B-6B91-CCDC-B92D-5112A0A5E662}"/>
              </a:ext>
            </a:extLst>
          </p:cNvPr>
          <p:cNvSpPr/>
          <p:nvPr/>
        </p:nvSpPr>
        <p:spPr>
          <a:xfrm>
            <a:off x="1143000" y="4745736"/>
            <a:ext cx="2523744" cy="338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D79EFF-6C47-9DFD-DAD4-ECFA70FC7362}"/>
              </a:ext>
            </a:extLst>
          </p:cNvPr>
          <p:cNvSpPr/>
          <p:nvPr/>
        </p:nvSpPr>
        <p:spPr>
          <a:xfrm>
            <a:off x="6178296" y="4745736"/>
            <a:ext cx="2523744" cy="338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CE1CA-B868-A72E-6964-EABCF2F6FEAE}"/>
              </a:ext>
            </a:extLst>
          </p:cNvPr>
          <p:cNvSpPr txBox="1"/>
          <p:nvPr/>
        </p:nvSpPr>
        <p:spPr>
          <a:xfrm>
            <a:off x="769014" y="616662"/>
            <a:ext cx="3720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C00000"/>
                </a:solidFill>
              </a:rPr>
              <a:t>Write Analog Value Property Request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6D824-C753-3985-0755-BD7F8801EF4C}"/>
              </a:ext>
            </a:extLst>
          </p:cNvPr>
          <p:cNvSpPr txBox="1"/>
          <p:nvPr/>
        </p:nvSpPr>
        <p:spPr>
          <a:xfrm>
            <a:off x="5841953" y="597929"/>
            <a:ext cx="3720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C00000"/>
                </a:solidFill>
              </a:rPr>
              <a:t>Read Analog Value Property Request</a:t>
            </a:r>
          </a:p>
        </p:txBody>
      </p:sp>
    </p:spTree>
    <p:extLst>
      <p:ext uri="{BB962C8B-B14F-4D97-AF65-F5344CB8AC3E}">
        <p14:creationId xmlns:p14="http://schemas.microsoft.com/office/powerpoint/2010/main" val="2685213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8BAD217F-7005-BB2B-F13E-7A9664C1020C}"/>
              </a:ext>
            </a:extLst>
          </p:cNvPr>
          <p:cNvSpPr/>
          <p:nvPr/>
        </p:nvSpPr>
        <p:spPr>
          <a:xfrm>
            <a:off x="4384999" y="5499327"/>
            <a:ext cx="2647306" cy="1076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D62D43B-87AF-8B47-C09B-D66D20BC37BD}"/>
              </a:ext>
            </a:extLst>
          </p:cNvPr>
          <p:cNvSpPr/>
          <p:nvPr/>
        </p:nvSpPr>
        <p:spPr>
          <a:xfrm>
            <a:off x="8394789" y="4570224"/>
            <a:ext cx="3211175" cy="18463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37A8677-8040-C491-6D80-73149652E6CE}"/>
              </a:ext>
            </a:extLst>
          </p:cNvPr>
          <p:cNvSpPr/>
          <p:nvPr/>
        </p:nvSpPr>
        <p:spPr>
          <a:xfrm>
            <a:off x="4478013" y="1314273"/>
            <a:ext cx="2802779" cy="40441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DD3D4-6B5E-7CB5-E003-2C037546352E}"/>
              </a:ext>
            </a:extLst>
          </p:cNvPr>
          <p:cNvSpPr/>
          <p:nvPr/>
        </p:nvSpPr>
        <p:spPr>
          <a:xfrm>
            <a:off x="703110" y="1319622"/>
            <a:ext cx="3413179" cy="4475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C18DF-ABBF-4D82-87B5-E051CFF1E5E0}"/>
              </a:ext>
            </a:extLst>
          </p:cNvPr>
          <p:cNvSpPr txBox="1"/>
          <p:nvPr/>
        </p:nvSpPr>
        <p:spPr>
          <a:xfrm>
            <a:off x="703110" y="1375901"/>
            <a:ext cx="3060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Center HVAC Physical Components Simulation Modules</a:t>
            </a:r>
            <a:endParaRPr lang="en-SG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A8BC0D-761B-63E8-6F7E-ABC7CD86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95" y="3691740"/>
            <a:ext cx="738303" cy="63696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2F2BC-4E18-1456-396E-6304DD70671F}"/>
              </a:ext>
            </a:extLst>
          </p:cNvPr>
          <p:cNvSpPr txBox="1"/>
          <p:nvPr/>
        </p:nvSpPr>
        <p:spPr>
          <a:xfrm>
            <a:off x="803067" y="3437250"/>
            <a:ext cx="1069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Compressor</a:t>
            </a:r>
            <a:endParaRPr lang="en-SG" sz="1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86A455-AFE0-FDF6-4EFF-FA08CFAEA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663" y="3691739"/>
            <a:ext cx="792504" cy="63696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6171B6-EAB6-491E-9B8B-70AF4907C9B2}"/>
              </a:ext>
            </a:extLst>
          </p:cNvPr>
          <p:cNvSpPr txBox="1"/>
          <p:nvPr/>
        </p:nvSpPr>
        <p:spPr>
          <a:xfrm>
            <a:off x="1824261" y="3427455"/>
            <a:ext cx="1289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Air Conditioner</a:t>
            </a:r>
            <a:endParaRPr lang="en-SG" sz="12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D75DA2-BA9A-0A54-0966-38990D225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165" y="3691738"/>
            <a:ext cx="656466" cy="63696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D339F5-F883-3AEB-90D9-01270C42BF59}"/>
              </a:ext>
            </a:extLst>
          </p:cNvPr>
          <p:cNvSpPr txBox="1"/>
          <p:nvPr/>
        </p:nvSpPr>
        <p:spPr>
          <a:xfrm>
            <a:off x="3077586" y="3414739"/>
            <a:ext cx="534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Fan</a:t>
            </a:r>
            <a:endParaRPr lang="en-SG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1D30AF-C4C2-25EC-BB0A-E91DADA90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603" y="4798527"/>
            <a:ext cx="646477" cy="65994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AA98C1-3BD1-3E1D-2633-AF7B48605233}"/>
              </a:ext>
            </a:extLst>
          </p:cNvPr>
          <p:cNvSpPr txBox="1"/>
          <p:nvPr/>
        </p:nvSpPr>
        <p:spPr>
          <a:xfrm>
            <a:off x="1949663" y="5518184"/>
            <a:ext cx="73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Heater</a:t>
            </a:r>
            <a:endParaRPr lang="en-SG" sz="12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6F4042-F0F7-CDB5-3D29-147E0CB5CA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56" y="4766628"/>
            <a:ext cx="646478" cy="67880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D99147B-4472-BAB7-30D5-158F1C510868}"/>
              </a:ext>
            </a:extLst>
          </p:cNvPr>
          <p:cNvSpPr txBox="1"/>
          <p:nvPr/>
        </p:nvSpPr>
        <p:spPr>
          <a:xfrm>
            <a:off x="775334" y="5479213"/>
            <a:ext cx="1215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Cooling pump</a:t>
            </a:r>
            <a:endParaRPr lang="en-SG" sz="12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792FD91-5D73-120B-10F7-569250FB33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9141" y="4789426"/>
            <a:ext cx="683338" cy="65600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3FA293C-F436-9754-38D9-4C2167E34FF9}"/>
              </a:ext>
            </a:extLst>
          </p:cNvPr>
          <p:cNvSpPr txBox="1"/>
          <p:nvPr/>
        </p:nvSpPr>
        <p:spPr>
          <a:xfrm>
            <a:off x="2860695" y="5518184"/>
            <a:ext cx="106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Power Unit</a:t>
            </a:r>
            <a:endParaRPr lang="en-SG" sz="1200" b="1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2EA6981-93CF-9D67-8FD6-3BD51336EAEA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2414008" y="3233746"/>
            <a:ext cx="254991" cy="244491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ADA1C3-444A-A722-0A8F-3D98AEBF8C18}"/>
              </a:ext>
            </a:extLst>
          </p:cNvPr>
          <p:cNvCxnSpPr>
            <a:stCxn id="10" idx="2"/>
          </p:cNvCxnSpPr>
          <p:nvPr/>
        </p:nvCxnSpPr>
        <p:spPr>
          <a:xfrm>
            <a:off x="2345915" y="4328706"/>
            <a:ext cx="0" cy="2549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DFDA80-E47F-113F-7792-D4651E326EF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309398" y="4328705"/>
            <a:ext cx="0" cy="2545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4C5B21-3A37-07BD-55C5-3B459AD481E7}"/>
              </a:ext>
            </a:extLst>
          </p:cNvPr>
          <p:cNvCxnSpPr>
            <a:cxnSpLocks/>
          </p:cNvCxnSpPr>
          <p:nvPr/>
        </p:nvCxnSpPr>
        <p:spPr>
          <a:xfrm flipH="1">
            <a:off x="1312559" y="4583236"/>
            <a:ext cx="0" cy="183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BBA968-CF89-EAE0-0133-FAAA26ADFE64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14842" y="4576764"/>
            <a:ext cx="0" cy="2217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AD5502D-DFCB-D51E-B3AC-F0E2DA7985E7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3270810" y="4583236"/>
            <a:ext cx="0" cy="206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936CE23-B784-C485-55B3-F3F977C34EFF}"/>
              </a:ext>
            </a:extLst>
          </p:cNvPr>
          <p:cNvSpPr/>
          <p:nvPr/>
        </p:nvSpPr>
        <p:spPr>
          <a:xfrm>
            <a:off x="3763959" y="2589254"/>
            <a:ext cx="1187105" cy="5431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Input</a:t>
            </a:r>
            <a:endParaRPr lang="en-SG" sz="1050" b="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0A02168-7794-58A5-3EA7-23AC21B3B2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50" y="2443558"/>
            <a:ext cx="635020" cy="59614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8EDFDA0-9300-F494-EA4F-D0EDE6581CDA}"/>
              </a:ext>
            </a:extLst>
          </p:cNvPr>
          <p:cNvSpPr/>
          <p:nvPr/>
        </p:nvSpPr>
        <p:spPr>
          <a:xfrm>
            <a:off x="3769035" y="4313826"/>
            <a:ext cx="1187105" cy="5431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 Output </a:t>
            </a:r>
            <a:endParaRPr lang="en-SG" sz="105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F7F9A7-BFF8-4BE3-8170-9CB5A71A21BE}"/>
              </a:ext>
            </a:extLst>
          </p:cNvPr>
          <p:cNvSpPr txBox="1"/>
          <p:nvPr/>
        </p:nvSpPr>
        <p:spPr>
          <a:xfrm>
            <a:off x="843431" y="1973306"/>
            <a:ext cx="102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Room Temp Sensor </a:t>
            </a:r>
            <a:endParaRPr lang="en-SG" sz="1200" b="1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55C9A7-8C2F-FE9D-D321-A850D2A53A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4722" y="2443558"/>
            <a:ext cx="635020" cy="57034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CC778D8-CCCA-10A4-7D93-D251B3A78B78}"/>
              </a:ext>
            </a:extLst>
          </p:cNvPr>
          <p:cNvSpPr txBox="1"/>
          <p:nvPr/>
        </p:nvSpPr>
        <p:spPr>
          <a:xfrm>
            <a:off x="1753718" y="1980656"/>
            <a:ext cx="1289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Room Humidity Sensor </a:t>
            </a:r>
            <a:endParaRPr lang="en-SG" sz="1200" b="1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BCF5973-959A-325A-BB6E-4E6E35A769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4108" y="2402216"/>
            <a:ext cx="635020" cy="63502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6C53178-38A7-8F13-0F16-FD8BBC2E0F59}"/>
              </a:ext>
            </a:extLst>
          </p:cNvPr>
          <p:cNvSpPr txBox="1"/>
          <p:nvPr/>
        </p:nvSpPr>
        <p:spPr>
          <a:xfrm>
            <a:off x="2917671" y="1944933"/>
            <a:ext cx="100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System OP</a:t>
            </a:r>
          </a:p>
          <a:p>
            <a:r>
              <a:rPr lang="en-US" sz="1200" b="1" dirty="0"/>
              <a:t>Sensors</a:t>
            </a:r>
            <a:endParaRPr lang="en-SG" sz="1200" b="1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4801186-F328-A116-50AC-1FC36ED215D0}"/>
              </a:ext>
            </a:extLst>
          </p:cNvPr>
          <p:cNvCxnSpPr>
            <a:cxnSpLocks/>
            <a:endCxn id="53" idx="1"/>
          </p:cNvCxnSpPr>
          <p:nvPr/>
        </p:nvCxnSpPr>
        <p:spPr>
          <a:xfrm rot="5400000" flipH="1" flipV="1">
            <a:off x="1936312" y="3588968"/>
            <a:ext cx="1857038" cy="11855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E7BCFFE-EB2E-1E24-3C3D-FCCF507D373D}"/>
              </a:ext>
            </a:extLst>
          </p:cNvPr>
          <p:cNvCxnSpPr>
            <a:stCxn id="45" idx="2"/>
            <a:endCxn id="43" idx="1"/>
          </p:cNvCxnSpPr>
          <p:nvPr/>
        </p:nvCxnSpPr>
        <p:spPr>
          <a:xfrm rot="5400000" flipH="1" flipV="1">
            <a:off x="2434676" y="1710416"/>
            <a:ext cx="178866" cy="2479699"/>
          </a:xfrm>
          <a:prstGeom prst="bentConnector4">
            <a:avLst>
              <a:gd name="adj1" fmla="val -168704"/>
              <a:gd name="adj2" fmla="val 9696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85F7552-D3C2-9DD2-B319-323F84F3A299}"/>
              </a:ext>
            </a:extLst>
          </p:cNvPr>
          <p:cNvCxnSpPr>
            <a:stCxn id="50" idx="2"/>
          </p:cNvCxnSpPr>
          <p:nvPr/>
        </p:nvCxnSpPr>
        <p:spPr>
          <a:xfrm>
            <a:off x="2242232" y="3013901"/>
            <a:ext cx="0" cy="3328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B1296FD-8899-F46E-3BFE-F06BFA0DCC70}"/>
              </a:ext>
            </a:extLst>
          </p:cNvPr>
          <p:cNvCxnSpPr>
            <a:cxnSpLocks/>
          </p:cNvCxnSpPr>
          <p:nvPr/>
        </p:nvCxnSpPr>
        <p:spPr>
          <a:xfrm>
            <a:off x="3249666" y="3037236"/>
            <a:ext cx="0" cy="30946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83D0994-FFC7-B371-BE19-4F804F4F3BC3}"/>
              </a:ext>
            </a:extLst>
          </p:cNvPr>
          <p:cNvSpPr txBox="1"/>
          <p:nvPr/>
        </p:nvSpPr>
        <p:spPr>
          <a:xfrm>
            <a:off x="4547915" y="1344194"/>
            <a:ext cx="2732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BACnet HVAC RTU Simulation Framework</a:t>
            </a:r>
            <a:endParaRPr lang="en-SG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5B9271-91E4-96A0-FFD7-67E7E3B97AB1}"/>
              </a:ext>
            </a:extLst>
          </p:cNvPr>
          <p:cNvSpPr txBox="1"/>
          <p:nvPr/>
        </p:nvSpPr>
        <p:spPr>
          <a:xfrm>
            <a:off x="4396189" y="902222"/>
            <a:ext cx="288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Level1 OT Controller Devices </a:t>
            </a:r>
            <a:endParaRPr lang="en-SG" sz="1400" b="1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3B1F21D-3FFF-311D-0F28-364F99BC07E2}"/>
              </a:ext>
            </a:extLst>
          </p:cNvPr>
          <p:cNvSpPr/>
          <p:nvPr/>
        </p:nvSpPr>
        <p:spPr>
          <a:xfrm>
            <a:off x="5167544" y="2323810"/>
            <a:ext cx="1627509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BAC  Input Objects [R] </a:t>
            </a:r>
            <a:endParaRPr lang="en-SG" sz="1050" b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E975E3-A302-4742-D3FF-AD860728FC10}"/>
              </a:ext>
            </a:extLst>
          </p:cNvPr>
          <p:cNvSpPr/>
          <p:nvPr/>
        </p:nvSpPr>
        <p:spPr>
          <a:xfrm>
            <a:off x="6446017" y="1808164"/>
            <a:ext cx="1077844" cy="2810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BACnet Server </a:t>
            </a:r>
            <a:endParaRPr lang="en-SG" sz="105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0193F1-FCF7-0996-4AFD-5FEB7922A1DC}"/>
              </a:ext>
            </a:extLst>
          </p:cNvPr>
          <p:cNvSpPr/>
          <p:nvPr/>
        </p:nvSpPr>
        <p:spPr>
          <a:xfrm>
            <a:off x="5155895" y="2802401"/>
            <a:ext cx="1660432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BAC Analog Objects [R]</a:t>
            </a:r>
            <a:endParaRPr lang="en-SG" sz="1050" b="1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0C4944A4-AC6E-C358-AD9C-F8CDE9B6C9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9054" y="3463704"/>
            <a:ext cx="762864" cy="6638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D271E74-DEAC-DBC5-E155-98AC307DE59C}"/>
              </a:ext>
            </a:extLst>
          </p:cNvPr>
          <p:cNvCxnSpPr>
            <a:cxnSpLocks/>
          </p:cNvCxnSpPr>
          <p:nvPr/>
        </p:nvCxnSpPr>
        <p:spPr>
          <a:xfrm>
            <a:off x="5565202" y="3098128"/>
            <a:ext cx="0" cy="31661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CCF8B580-F10B-631A-B37B-F25334061A92}"/>
              </a:ext>
            </a:extLst>
          </p:cNvPr>
          <p:cNvSpPr/>
          <p:nvPr/>
        </p:nvSpPr>
        <p:spPr>
          <a:xfrm>
            <a:off x="5225918" y="4460716"/>
            <a:ext cx="1668722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BAC Output Objects [W] </a:t>
            </a:r>
            <a:endParaRPr lang="en-SG" sz="1050" b="1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09589C9-9FFB-B9B3-97C0-16FA1BAA3988}"/>
              </a:ext>
            </a:extLst>
          </p:cNvPr>
          <p:cNvCxnSpPr>
            <a:cxnSpLocks/>
          </p:cNvCxnSpPr>
          <p:nvPr/>
        </p:nvCxnSpPr>
        <p:spPr>
          <a:xfrm>
            <a:off x="7063098" y="2098324"/>
            <a:ext cx="0" cy="297764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87F13EF-BB40-8784-CA1E-3F7F9B4EDF0E}"/>
              </a:ext>
            </a:extLst>
          </p:cNvPr>
          <p:cNvSpPr txBox="1"/>
          <p:nvPr/>
        </p:nvSpPr>
        <p:spPr>
          <a:xfrm>
            <a:off x="594002" y="913025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Level0 OT Physical Field I/O Devices </a:t>
            </a:r>
            <a:endParaRPr lang="en-SG" sz="1400" b="1" dirty="0"/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6D873836-042B-9484-0DD9-AF0C3451A2E5}"/>
              </a:ext>
            </a:extLst>
          </p:cNvPr>
          <p:cNvCxnSpPr>
            <a:cxnSpLocks/>
            <a:stCxn id="43" idx="3"/>
            <a:endCxn id="69" idx="1"/>
          </p:cNvCxnSpPr>
          <p:nvPr/>
        </p:nvCxnSpPr>
        <p:spPr>
          <a:xfrm flipV="1">
            <a:off x="4951064" y="2471674"/>
            <a:ext cx="216480" cy="38915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F6590D67-DF94-127E-8AF7-7E585D1F315C}"/>
              </a:ext>
            </a:extLst>
          </p:cNvPr>
          <p:cNvCxnSpPr>
            <a:cxnSpLocks/>
            <a:stCxn id="43" idx="3"/>
            <a:endCxn id="80" idx="1"/>
          </p:cNvCxnSpPr>
          <p:nvPr/>
        </p:nvCxnSpPr>
        <p:spPr>
          <a:xfrm>
            <a:off x="4951064" y="2860833"/>
            <a:ext cx="204831" cy="8943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E0484F0-F943-2911-B04A-E1A91B05D9CF}"/>
              </a:ext>
            </a:extLst>
          </p:cNvPr>
          <p:cNvCxnSpPr>
            <a:cxnSpLocks/>
          </p:cNvCxnSpPr>
          <p:nvPr/>
        </p:nvCxnSpPr>
        <p:spPr>
          <a:xfrm>
            <a:off x="5565202" y="4139359"/>
            <a:ext cx="0" cy="31661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A2DDB0E7-DFA4-D5BF-E084-D3F78877A55D}"/>
              </a:ext>
            </a:extLst>
          </p:cNvPr>
          <p:cNvCxnSpPr>
            <a:cxnSpLocks/>
            <a:stCxn id="47" idx="3"/>
            <a:endCxn id="83" idx="1"/>
          </p:cNvCxnSpPr>
          <p:nvPr/>
        </p:nvCxnSpPr>
        <p:spPr>
          <a:xfrm>
            <a:off x="4956140" y="4585405"/>
            <a:ext cx="262965" cy="48141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146575D-3CEF-BC28-64A1-D6E8A64BE166}"/>
              </a:ext>
            </a:extLst>
          </p:cNvPr>
          <p:cNvCxnSpPr>
            <a:cxnSpLocks/>
          </p:cNvCxnSpPr>
          <p:nvPr/>
        </p:nvCxnSpPr>
        <p:spPr>
          <a:xfrm flipV="1">
            <a:off x="5075122" y="4590292"/>
            <a:ext cx="1416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1F3F8CEA-5153-AC11-AF51-CD52A1B03C19}"/>
              </a:ext>
            </a:extLst>
          </p:cNvPr>
          <p:cNvSpPr txBox="1"/>
          <p:nvPr/>
        </p:nvSpPr>
        <p:spPr>
          <a:xfrm>
            <a:off x="4791610" y="2034959"/>
            <a:ext cx="1539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RTU input variables</a:t>
            </a:r>
            <a:endParaRPr lang="en-SG" sz="12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0089D7C-7E8D-AD1C-D162-A3C3BE67C8FF}"/>
              </a:ext>
            </a:extLst>
          </p:cNvPr>
          <p:cNvSpPr txBox="1"/>
          <p:nvPr/>
        </p:nvSpPr>
        <p:spPr>
          <a:xfrm>
            <a:off x="6060633" y="3433582"/>
            <a:ext cx="875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HVA Auto</a:t>
            </a:r>
          </a:p>
          <a:p>
            <a:r>
              <a:rPr lang="en-US" sz="1200" b="1" dirty="0"/>
              <a:t>Control </a:t>
            </a:r>
          </a:p>
          <a:p>
            <a:r>
              <a:rPr lang="en-US" sz="1200" b="1" dirty="0"/>
              <a:t>Logic</a:t>
            </a:r>
            <a:endParaRPr lang="en-SG" sz="12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02F075-6911-295D-F809-BAEC0FAA70C2}"/>
              </a:ext>
            </a:extLst>
          </p:cNvPr>
          <p:cNvSpPr txBox="1"/>
          <p:nvPr/>
        </p:nvSpPr>
        <p:spPr>
          <a:xfrm>
            <a:off x="5128901" y="4167463"/>
            <a:ext cx="1934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RTU output variables</a:t>
            </a:r>
            <a:endParaRPr lang="en-SG" sz="1200" b="1" dirty="0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197F58A-E129-2F19-8935-1E1D60639C17}"/>
              </a:ext>
            </a:extLst>
          </p:cNvPr>
          <p:cNvCxnSpPr>
            <a:cxnSpLocks/>
          </p:cNvCxnSpPr>
          <p:nvPr/>
        </p:nvCxnSpPr>
        <p:spPr>
          <a:xfrm>
            <a:off x="6813341" y="2471674"/>
            <a:ext cx="237252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82898AE-B790-94D8-B424-EF50CBE55BB6}"/>
              </a:ext>
            </a:extLst>
          </p:cNvPr>
          <p:cNvCxnSpPr>
            <a:cxnSpLocks/>
          </p:cNvCxnSpPr>
          <p:nvPr/>
        </p:nvCxnSpPr>
        <p:spPr>
          <a:xfrm>
            <a:off x="6820029" y="2924389"/>
            <a:ext cx="23755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1188FDD-6E34-0FCF-CA78-CF6DB524880E}"/>
              </a:ext>
            </a:extLst>
          </p:cNvPr>
          <p:cNvCxnSpPr>
            <a:cxnSpLocks/>
          </p:cNvCxnSpPr>
          <p:nvPr/>
        </p:nvCxnSpPr>
        <p:spPr>
          <a:xfrm flipV="1">
            <a:off x="6894640" y="4602183"/>
            <a:ext cx="154258" cy="639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2E4C8557-4F12-F03E-6973-992D741AB918}"/>
              </a:ext>
            </a:extLst>
          </p:cNvPr>
          <p:cNvCxnSpPr>
            <a:cxnSpLocks/>
          </p:cNvCxnSpPr>
          <p:nvPr/>
        </p:nvCxnSpPr>
        <p:spPr>
          <a:xfrm>
            <a:off x="6784409" y="5066823"/>
            <a:ext cx="27317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2ADACBF-6CD1-7C6A-393E-8FDE39B7951F}"/>
              </a:ext>
            </a:extLst>
          </p:cNvPr>
          <p:cNvSpPr/>
          <p:nvPr/>
        </p:nvSpPr>
        <p:spPr>
          <a:xfrm>
            <a:off x="8394789" y="1314274"/>
            <a:ext cx="3211175" cy="29958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089A106-CF1F-EBEA-140F-03132C4ED2DD}"/>
              </a:ext>
            </a:extLst>
          </p:cNvPr>
          <p:cNvSpPr txBox="1"/>
          <p:nvPr/>
        </p:nvSpPr>
        <p:spPr>
          <a:xfrm>
            <a:off x="8259427" y="913025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Level2 OT Control Console/HMI/</a:t>
            </a:r>
            <a:endParaRPr lang="en-SG" sz="1400" b="1" dirty="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C159AB26-9062-1561-2624-20E1AA4FE3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0660" y="1872901"/>
            <a:ext cx="2919432" cy="220701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5D28B1DA-AD16-4DCE-5DEA-6030DDF090AC}"/>
              </a:ext>
            </a:extLst>
          </p:cNvPr>
          <p:cNvSpPr txBox="1"/>
          <p:nvPr/>
        </p:nvSpPr>
        <p:spPr>
          <a:xfrm>
            <a:off x="8394789" y="1313531"/>
            <a:ext cx="2732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BACnet HVAC Wall Remote Thermostat Controller/App</a:t>
            </a:r>
            <a:endParaRPr lang="en-SG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14EDD7-105B-6AB3-8E26-57943A3B6F89}"/>
              </a:ext>
            </a:extLst>
          </p:cNvPr>
          <p:cNvSpPr/>
          <p:nvPr/>
        </p:nvSpPr>
        <p:spPr>
          <a:xfrm>
            <a:off x="8151720" y="3869713"/>
            <a:ext cx="1161346" cy="2810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BACnet Client</a:t>
            </a:r>
            <a:endParaRPr lang="en-SG" sz="1050" b="1" dirty="0"/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C3CC61CC-D108-C376-D0C3-7B49D5F871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174" y="4899140"/>
            <a:ext cx="3046404" cy="1446494"/>
          </a:xfrm>
          <a:prstGeom prst="rect">
            <a:avLst/>
          </a:prstGeom>
        </p:spPr>
      </p:pic>
      <p:sp>
        <p:nvSpPr>
          <p:cNvPr id="168" name="Rectangle 167">
            <a:extLst>
              <a:ext uri="{FF2B5EF4-FFF2-40B4-BE49-F238E27FC236}">
                <a16:creationId xmlns:a16="http://schemas.microsoft.com/office/drawing/2014/main" id="{880BC46E-8EC1-FEC8-49B2-4025510628A4}"/>
              </a:ext>
            </a:extLst>
          </p:cNvPr>
          <p:cNvSpPr/>
          <p:nvPr/>
        </p:nvSpPr>
        <p:spPr>
          <a:xfrm>
            <a:off x="8137067" y="4913751"/>
            <a:ext cx="1161346" cy="2810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BACnet Client</a:t>
            </a:r>
            <a:endParaRPr lang="en-SG" sz="105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F67B0A4-9BDE-D860-4B67-4C201A2CAB06}"/>
              </a:ext>
            </a:extLst>
          </p:cNvPr>
          <p:cNvSpPr txBox="1"/>
          <p:nvPr/>
        </p:nvSpPr>
        <p:spPr>
          <a:xfrm>
            <a:off x="8394789" y="4573363"/>
            <a:ext cx="3211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Building Management Dashboard</a:t>
            </a:r>
            <a:endParaRPr lang="en-SG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D9C156E-A7F9-C9E9-74E4-50458F26F093}"/>
              </a:ext>
            </a:extLst>
          </p:cNvPr>
          <p:cNvSpPr/>
          <p:nvPr/>
        </p:nvSpPr>
        <p:spPr>
          <a:xfrm>
            <a:off x="7807002" y="1291996"/>
            <a:ext cx="97947" cy="51248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6E4DF9AF-9F50-2120-3D29-F57B687617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7337" y="5834610"/>
            <a:ext cx="607957" cy="52580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63213DE7-E1E2-1978-0A4E-CA41F0A24FB5}"/>
              </a:ext>
            </a:extLst>
          </p:cNvPr>
          <p:cNvSpPr txBox="1"/>
          <p:nvPr/>
        </p:nvSpPr>
        <p:spPr>
          <a:xfrm>
            <a:off x="4357511" y="5474094"/>
            <a:ext cx="2001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Other Building Device</a:t>
            </a:r>
            <a:endParaRPr lang="en-SG" sz="1400" b="1" dirty="0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B755D9D6-3B04-4432-C2D2-0DDD566AAF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5428504" y="5781393"/>
            <a:ext cx="523963" cy="60795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75A10AB6-4B53-79C3-874B-C9C0010E02DB}"/>
              </a:ext>
            </a:extLst>
          </p:cNvPr>
          <p:cNvSpPr txBox="1"/>
          <p:nvPr/>
        </p:nvSpPr>
        <p:spPr>
          <a:xfrm>
            <a:off x="4396189" y="6336455"/>
            <a:ext cx="2737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People Detection and Count Radar</a:t>
            </a:r>
            <a:endParaRPr lang="en-SG" sz="1200" b="1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C0B8B44-FD6D-FA38-56E5-9E2EB31E7766}"/>
              </a:ext>
            </a:extLst>
          </p:cNvPr>
          <p:cNvSpPr/>
          <p:nvPr/>
        </p:nvSpPr>
        <p:spPr>
          <a:xfrm>
            <a:off x="6258308" y="5819980"/>
            <a:ext cx="1098611" cy="2810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BACnet Server </a:t>
            </a:r>
            <a:endParaRPr lang="en-SG" sz="1050" b="1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4B9A740-29B9-234D-9D2F-357456646760}"/>
              </a:ext>
            </a:extLst>
          </p:cNvPr>
          <p:cNvSpPr txBox="1"/>
          <p:nvPr/>
        </p:nvSpPr>
        <p:spPr>
          <a:xfrm>
            <a:off x="7386435" y="851571"/>
            <a:ext cx="841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BACnet Bus</a:t>
            </a:r>
            <a:endParaRPr lang="en-SG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C0D387E-FB86-AD03-07C0-5961675525B4}"/>
              </a:ext>
            </a:extLst>
          </p:cNvPr>
          <p:cNvCxnSpPr>
            <a:cxnSpLocks/>
          </p:cNvCxnSpPr>
          <p:nvPr/>
        </p:nvCxnSpPr>
        <p:spPr>
          <a:xfrm>
            <a:off x="7356919" y="5942003"/>
            <a:ext cx="450083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024C5735-AD2C-B6FB-4ECA-439E3AB5AAFD}"/>
              </a:ext>
            </a:extLst>
          </p:cNvPr>
          <p:cNvCxnSpPr/>
          <p:nvPr/>
        </p:nvCxnSpPr>
        <p:spPr>
          <a:xfrm flipV="1">
            <a:off x="7386435" y="1609344"/>
            <a:ext cx="420567" cy="198820"/>
          </a:xfrm>
          <a:prstGeom prst="bentConnector3">
            <a:avLst>
              <a:gd name="adj1" fmla="val 4342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85ED9079-7095-C641-4EF7-90F9BCC729E6}"/>
              </a:ext>
            </a:extLst>
          </p:cNvPr>
          <p:cNvCxnSpPr>
            <a:cxnSpLocks/>
          </p:cNvCxnSpPr>
          <p:nvPr/>
        </p:nvCxnSpPr>
        <p:spPr>
          <a:xfrm rot="10800000">
            <a:off x="7392958" y="2106842"/>
            <a:ext cx="385949" cy="266950"/>
          </a:xfrm>
          <a:prstGeom prst="bentConnector3">
            <a:avLst>
              <a:gd name="adj1" fmla="val 99754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734FC539-F07F-C8E1-3602-F1B9A7E9A14A}"/>
              </a:ext>
            </a:extLst>
          </p:cNvPr>
          <p:cNvCxnSpPr>
            <a:cxnSpLocks/>
          </p:cNvCxnSpPr>
          <p:nvPr/>
        </p:nvCxnSpPr>
        <p:spPr>
          <a:xfrm>
            <a:off x="7904951" y="3507494"/>
            <a:ext cx="322616" cy="288159"/>
          </a:xfrm>
          <a:prstGeom prst="bentConnector3">
            <a:avLst>
              <a:gd name="adj1" fmla="val 98184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99401C88-BFC4-00AF-FCC5-AB53334A86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02066" y="4165339"/>
            <a:ext cx="325500" cy="233977"/>
          </a:xfrm>
          <a:prstGeom prst="bentConnector3">
            <a:avLst>
              <a:gd name="adj1" fmla="val -3375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7467BD9A-2D4E-C186-20B8-9DD897109CEC}"/>
              </a:ext>
            </a:extLst>
          </p:cNvPr>
          <p:cNvCxnSpPr>
            <a:cxnSpLocks/>
          </p:cNvCxnSpPr>
          <p:nvPr/>
        </p:nvCxnSpPr>
        <p:spPr>
          <a:xfrm>
            <a:off x="7904951" y="4634525"/>
            <a:ext cx="322616" cy="288159"/>
          </a:xfrm>
          <a:prstGeom prst="bentConnector3">
            <a:avLst>
              <a:gd name="adj1" fmla="val 98184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F3E6DEDF-917E-273A-9297-70C286B5B7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86174" y="5211453"/>
            <a:ext cx="325500" cy="233977"/>
          </a:xfrm>
          <a:prstGeom prst="bentConnector3">
            <a:avLst>
              <a:gd name="adj1" fmla="val -3375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22CF50AF-1D0B-D685-2C7C-F408A4C851B9}"/>
              </a:ext>
            </a:extLst>
          </p:cNvPr>
          <p:cNvCxnSpPr>
            <a:cxnSpLocks/>
          </p:cNvCxnSpPr>
          <p:nvPr/>
        </p:nvCxnSpPr>
        <p:spPr>
          <a:xfrm>
            <a:off x="3924993" y="2443555"/>
            <a:ext cx="86503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ACB49EAC-37F4-3A25-9F5A-C41A403D7CC6}"/>
              </a:ext>
            </a:extLst>
          </p:cNvPr>
          <p:cNvCxnSpPr>
            <a:cxnSpLocks/>
          </p:cNvCxnSpPr>
          <p:nvPr/>
        </p:nvCxnSpPr>
        <p:spPr>
          <a:xfrm flipH="1">
            <a:off x="3780622" y="5038530"/>
            <a:ext cx="949965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A2733834-1F35-5EC2-2694-CCCF1592DCF7}"/>
              </a:ext>
            </a:extLst>
          </p:cNvPr>
          <p:cNvSpPr/>
          <p:nvPr/>
        </p:nvSpPr>
        <p:spPr>
          <a:xfrm>
            <a:off x="5219105" y="4918959"/>
            <a:ext cx="166872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BAC Analog Objects [W]</a:t>
            </a:r>
            <a:endParaRPr lang="en-SG" sz="1050" b="1" dirty="0"/>
          </a:p>
        </p:txBody>
      </p:sp>
    </p:spTree>
    <p:extLst>
      <p:ext uri="{BB962C8B-B14F-4D97-AF65-F5344CB8AC3E}">
        <p14:creationId xmlns:p14="http://schemas.microsoft.com/office/powerpoint/2010/main" val="169319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39AE3F-F849-615D-A741-C3FBF3FE3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901" y="1011467"/>
            <a:ext cx="5580952" cy="4219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D8C83A-2CC2-88E4-72EC-5661138773E7}"/>
              </a:ext>
            </a:extLst>
          </p:cNvPr>
          <p:cNvSpPr txBox="1"/>
          <p:nvPr/>
        </p:nvSpPr>
        <p:spPr>
          <a:xfrm>
            <a:off x="694961" y="1288737"/>
            <a:ext cx="2606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Current Air Conditioner State:</a:t>
            </a:r>
          </a:p>
          <a:p>
            <a:r>
              <a:rPr lang="en-US" sz="1400" b="1" dirty="0">
                <a:solidFill>
                  <a:srgbClr val="C00000"/>
                </a:solidFill>
              </a:rPr>
              <a:t>Cooling/Heating/Power OFF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4E12006-C8BE-AC70-9B27-358F07986CE1}"/>
              </a:ext>
            </a:extLst>
          </p:cNvPr>
          <p:cNvCxnSpPr>
            <a:stCxn id="10" idx="2"/>
          </p:cNvCxnSpPr>
          <p:nvPr/>
        </p:nvCxnSpPr>
        <p:spPr>
          <a:xfrm rot="16200000" flipH="1">
            <a:off x="2819485" y="990685"/>
            <a:ext cx="315226" cy="195776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9B8621-9AA9-EB84-F480-9971422E5F40}"/>
              </a:ext>
            </a:extLst>
          </p:cNvPr>
          <p:cNvSpPr txBox="1"/>
          <p:nvPr/>
        </p:nvSpPr>
        <p:spPr>
          <a:xfrm>
            <a:off x="694960" y="2127183"/>
            <a:ext cx="2606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Current Room Temperature Sensor Reading (C)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8C880EF-72E5-2B71-D689-386F8FF13BC9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2987625" y="1660991"/>
            <a:ext cx="80769" cy="2059592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6D085C-7C2A-6CEB-8D3B-82C1165EB296}"/>
              </a:ext>
            </a:extLst>
          </p:cNvPr>
          <p:cNvSpPr txBox="1"/>
          <p:nvPr/>
        </p:nvSpPr>
        <p:spPr>
          <a:xfrm>
            <a:off x="694959" y="2992781"/>
            <a:ext cx="2211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Current Room Humidity Sensor Reading (%)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5D3BCD-5E0F-4FDC-9855-FE6E9DB3E44C}"/>
              </a:ext>
            </a:extLst>
          </p:cNvPr>
          <p:cNvCxnSpPr>
            <a:cxnSpLocks/>
          </p:cNvCxnSpPr>
          <p:nvPr/>
        </p:nvCxnSpPr>
        <p:spPr>
          <a:xfrm>
            <a:off x="2734848" y="3309427"/>
            <a:ext cx="1276105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0A00CE9-9845-5029-0085-9A12591E0652}"/>
              </a:ext>
            </a:extLst>
          </p:cNvPr>
          <p:cNvSpPr txBox="1"/>
          <p:nvPr/>
        </p:nvSpPr>
        <p:spPr>
          <a:xfrm>
            <a:off x="694959" y="3516863"/>
            <a:ext cx="2606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Current compressor and heater State from OPS sensor 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4FF695-4261-F021-A3DB-691A954159DC}"/>
              </a:ext>
            </a:extLst>
          </p:cNvPr>
          <p:cNvCxnSpPr>
            <a:cxnSpLocks/>
          </p:cNvCxnSpPr>
          <p:nvPr/>
        </p:nvCxnSpPr>
        <p:spPr>
          <a:xfrm>
            <a:off x="2977098" y="3778473"/>
            <a:ext cx="62275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65A3286-1560-6A6F-4EBB-04420C50F73D}"/>
              </a:ext>
            </a:extLst>
          </p:cNvPr>
          <p:cNvSpPr txBox="1"/>
          <p:nvPr/>
        </p:nvSpPr>
        <p:spPr>
          <a:xfrm>
            <a:off x="694959" y="4173605"/>
            <a:ext cx="205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Current Room Fan Speed Sensor Guage 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235BBB-F131-2831-03D6-1DF87163DE74}"/>
              </a:ext>
            </a:extLst>
          </p:cNvPr>
          <p:cNvCxnSpPr>
            <a:cxnSpLocks/>
          </p:cNvCxnSpPr>
          <p:nvPr/>
        </p:nvCxnSpPr>
        <p:spPr>
          <a:xfrm>
            <a:off x="2535138" y="4458232"/>
            <a:ext cx="88392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3C6ACBF-2A70-87BD-E05A-1DDD398B8F58}"/>
              </a:ext>
            </a:extLst>
          </p:cNvPr>
          <p:cNvSpPr txBox="1"/>
          <p:nvPr/>
        </p:nvSpPr>
        <p:spPr>
          <a:xfrm>
            <a:off x="9163588" y="1478904"/>
            <a:ext cx="1825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Temperature control rotate knob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FE28D0A-EC54-A3A8-299A-2083D99D5796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8455218" y="688851"/>
            <a:ext cx="307939" cy="2934484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5D73370-6777-9F08-CDBC-20D40E485D27}"/>
              </a:ext>
            </a:extLst>
          </p:cNvPr>
          <p:cNvSpPr txBox="1"/>
          <p:nvPr/>
        </p:nvSpPr>
        <p:spPr>
          <a:xfrm>
            <a:off x="9117839" y="2760789"/>
            <a:ext cx="21496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HVAC Basic Function Control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Power On/Off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Cooling Pump On/Off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Heater On/Off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Fan Speed Decrease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Fan Speed Increase 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AE9C002-7C1D-F5CC-7DC4-F916643E4973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>
            <a:off x="9380739" y="4091671"/>
            <a:ext cx="326923" cy="1296923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78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273</Words>
  <Application>Microsoft Office PowerPoint</Application>
  <PresentationFormat>Widescreen</PresentationFormat>
  <Paragraphs>58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11</cp:revision>
  <dcterms:created xsi:type="dcterms:W3CDTF">2026-01-09T07:16:27Z</dcterms:created>
  <dcterms:modified xsi:type="dcterms:W3CDTF">2026-01-16T02:36:06Z</dcterms:modified>
</cp:coreProperties>
</file>