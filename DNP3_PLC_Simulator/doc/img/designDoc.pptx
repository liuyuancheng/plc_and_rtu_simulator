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9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BDE586-4E23-46A7-AC89-D700B479A839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9F7605-4380-462A-A44A-3D5ABC297224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28035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F6B7D6-7851-49B5-BE5D-D00B7BAA4937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079340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9FDDD-CBC6-C648-A4E1-1A5567F98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1AEB5B-CE4B-7AAC-0115-05D90BEE4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F3EA8A-4F0C-5F19-9905-BCA4B1F8F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A7936-C7DD-AF19-7F43-B578D6467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B7347-2599-603D-A368-1918BC87E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568147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92B91-0E79-6BE3-4F08-9CA60A235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11EF3-B5A1-FDBB-253D-B89F8AB4AC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C727C-BDAE-75DD-9CB5-2920F84B7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9287B3-0FD7-F2C2-4C6F-CB233D15C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87BE09-EB50-F54A-E89E-3AFBDEBD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2122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8EDE4-0B76-45C8-1990-D3D99D46D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CFA79A-EA90-CACA-F72A-125B0E59A6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FDF18-B6A8-85ED-7DF9-EA1D1BBE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60A67-6DC0-A874-A44C-2ED11A8D8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3A4B5-AADA-4253-5094-1E2024433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434452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E4446-34FC-9F85-C501-DF0D93066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9BE95-3897-A061-75EF-6DD9EE83C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A610ED-01FA-77E5-9703-524C8F5511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70AFB0-8CE4-C58D-A1DD-F25193B56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22000-3267-B97F-DF10-8A0AE37EB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884254-FB5C-C0AA-4E06-F83506D32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831997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00408-DDEA-EABE-257C-0261833FF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1F57FB-AB1A-40C1-224F-50ABFA63B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90CF91-362A-817C-EC1E-53962E93E2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3F8EC4-8040-63C5-E616-7AEC18DDD3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DC9DB85-6DFF-D0AE-0849-B24B1671AF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11EE56-4D3C-DACB-453F-3CA229450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136DA8-9A39-A70D-FC15-FAFF25157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5E2AE4-096D-3C6F-09D8-F99F4C16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11606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01188-5D2F-42B1-E825-648D968D8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F304A5-89F9-2DE2-A0A4-DED344C3B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F7847D-365A-DBDB-5448-3727BFD56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3F30E0-387E-6BF0-0D41-98E1ECC4D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62858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50E94-3514-E20C-B684-AA1AD5358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08938D-FA8C-F139-FE34-70A7757A0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E9F01-EF39-7F99-B00E-0FE3FC463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49115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8FC82-3AE7-7788-7EEE-21FAEA491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472A8-7944-7E22-ABD3-A72C35DF9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56CB27-13B5-5CFE-C357-AD00D66B51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A5E9B2-77B3-8331-9796-A4544574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064A45-FB83-E74C-3BF2-6026A9A25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2FFD45-1975-D21A-CF43-A048951C9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60251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404D5-6456-2228-A6AB-9773153911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E15C51-F566-3568-776D-2E2E67DAF1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34B758-D886-DFDD-C216-65E31E1991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B2C39-6D9C-DCF1-F861-4B6CDFE33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FB338-4990-9259-1526-D1090C70F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558B8A-71A8-772B-B2DC-0B9B69165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0284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5FB0D-2985-AAC4-A2DC-D30317341C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C8DB58-7428-5636-C7ED-641FA64259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FC039-888E-08D0-8F05-233A1E7BB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FEF61-29C0-5BC1-CED2-7C09E7C36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805FB-D927-69FE-C758-79873C1C4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8586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638C0A-C18A-BEAC-B19B-3A373B0016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6A0DD8-E682-9C4C-3AEF-0D167C5F38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A5A0E-F411-9788-2595-55A172AB8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FA22F4-24D8-F8C2-663F-26F93FBA1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FDF0F-F19D-D6CB-0CEC-DD73FD05F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36407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B42097-CD21-6B70-4DFA-38192EBC7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1453BA-34A0-0E0E-0335-44C04B363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C68AE-A7BF-D4E3-088E-D935FE796B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1D0EA0-7E1C-4898-B1CA-F30B4809AF5B}" type="datetimeFigureOut">
              <a:rPr lang="en-SG" smtClean="0"/>
              <a:t>16/8/2026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0BF85A-0B19-E48C-FDD0-3775E5CD1A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EAB81E-8055-8CFE-2E06-1AE7FF6370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A8B997-23C1-4482-9F0B-64E7C07A84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53345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65">
            <a:extLst>
              <a:ext uri="{FF2B5EF4-FFF2-40B4-BE49-F238E27FC236}">
                <a16:creationId xmlns:a16="http://schemas.microsoft.com/office/drawing/2014/main" id="{837A8677-8040-C491-6D80-73149652E6CE}"/>
              </a:ext>
            </a:extLst>
          </p:cNvPr>
          <p:cNvSpPr/>
          <p:nvPr/>
        </p:nvSpPr>
        <p:spPr>
          <a:xfrm>
            <a:off x="4543840" y="2145434"/>
            <a:ext cx="2489871" cy="29958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7DD3D4-6B5E-7CB5-E003-2C037546352E}"/>
              </a:ext>
            </a:extLst>
          </p:cNvPr>
          <p:cNvSpPr/>
          <p:nvPr/>
        </p:nvSpPr>
        <p:spPr>
          <a:xfrm>
            <a:off x="548582" y="2144789"/>
            <a:ext cx="3413179" cy="423966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85B9271-91E4-96A0-FFD7-67E7E3B97AB1}"/>
              </a:ext>
            </a:extLst>
          </p:cNvPr>
          <p:cNvSpPr txBox="1"/>
          <p:nvPr/>
        </p:nvSpPr>
        <p:spPr>
          <a:xfrm>
            <a:off x="4479495" y="1786827"/>
            <a:ext cx="288460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OT Controller Devices </a:t>
            </a:r>
            <a:endParaRPr lang="en-SG" sz="1400" b="1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410193F1-FCF7-0996-4AFD-5FEB7922A1DC}"/>
              </a:ext>
            </a:extLst>
          </p:cNvPr>
          <p:cNvSpPr/>
          <p:nvPr/>
        </p:nvSpPr>
        <p:spPr>
          <a:xfrm>
            <a:off x="5219105" y="3018211"/>
            <a:ext cx="1494965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Input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0C4944A4-AC6E-C358-AD9C-F8CDE9B6C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143" y="3599698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4D271E74-DEAC-DBC5-E155-98AC307DE59C}"/>
              </a:ext>
            </a:extLst>
          </p:cNvPr>
          <p:cNvCxnSpPr>
            <a:cxnSpLocks/>
          </p:cNvCxnSpPr>
          <p:nvPr/>
        </p:nvCxnSpPr>
        <p:spPr>
          <a:xfrm>
            <a:off x="5796575" y="3305723"/>
            <a:ext cx="0" cy="245081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587F13EF-BB40-8784-CA1E-3F7F9B4EDF0E}"/>
              </a:ext>
            </a:extLst>
          </p:cNvPr>
          <p:cNvSpPr txBox="1"/>
          <p:nvPr/>
        </p:nvSpPr>
        <p:spPr>
          <a:xfrm>
            <a:off x="527544" y="1766471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OT Physical Field I/O Devices </a:t>
            </a:r>
            <a:endParaRPr lang="en-SG" sz="14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0089D7C-7E8D-AD1C-D162-A3C3BE67C8FF}"/>
              </a:ext>
            </a:extLst>
          </p:cNvPr>
          <p:cNvSpPr txBox="1"/>
          <p:nvPr/>
        </p:nvSpPr>
        <p:spPr>
          <a:xfrm>
            <a:off x="4733726" y="3578384"/>
            <a:ext cx="8754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Auto</a:t>
            </a:r>
          </a:p>
          <a:p>
            <a:r>
              <a:rPr lang="en-US" sz="1200" b="1" dirty="0"/>
              <a:t>Control </a:t>
            </a:r>
          </a:p>
          <a:p>
            <a:r>
              <a:rPr lang="en-US" sz="1200" b="1" dirty="0"/>
              <a:t>Logic</a:t>
            </a:r>
            <a:endParaRPr lang="en-SG" sz="1200" b="1" dirty="0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32ADACBF-6CD1-7C6A-393E-8FDE39B7951F}"/>
              </a:ext>
            </a:extLst>
          </p:cNvPr>
          <p:cNvSpPr/>
          <p:nvPr/>
        </p:nvSpPr>
        <p:spPr>
          <a:xfrm>
            <a:off x="8011053" y="2144789"/>
            <a:ext cx="3413180" cy="42195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5089A106-CF1F-EBEA-140F-03132C4ED2DD}"/>
              </a:ext>
            </a:extLst>
          </p:cNvPr>
          <p:cNvSpPr txBox="1"/>
          <p:nvPr/>
        </p:nvSpPr>
        <p:spPr>
          <a:xfrm>
            <a:off x="7897351" y="1774329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 OT Control Console or HMI</a:t>
            </a:r>
            <a:endParaRPr lang="en-SG" sz="1400" b="1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2733834-1F35-5EC2-2694-CCCF1592DCF7}"/>
              </a:ext>
            </a:extLst>
          </p:cNvPr>
          <p:cNvSpPr/>
          <p:nvPr/>
        </p:nvSpPr>
        <p:spPr>
          <a:xfrm>
            <a:off x="5247599" y="4582055"/>
            <a:ext cx="157358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Output Parameter </a:t>
            </a:r>
            <a:r>
              <a:rPr lang="en-US" sz="1050" b="1" dirty="0" err="1"/>
              <a:t>Dict</a:t>
            </a:r>
            <a:endParaRPr lang="en-SG" sz="1050" b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813263F-1648-5749-94E7-C1F6266E379E}"/>
              </a:ext>
            </a:extLst>
          </p:cNvPr>
          <p:cNvSpPr/>
          <p:nvPr/>
        </p:nvSpPr>
        <p:spPr>
          <a:xfrm>
            <a:off x="3732213" y="2953594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Input</a:t>
            </a:r>
            <a:endParaRPr lang="en-SG" sz="1050" b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CE8F210-3F43-6E6B-8F0E-548004A1C5B5}"/>
              </a:ext>
            </a:extLst>
          </p:cNvPr>
          <p:cNvSpPr/>
          <p:nvPr/>
        </p:nvSpPr>
        <p:spPr>
          <a:xfrm>
            <a:off x="3710639" y="4351785"/>
            <a:ext cx="1183100" cy="55916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Output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81C8210-C0E7-B3E4-859C-1F4918518F21}"/>
              </a:ext>
            </a:extLst>
          </p:cNvPr>
          <p:cNvCxnSpPr>
            <a:cxnSpLocks/>
          </p:cNvCxnSpPr>
          <p:nvPr/>
        </p:nvCxnSpPr>
        <p:spPr>
          <a:xfrm>
            <a:off x="5780178" y="4252750"/>
            <a:ext cx="0" cy="3293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58B4CEA2-012D-1E0A-676D-15BF8BE1A4D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4915313" y="3154680"/>
            <a:ext cx="303792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D4977DE-76D9-A860-79E2-C07C7F2576C6}"/>
              </a:ext>
            </a:extLst>
          </p:cNvPr>
          <p:cNvCxnSpPr>
            <a:cxnSpLocks/>
          </p:cNvCxnSpPr>
          <p:nvPr/>
        </p:nvCxnSpPr>
        <p:spPr>
          <a:xfrm flipH="1" flipV="1">
            <a:off x="4872774" y="4708550"/>
            <a:ext cx="353860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AEA0A740-926A-31A2-62D0-5B65F5211AC2}"/>
              </a:ext>
            </a:extLst>
          </p:cNvPr>
          <p:cNvSpPr/>
          <p:nvPr/>
        </p:nvSpPr>
        <p:spPr>
          <a:xfrm>
            <a:off x="6509352" y="358137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D</a:t>
            </a:r>
            <a:r>
              <a:rPr lang="en-SG" sz="1050" b="1" dirty="0"/>
              <a:t>NP3 Server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5058C5-A339-2CFC-1C58-5CE6271AD8F4}"/>
              </a:ext>
            </a:extLst>
          </p:cNvPr>
          <p:cNvCxnSpPr>
            <a:cxnSpLocks/>
          </p:cNvCxnSpPr>
          <p:nvPr/>
        </p:nvCxnSpPr>
        <p:spPr>
          <a:xfrm>
            <a:off x="6566585" y="3319702"/>
            <a:ext cx="0" cy="2586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F00080B1-57FE-3EF4-943B-EFB50200C31E}"/>
              </a:ext>
            </a:extLst>
          </p:cNvPr>
          <p:cNvSpPr/>
          <p:nvPr/>
        </p:nvSpPr>
        <p:spPr>
          <a:xfrm>
            <a:off x="6524779" y="4057946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NDP3 Client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01BD5C1-01FF-CA5A-DCA7-43CAEE7623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240" y="2511144"/>
            <a:ext cx="3015909" cy="184140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77CF6C-F68F-DA56-04A7-492B6FEE300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266" y="4673267"/>
            <a:ext cx="2982263" cy="152679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DCBA473-2400-C830-B1E3-9399BB15C164}"/>
              </a:ext>
            </a:extLst>
          </p:cNvPr>
          <p:cNvSpPr txBox="1"/>
          <p:nvPr/>
        </p:nvSpPr>
        <p:spPr>
          <a:xfrm>
            <a:off x="527544" y="2182278"/>
            <a:ext cx="3470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Gas Power Generator Simulator Program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BB6035-ECDD-E5CD-8792-25E6CC3C57B6}"/>
              </a:ext>
            </a:extLst>
          </p:cNvPr>
          <p:cNvSpPr txBox="1"/>
          <p:nvPr/>
        </p:nvSpPr>
        <p:spPr>
          <a:xfrm>
            <a:off x="601142" y="4384208"/>
            <a:ext cx="34701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Transformer Simulator Program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57B2BA-AB22-7164-ABAC-4C8AEB7A5B04}"/>
              </a:ext>
            </a:extLst>
          </p:cNvPr>
          <p:cNvSpPr/>
          <p:nvPr/>
        </p:nvSpPr>
        <p:spPr>
          <a:xfrm>
            <a:off x="4502109" y="5440114"/>
            <a:ext cx="2489871" cy="92425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ED4AA2-6330-6FE4-282B-0FC75A6EF3D2}"/>
              </a:ext>
            </a:extLst>
          </p:cNvPr>
          <p:cNvSpPr/>
          <p:nvPr/>
        </p:nvSpPr>
        <p:spPr>
          <a:xfrm>
            <a:off x="3710639" y="5734303"/>
            <a:ext cx="1824158" cy="411596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 Electrical Signal RTU Input</a:t>
            </a:r>
            <a:endParaRPr lang="en-SG" sz="105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40E313C-6362-6892-CD05-00DB836BEE80}"/>
              </a:ext>
            </a:extLst>
          </p:cNvPr>
          <p:cNvSpPr txBox="1"/>
          <p:nvPr/>
        </p:nvSpPr>
        <p:spPr>
          <a:xfrm>
            <a:off x="4483101" y="5449249"/>
            <a:ext cx="22521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Metering Unit Simulation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67D04D19-6C05-98C0-6ED5-C4A17572279F}"/>
              </a:ext>
            </a:extLst>
          </p:cNvPr>
          <p:cNvCxnSpPr>
            <a:stCxn id="120" idx="1"/>
          </p:cNvCxnSpPr>
          <p:nvPr/>
        </p:nvCxnSpPr>
        <p:spPr>
          <a:xfrm rot="10800000">
            <a:off x="6336793" y="3313939"/>
            <a:ext cx="187987" cy="91448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36023D7-EADF-B320-6F9A-9DE5E13289D5}"/>
              </a:ext>
            </a:extLst>
          </p:cNvPr>
          <p:cNvSpPr/>
          <p:nvPr/>
        </p:nvSpPr>
        <p:spPr>
          <a:xfrm>
            <a:off x="6509352" y="5757026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D</a:t>
            </a:r>
            <a:r>
              <a:rPr lang="en-SG" sz="1050" b="1" dirty="0"/>
              <a:t>NP3 Server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D95B3EA-695C-8683-7F6F-B6370DB68676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5534797" y="5927507"/>
            <a:ext cx="974555" cy="0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A8E2B13-9828-258F-29C5-514FB36C81FD}"/>
              </a:ext>
            </a:extLst>
          </p:cNvPr>
          <p:cNvSpPr txBox="1"/>
          <p:nvPr/>
        </p:nvSpPr>
        <p:spPr>
          <a:xfrm>
            <a:off x="4555358" y="2208149"/>
            <a:ext cx="273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Power Transmission Control RTU Simulation Framework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3D0994-FFC7-B371-BE19-4F804F4F3BC3}"/>
              </a:ext>
            </a:extLst>
          </p:cNvPr>
          <p:cNvSpPr txBox="1"/>
          <p:nvPr/>
        </p:nvSpPr>
        <p:spPr>
          <a:xfrm>
            <a:off x="8046946" y="2198305"/>
            <a:ext cx="2815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50000"/>
                  </a:schemeClr>
                </a:solidFill>
              </a:rPr>
              <a:t>Generator Control And Monitor</a:t>
            </a:r>
            <a:endParaRPr lang="en-SG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036153AB-458B-9850-0785-49A992BAFD6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9539" y="2582620"/>
            <a:ext cx="3162389" cy="132490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2B5051B4-EE9F-301E-398B-78D971AFA3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7424" y="4434689"/>
            <a:ext cx="3130494" cy="1687451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725BC056-735A-713C-481A-B6C391D9162D}"/>
              </a:ext>
            </a:extLst>
          </p:cNvPr>
          <p:cNvSpPr txBox="1"/>
          <p:nvPr/>
        </p:nvSpPr>
        <p:spPr>
          <a:xfrm>
            <a:off x="8169911" y="4078489"/>
            <a:ext cx="22462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50000"/>
                  </a:schemeClr>
                </a:solidFill>
              </a:rPr>
              <a:t>Power Grid Monitor HMI</a:t>
            </a:r>
            <a:endParaRPr lang="en-SG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1ABEA43-1B13-4EFD-A074-E00CE4C34EC6}"/>
              </a:ext>
            </a:extLst>
          </p:cNvPr>
          <p:cNvSpPr/>
          <p:nvPr/>
        </p:nvSpPr>
        <p:spPr>
          <a:xfrm>
            <a:off x="7861407" y="3430221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NDP3 Client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B2807C64-6BDD-E03B-B66B-D78BC0AFF245}"/>
              </a:ext>
            </a:extLst>
          </p:cNvPr>
          <p:cNvSpPr/>
          <p:nvPr/>
        </p:nvSpPr>
        <p:spPr>
          <a:xfrm>
            <a:off x="7897351" y="5885904"/>
            <a:ext cx="965256" cy="34096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050" b="1" dirty="0"/>
              <a:t>NDP3 Client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B5D73E1-A9F8-4E93-9F38-AA246A882528}"/>
              </a:ext>
            </a:extLst>
          </p:cNvPr>
          <p:cNvCxnSpPr/>
          <p:nvPr/>
        </p:nvCxnSpPr>
        <p:spPr>
          <a:xfrm>
            <a:off x="7288236" y="4398908"/>
            <a:ext cx="0" cy="1335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7B5D3507-6E33-9968-2C7E-318FC59404B4}"/>
              </a:ext>
            </a:extLst>
          </p:cNvPr>
          <p:cNvCxnSpPr>
            <a:stCxn id="69" idx="1"/>
            <a:endCxn id="29" idx="3"/>
          </p:cNvCxnSpPr>
          <p:nvPr/>
        </p:nvCxnSpPr>
        <p:spPr>
          <a:xfrm rot="10800000">
            <a:off x="7474609" y="5927507"/>
            <a:ext cx="422743" cy="12887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1950D1BE-0348-1EA5-13D9-AA2199C3792C}"/>
              </a:ext>
            </a:extLst>
          </p:cNvPr>
          <p:cNvCxnSpPr>
            <a:cxnSpLocks/>
            <a:stCxn id="69" idx="1"/>
            <a:endCxn id="81" idx="3"/>
          </p:cNvCxnSpPr>
          <p:nvPr/>
        </p:nvCxnSpPr>
        <p:spPr>
          <a:xfrm rot="10800000">
            <a:off x="7474609" y="3751853"/>
            <a:ext cx="422743" cy="230453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FEA84D2-D10D-7D77-65C4-5A54F058D84C}"/>
              </a:ext>
            </a:extLst>
          </p:cNvPr>
          <p:cNvCxnSpPr>
            <a:stCxn id="114" idx="1"/>
          </p:cNvCxnSpPr>
          <p:nvPr/>
        </p:nvCxnSpPr>
        <p:spPr>
          <a:xfrm flipH="1" flipV="1">
            <a:off x="7490035" y="3599698"/>
            <a:ext cx="371372" cy="10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41AB997-DBE4-9D12-D950-44E7E2CF2329}"/>
              </a:ext>
            </a:extLst>
          </p:cNvPr>
          <p:cNvSpPr txBox="1"/>
          <p:nvPr/>
        </p:nvSpPr>
        <p:spPr>
          <a:xfrm>
            <a:off x="562555" y="594531"/>
            <a:ext cx="10759373" cy="830997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Python Virtual RTU Simulator With IEEE 1815-2021 DNP3.0 Communication  Protocol and Integrate with PowerGrid Generator Cyber Twin System</a:t>
            </a:r>
            <a:endParaRPr lang="en-SG" sz="2400" b="1" dirty="0"/>
          </a:p>
        </p:txBody>
      </p:sp>
    </p:spTree>
    <p:extLst>
      <p:ext uri="{BB962C8B-B14F-4D97-AF65-F5344CB8AC3E}">
        <p14:creationId xmlns:p14="http://schemas.microsoft.com/office/powerpoint/2010/main" val="1693198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DD99C46-2AA2-1B01-CE9C-3076A9FCC0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972" y="1394505"/>
            <a:ext cx="11286049" cy="494328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C24A107-80BB-DE3D-B7F5-EC49B9D6F5C8}"/>
              </a:ext>
            </a:extLst>
          </p:cNvPr>
          <p:cNvSpPr txBox="1"/>
          <p:nvPr/>
        </p:nvSpPr>
        <p:spPr>
          <a:xfrm>
            <a:off x="452972" y="649297"/>
            <a:ext cx="11286049" cy="461665"/>
          </a:xfrm>
          <a:prstGeom prst="rect">
            <a:avLst/>
          </a:prstGeom>
          <a:noFill/>
          <a:ln w="28575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/>
              <a:t>Python Virtual RTU Simulator With IEEE 1815-2021 DNP3.0 Comm Protocol</a:t>
            </a:r>
            <a:endParaRPr lang="en-SG" sz="2400" b="1" dirty="0"/>
          </a:p>
        </p:txBody>
      </p:sp>
    </p:spTree>
    <p:extLst>
      <p:ext uri="{BB962C8B-B14F-4D97-AF65-F5344CB8AC3E}">
        <p14:creationId xmlns:p14="http://schemas.microsoft.com/office/powerpoint/2010/main" val="4062452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</TotalTime>
  <Words>111</Words>
  <Application>Microsoft Office PowerPoint</Application>
  <PresentationFormat>Widescreen</PresentationFormat>
  <Paragraphs>25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7</cp:revision>
  <dcterms:created xsi:type="dcterms:W3CDTF">2026-08-13T06:53:27Z</dcterms:created>
  <dcterms:modified xsi:type="dcterms:W3CDTF">2026-08-16T11:43:34Z</dcterms:modified>
</cp:coreProperties>
</file>