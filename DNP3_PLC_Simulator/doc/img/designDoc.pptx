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DE586-4E23-46A7-AC89-D700B479A839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9F7605-4380-462A-A44A-3D5ABC29722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803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F6B7D6-7851-49B5-BE5D-D00B7BAA493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7934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FDDD-CBC6-C648-A4E1-1A5567F98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AEB5B-CE4B-7AAC-0115-05D90BEE4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EA8A-4F0C-5F19-9905-BCA4B1F8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A7936-C7DD-AF19-7F43-B578D646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B7347-2599-603D-A368-1918BC87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681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92B91-0E79-6BE3-4F08-9CA60A23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1EF3-B5A1-FDBB-253D-B89F8AB4A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C727C-BDAE-75DD-9CB5-2920F84B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287B3-0FD7-F2C2-4C6F-CB233D15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7BE09-EB50-F54A-E89E-3AFBDEBD0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122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EDE4-0B76-45C8-1990-D3D99D46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FA79A-EA90-CACA-F72A-125B0E59A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DF18-B6A8-85ED-7DF9-EA1D1BBE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0A67-6DC0-A874-A44C-2ED11A8D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3A4B5-AADA-4253-5094-1E202443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344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4446-34FC-9F85-C501-DF0D9306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BE95-3897-A061-75EF-6DD9EE83C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A610ED-01FA-77E5-9703-524C8F551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0AFB0-8CE4-C58D-A1DD-F25193B5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22000-3267-B97F-DF10-8A0AE37E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884254-FB5C-C0AA-4E06-F83506D3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319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0408-DDEA-EABE-257C-0261833F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F57FB-AB1A-40C1-224F-50ABFA63B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0CF91-362A-817C-EC1E-53962E93E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F8EC4-8040-63C5-E616-7AEC18DDD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C9DB85-6DFF-D0AE-0849-B24B1671A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1EE56-4D3C-DACB-453F-3CA22945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136DA8-9A39-A70D-FC15-FAFF2515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5E2AE4-096D-3C6F-09D8-F99F4C16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1160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01188-5D2F-42B1-E825-648D968D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F304A5-89F9-2DE2-A0A4-DED344C3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7847D-365A-DBDB-5448-3727BFD56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F30E0-387E-6BF0-0D41-98E1ECC4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285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50E94-3514-E20C-B684-AA1AD535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8938D-FA8C-F139-FE34-70A7757A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E9F01-EF39-7F99-B00E-0FE3FC46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911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8FC82-3AE7-7788-7EEE-21FAEA49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472A8-7944-7E22-ABD3-A72C35DF9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B27-13B5-5CFE-C357-AD00D66B5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5E9B2-77B3-8331-9796-A4544574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64A45-FB83-E74C-3BF2-6026A9A25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FFD45-1975-D21A-CF43-A048951C9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251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04D5-6456-2228-A6AB-97731539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E15C51-F566-3568-776D-2E2E67DAF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4B758-D886-DFDD-C216-65E31E199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B2C39-6D9C-DCF1-F861-4B6CDFE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FB338-4990-9259-1526-D1090C70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58B8A-71A8-772B-B2DC-0B9B6916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284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FB0D-2985-AAC4-A2DC-D3031734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8DB58-7428-5636-C7ED-641FA6425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FC039-888E-08D0-8F05-233A1E7B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FEF61-29C0-5BC1-CED2-7C09E7C3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805FB-D927-69FE-C758-79873C1C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858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638C0A-C18A-BEAC-B19B-3A373B001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6A0DD8-E682-9C4C-3AEF-0D167C5F3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A5A0E-F411-9788-2595-55A172AB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A22F4-24D8-F8C2-663F-26F93FBA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FDF0F-F19D-D6CB-0CEC-DD73FD05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3640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42097-CD21-6B70-4DFA-38192EBC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453BA-34A0-0E0E-0335-44C04B363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C68AE-A7BF-D4E3-088E-D935FE796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D0EA0-7E1C-4898-B1CA-F30B4809AF5B}" type="datetimeFigureOut">
              <a:rPr lang="en-SG" smtClean="0"/>
              <a:t>14/8/2026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BF85A-0B19-E48C-FDD0-3775E5CD1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AB81E-8055-8CFE-2E06-1AE7FF63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8B997-23C1-4482-9F0B-64E7C07A84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334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5197B4-4DE7-CC07-E13A-AEC4F709645F}"/>
              </a:ext>
            </a:extLst>
          </p:cNvPr>
          <p:cNvSpPr/>
          <p:nvPr/>
        </p:nvSpPr>
        <p:spPr>
          <a:xfrm>
            <a:off x="1526177" y="4149635"/>
            <a:ext cx="5516270" cy="757072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1FDBE-BA81-08CE-4269-CFD5B8380253}"/>
              </a:ext>
            </a:extLst>
          </p:cNvPr>
          <p:cNvSpPr txBox="1"/>
          <p:nvPr/>
        </p:nvSpPr>
        <p:spPr>
          <a:xfrm>
            <a:off x="1637951" y="4180054"/>
            <a:ext cx="1320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Level 0</a:t>
            </a:r>
          </a:p>
          <a:p>
            <a:r>
              <a:rPr lang="en-US" sz="1200" dirty="0">
                <a:solidFill>
                  <a:schemeClr val="bg1"/>
                </a:solidFill>
              </a:rPr>
              <a:t>Physical Process</a:t>
            </a:r>
          </a:p>
          <a:p>
            <a:r>
              <a:rPr lang="en-US" sz="1200" dirty="0">
                <a:solidFill>
                  <a:schemeClr val="bg1"/>
                </a:solidFill>
              </a:rPr>
              <a:t>Field I/O device </a:t>
            </a:r>
            <a:endParaRPr lang="en-SG" sz="12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3AF4DF-B366-1099-D346-83455AA304CE}"/>
              </a:ext>
            </a:extLst>
          </p:cNvPr>
          <p:cNvSpPr/>
          <p:nvPr/>
        </p:nvSpPr>
        <p:spPr>
          <a:xfrm>
            <a:off x="3200556" y="4352922"/>
            <a:ext cx="472819" cy="3563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IED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6A1D6-F15E-CAD7-5311-499BD4FAD07D}"/>
              </a:ext>
            </a:extLst>
          </p:cNvPr>
          <p:cNvSpPr/>
          <p:nvPr/>
        </p:nvSpPr>
        <p:spPr>
          <a:xfrm>
            <a:off x="3895701" y="4352921"/>
            <a:ext cx="1165150" cy="3563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Metering Unit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E1A17A-1EB1-84E0-8F84-52FC2A4D0880}"/>
              </a:ext>
            </a:extLst>
          </p:cNvPr>
          <p:cNvSpPr/>
          <p:nvPr/>
        </p:nvSpPr>
        <p:spPr>
          <a:xfrm>
            <a:off x="5217218" y="4340415"/>
            <a:ext cx="790296" cy="3563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Sensors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6A09C6-A80A-1773-2A4E-62EEE664A80B}"/>
              </a:ext>
            </a:extLst>
          </p:cNvPr>
          <p:cNvSpPr/>
          <p:nvPr/>
        </p:nvSpPr>
        <p:spPr>
          <a:xfrm>
            <a:off x="1526177" y="3190874"/>
            <a:ext cx="5516270" cy="808039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317B8-6544-4A01-559C-4AF56B81F75F}"/>
              </a:ext>
            </a:extLst>
          </p:cNvPr>
          <p:cNvSpPr txBox="1"/>
          <p:nvPr/>
        </p:nvSpPr>
        <p:spPr>
          <a:xfrm>
            <a:off x="1670217" y="3315125"/>
            <a:ext cx="11396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Level 1</a:t>
            </a:r>
          </a:p>
          <a:p>
            <a:r>
              <a:rPr lang="en-US" sz="1100" dirty="0"/>
              <a:t>Controller LAN </a:t>
            </a:r>
            <a:endParaRPr lang="en-SG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6DE35-CD7A-4960-8049-92C03F0D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210" y="3314455"/>
            <a:ext cx="664712" cy="472684"/>
          </a:xfrm>
          <a:prstGeom prst="rect">
            <a:avLst/>
          </a:prstGeom>
        </p:spPr>
      </p:pic>
      <p:pic>
        <p:nvPicPr>
          <p:cNvPr id="15" name="Picture 14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053B07FA-9A1F-651A-5C38-9472179A0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654" y="3246330"/>
            <a:ext cx="468371" cy="51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D8A088-E4BB-E724-5076-D08DB8E427E8}"/>
              </a:ext>
            </a:extLst>
          </p:cNvPr>
          <p:cNvSpPr txBox="1"/>
          <p:nvPr/>
        </p:nvSpPr>
        <p:spPr>
          <a:xfrm>
            <a:off x="3965025" y="3583558"/>
            <a:ext cx="5744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PLC</a:t>
            </a:r>
            <a:endParaRPr lang="en-SG" sz="1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41D427-DF0E-AE86-58E1-98B06C6DAC66}"/>
              </a:ext>
            </a:extLst>
          </p:cNvPr>
          <p:cNvSpPr txBox="1"/>
          <p:nvPr/>
        </p:nvSpPr>
        <p:spPr>
          <a:xfrm>
            <a:off x="5572124" y="3550797"/>
            <a:ext cx="559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RTU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A2FCE97-444D-96B7-9D79-5FBBE78FB7FC}"/>
              </a:ext>
            </a:extLst>
          </p:cNvPr>
          <p:cNvCxnSpPr>
            <a:cxnSpLocks/>
            <a:stCxn id="14" idx="2"/>
            <a:endCxn id="9" idx="0"/>
          </p:cNvCxnSpPr>
          <p:nvPr/>
        </p:nvCxnSpPr>
        <p:spPr>
          <a:xfrm rot="5400000">
            <a:off x="4438030" y="3827385"/>
            <a:ext cx="565782" cy="48529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ABBCD2F-3340-3611-60D8-67FC7B402EA8}"/>
              </a:ext>
            </a:extLst>
          </p:cNvPr>
          <p:cNvCxnSpPr>
            <a:cxnSpLocks/>
            <a:stCxn id="14" idx="2"/>
            <a:endCxn id="10" idx="0"/>
          </p:cNvCxnSpPr>
          <p:nvPr/>
        </p:nvCxnSpPr>
        <p:spPr>
          <a:xfrm rot="16200000" flipH="1">
            <a:off x="5011328" y="3739377"/>
            <a:ext cx="553276" cy="64880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C9F8FF0A-CC3B-D85F-14F7-F6AAFD2ED6EF}"/>
              </a:ext>
            </a:extLst>
          </p:cNvPr>
          <p:cNvCxnSpPr>
            <a:stCxn id="15" idx="2"/>
            <a:endCxn id="9" idx="0"/>
          </p:cNvCxnSpPr>
          <p:nvPr/>
        </p:nvCxnSpPr>
        <p:spPr>
          <a:xfrm rot="16200000" flipH="1">
            <a:off x="3807999" y="3682644"/>
            <a:ext cx="593118" cy="74743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A045BB4-02E1-7CB8-438E-336304F8BEFC}"/>
              </a:ext>
            </a:extLst>
          </p:cNvPr>
          <p:cNvSpPr/>
          <p:nvPr/>
        </p:nvSpPr>
        <p:spPr>
          <a:xfrm>
            <a:off x="1513770" y="2315964"/>
            <a:ext cx="5528677" cy="726901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3C95A0-8B87-3913-A665-E1AED7872846}"/>
              </a:ext>
            </a:extLst>
          </p:cNvPr>
          <p:cNvSpPr txBox="1"/>
          <p:nvPr/>
        </p:nvSpPr>
        <p:spPr>
          <a:xfrm>
            <a:off x="1636303" y="2326390"/>
            <a:ext cx="13915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2</a:t>
            </a:r>
          </a:p>
          <a:p>
            <a:r>
              <a:rPr lang="en-US" sz="1100" dirty="0">
                <a:solidFill>
                  <a:schemeClr val="bg1"/>
                </a:solidFill>
              </a:rPr>
              <a:t>Control Center (HQ) Processing LAN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569A22-E2F8-0826-B7AE-58B88D739DB7}"/>
              </a:ext>
            </a:extLst>
          </p:cNvPr>
          <p:cNvSpPr txBox="1"/>
          <p:nvPr/>
        </p:nvSpPr>
        <p:spPr>
          <a:xfrm>
            <a:off x="3548625" y="2389939"/>
            <a:ext cx="1471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MQTT Broker Server </a:t>
            </a:r>
          </a:p>
        </p:txBody>
      </p:sp>
      <p:pic>
        <p:nvPicPr>
          <p:cNvPr id="54" name="Graphic 53" descr="Computer with solid fill">
            <a:extLst>
              <a:ext uri="{FF2B5EF4-FFF2-40B4-BE49-F238E27FC236}">
                <a16:creationId xmlns:a16="http://schemas.microsoft.com/office/drawing/2014/main" id="{6F931331-CF0E-CDB1-A653-DFA5C93DD7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1032" y="2434371"/>
            <a:ext cx="446421" cy="446421"/>
          </a:xfrm>
          <a:prstGeom prst="rect">
            <a:avLst/>
          </a:prstGeom>
        </p:spPr>
      </p:pic>
      <p:pic>
        <p:nvPicPr>
          <p:cNvPr id="55" name="Graphic 54" descr="Ui Ux with solid fill">
            <a:extLst>
              <a:ext uri="{FF2B5EF4-FFF2-40B4-BE49-F238E27FC236}">
                <a16:creationId xmlns:a16="http://schemas.microsoft.com/office/drawing/2014/main" id="{E646BA4E-4971-C662-B2AF-D7D19C7BD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7965" y="2459578"/>
            <a:ext cx="550375" cy="55037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B167245-CB3A-9A72-E5F0-A87AC53F2AE1}"/>
              </a:ext>
            </a:extLst>
          </p:cNvPr>
          <p:cNvSpPr txBox="1"/>
          <p:nvPr/>
        </p:nvSpPr>
        <p:spPr>
          <a:xfrm>
            <a:off x="7874679" y="3620423"/>
            <a:ext cx="9660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Railway Track Control HMI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F1823D-7A98-9481-2731-0F15ECBFBC8B}"/>
              </a:ext>
            </a:extLst>
          </p:cNvPr>
          <p:cNvSpPr txBox="1"/>
          <p:nvPr/>
        </p:nvSpPr>
        <p:spPr>
          <a:xfrm>
            <a:off x="5668987" y="2410749"/>
            <a:ext cx="92216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Control HMI / Console machine </a:t>
            </a:r>
            <a:endParaRPr lang="en-SG" sz="1100" dirty="0">
              <a:solidFill>
                <a:schemeClr val="bg1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789B378-9903-3123-F7BE-BA64054115F6}"/>
              </a:ext>
            </a:extLst>
          </p:cNvPr>
          <p:cNvCxnSpPr>
            <a:cxnSpLocks/>
          </p:cNvCxnSpPr>
          <p:nvPr/>
        </p:nvCxnSpPr>
        <p:spPr>
          <a:xfrm>
            <a:off x="3312071" y="2972223"/>
            <a:ext cx="108847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17D7B93-3D52-6A63-2CAE-3B373903F065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4105673" y="3025260"/>
            <a:ext cx="529982" cy="521092"/>
          </a:xfrm>
          <a:prstGeom prst="bentConnector2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085F8B8-30AA-8B36-DBEE-23D06A53EEC9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730839" y="2950968"/>
            <a:ext cx="1" cy="29536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982C9C0-B90A-77C5-9E1B-E8EED6AF2A97}"/>
              </a:ext>
            </a:extLst>
          </p:cNvPr>
          <p:cNvCxnSpPr>
            <a:cxnSpLocks/>
          </p:cNvCxnSpPr>
          <p:nvPr/>
        </p:nvCxnSpPr>
        <p:spPr>
          <a:xfrm flipV="1">
            <a:off x="3523111" y="2769956"/>
            <a:ext cx="1595735" cy="160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93A9111-C8F6-8825-72CA-3522CEA1FF8F}"/>
              </a:ext>
            </a:extLst>
          </p:cNvPr>
          <p:cNvSpPr txBox="1"/>
          <p:nvPr/>
        </p:nvSpPr>
        <p:spPr>
          <a:xfrm>
            <a:off x="1632142" y="1389411"/>
            <a:ext cx="132480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Level 3</a:t>
            </a:r>
          </a:p>
          <a:p>
            <a:r>
              <a:rPr lang="en-US" sz="1100" dirty="0">
                <a:solidFill>
                  <a:schemeClr val="bg1"/>
                </a:solidFill>
              </a:rPr>
              <a:t>Operations Management Zone </a:t>
            </a:r>
          </a:p>
        </p:txBody>
      </p:sp>
      <p:pic>
        <p:nvPicPr>
          <p:cNvPr id="83" name="Graphic 82" descr="Ui Ux with solid fill">
            <a:extLst>
              <a:ext uri="{FF2B5EF4-FFF2-40B4-BE49-F238E27FC236}">
                <a16:creationId xmlns:a16="http://schemas.microsoft.com/office/drawing/2014/main" id="{25C9A69D-991D-5B40-0C5E-96302FC149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4979" y="1455059"/>
            <a:ext cx="572105" cy="572105"/>
          </a:xfrm>
          <a:prstGeom prst="rect">
            <a:avLst/>
          </a:prstGeom>
        </p:spPr>
      </p:pic>
      <p:pic>
        <p:nvPicPr>
          <p:cNvPr id="92" name="Graphic 91" descr="Smart Phone with solid fill">
            <a:extLst>
              <a:ext uri="{FF2B5EF4-FFF2-40B4-BE49-F238E27FC236}">
                <a16:creationId xmlns:a16="http://schemas.microsoft.com/office/drawing/2014/main" id="{AB93BEFD-64A8-D824-B50B-BED279B56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2996" y="1458938"/>
            <a:ext cx="557955" cy="557955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87E0CAF7-1E85-F4AE-9B86-E2AF0B15BE78}"/>
              </a:ext>
            </a:extLst>
          </p:cNvPr>
          <p:cNvSpPr txBox="1"/>
          <p:nvPr/>
        </p:nvSpPr>
        <p:spPr>
          <a:xfrm>
            <a:off x="5678325" y="1500904"/>
            <a:ext cx="12725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Control Touch Screen/Phone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D41C0FF-A27A-EDDD-BFEE-3DF571D620F6}"/>
              </a:ext>
            </a:extLst>
          </p:cNvPr>
          <p:cNvSpPr txBox="1"/>
          <p:nvPr/>
        </p:nvSpPr>
        <p:spPr>
          <a:xfrm>
            <a:off x="4478276" y="1508536"/>
            <a:ext cx="804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Monitor Desktop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BCEFDA0-13CC-0309-E415-50A9C59B2777}"/>
              </a:ext>
            </a:extLst>
          </p:cNvPr>
          <p:cNvCxnSpPr>
            <a:cxnSpLocks/>
          </p:cNvCxnSpPr>
          <p:nvPr/>
        </p:nvCxnSpPr>
        <p:spPr>
          <a:xfrm flipH="1">
            <a:off x="7369390" y="4709312"/>
            <a:ext cx="505288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49CB5C1-AE5E-9A1B-0C8A-089939B0B1B2}"/>
              </a:ext>
            </a:extLst>
          </p:cNvPr>
          <p:cNvSpPr txBox="1"/>
          <p:nvPr/>
        </p:nvSpPr>
        <p:spPr>
          <a:xfrm>
            <a:off x="7939387" y="4539996"/>
            <a:ext cx="23660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/>
              <a:t>MQTT Communication Channel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415396D-9C53-1587-417D-9A32007E22A8}"/>
              </a:ext>
            </a:extLst>
          </p:cNvPr>
          <p:cNvSpPr txBox="1"/>
          <p:nvPr/>
        </p:nvSpPr>
        <p:spPr>
          <a:xfrm>
            <a:off x="2884403" y="4116279"/>
            <a:ext cx="1043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MQTT Client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4BFA4F3-5EF4-46A0-0227-93E0F59487AB}"/>
              </a:ext>
            </a:extLst>
          </p:cNvPr>
          <p:cNvSpPr txBox="1"/>
          <p:nvPr/>
        </p:nvSpPr>
        <p:spPr>
          <a:xfrm>
            <a:off x="3965025" y="3203835"/>
            <a:ext cx="1043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b="1" dirty="0">
                <a:solidFill>
                  <a:schemeClr val="accent4">
                    <a:lumMod val="75000"/>
                  </a:schemeClr>
                </a:solidFill>
              </a:rPr>
              <a:t>MQTT Client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D73D2FF-9E4E-AB67-962A-FAB6F39B7120}"/>
              </a:ext>
            </a:extLst>
          </p:cNvPr>
          <p:cNvSpPr txBox="1"/>
          <p:nvPr/>
        </p:nvSpPr>
        <p:spPr>
          <a:xfrm>
            <a:off x="7419914" y="3600000"/>
            <a:ext cx="2609906" cy="64633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MQTT Client connection interface lib to publish the data to the broker server</a:t>
            </a:r>
            <a:endParaRPr lang="en-SG" sz="1200" b="1" dirty="0"/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0A9A1C01-9B9C-82AD-6BDE-BDE5978CC6B5}"/>
              </a:ext>
            </a:extLst>
          </p:cNvPr>
          <p:cNvCxnSpPr>
            <a:cxnSpLocks/>
            <a:stCxn id="110" idx="1"/>
            <a:endCxn id="12" idx="3"/>
          </p:cNvCxnSpPr>
          <p:nvPr/>
        </p:nvCxnSpPr>
        <p:spPr>
          <a:xfrm rot="10800000">
            <a:off x="7042448" y="3594894"/>
            <a:ext cx="377467" cy="32827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59F7EB0E-EC13-D766-51E9-5DA6BC03650F}"/>
              </a:ext>
            </a:extLst>
          </p:cNvPr>
          <p:cNvCxnSpPr>
            <a:cxnSpLocks/>
            <a:stCxn id="110" idx="1"/>
            <a:endCxn id="4" idx="3"/>
          </p:cNvCxnSpPr>
          <p:nvPr/>
        </p:nvCxnSpPr>
        <p:spPr>
          <a:xfrm rot="10800000" flipV="1">
            <a:off x="7042448" y="3923165"/>
            <a:ext cx="377467" cy="60500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82619E8-0251-109B-BCA4-DE8EA01FA204}"/>
              </a:ext>
            </a:extLst>
          </p:cNvPr>
          <p:cNvSpPr txBox="1"/>
          <p:nvPr/>
        </p:nvSpPr>
        <p:spPr>
          <a:xfrm>
            <a:off x="7447747" y="1406318"/>
            <a:ext cx="2582073" cy="83099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MQTT Client connection interface lib to subscribe the data from the broker server</a:t>
            </a:r>
            <a:endParaRPr lang="en-SG" sz="1200" b="1" dirty="0"/>
          </a:p>
        </p:txBody>
      </p:sp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DE2AB975-86C3-2B7C-54C1-542288DBAB6F}"/>
              </a:ext>
            </a:extLst>
          </p:cNvPr>
          <p:cNvCxnSpPr>
            <a:cxnSpLocks/>
            <a:stCxn id="117" idx="1"/>
            <a:endCxn id="57" idx="3"/>
          </p:cNvCxnSpPr>
          <p:nvPr/>
        </p:nvCxnSpPr>
        <p:spPr>
          <a:xfrm rot="10800000" flipV="1">
            <a:off x="6591155" y="1821817"/>
            <a:ext cx="856593" cy="88901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02DB019-A146-1A4B-4854-57629F991AAD}"/>
              </a:ext>
            </a:extLst>
          </p:cNvPr>
          <p:cNvCxnSpPr>
            <a:cxnSpLocks/>
          </p:cNvCxnSpPr>
          <p:nvPr/>
        </p:nvCxnSpPr>
        <p:spPr>
          <a:xfrm flipH="1">
            <a:off x="7042448" y="1716347"/>
            <a:ext cx="41729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2558A6D-7D2D-10D8-0FFF-801D6B589E13}"/>
              </a:ext>
            </a:extLst>
          </p:cNvPr>
          <p:cNvCxnSpPr>
            <a:cxnSpLocks/>
          </p:cNvCxnSpPr>
          <p:nvPr/>
        </p:nvCxnSpPr>
        <p:spPr>
          <a:xfrm flipH="1" flipV="1">
            <a:off x="3547453" y="2835633"/>
            <a:ext cx="3821936" cy="2484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1B9340DC-E70B-E0E9-7AAD-CA28DAB1BBDA}"/>
              </a:ext>
            </a:extLst>
          </p:cNvPr>
          <p:cNvSpPr txBox="1"/>
          <p:nvPr/>
        </p:nvSpPr>
        <p:spPr>
          <a:xfrm>
            <a:off x="7369389" y="2517921"/>
            <a:ext cx="2660435" cy="83099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Provide The MQTT Broker interface lib to save the data execution the control logic and handle all the data publish and subscribe request</a:t>
            </a:r>
            <a:endParaRPr lang="en-SG" sz="12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8538CD5-1E8F-CBEA-B39C-63746835BAA1}"/>
              </a:ext>
            </a:extLst>
          </p:cNvPr>
          <p:cNvSpPr txBox="1"/>
          <p:nvPr/>
        </p:nvSpPr>
        <p:spPr>
          <a:xfrm>
            <a:off x="1398824" y="790295"/>
            <a:ext cx="8906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Different OT levels DNP3 data follow with device configuration  </a:t>
            </a:r>
          </a:p>
        </p:txBody>
      </p:sp>
    </p:spTree>
    <p:extLst>
      <p:ext uri="{BB962C8B-B14F-4D97-AF65-F5344CB8AC3E}">
        <p14:creationId xmlns:p14="http://schemas.microsoft.com/office/powerpoint/2010/main" val="3696190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837A8677-8040-C491-6D80-73149652E6CE}"/>
              </a:ext>
            </a:extLst>
          </p:cNvPr>
          <p:cNvSpPr/>
          <p:nvPr/>
        </p:nvSpPr>
        <p:spPr>
          <a:xfrm>
            <a:off x="4543840" y="2145434"/>
            <a:ext cx="2489871" cy="29958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7DD3D4-6B5E-7CB5-E003-2C037546352E}"/>
              </a:ext>
            </a:extLst>
          </p:cNvPr>
          <p:cNvSpPr/>
          <p:nvPr/>
        </p:nvSpPr>
        <p:spPr>
          <a:xfrm>
            <a:off x="548582" y="2144789"/>
            <a:ext cx="3413179" cy="4239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85B9271-91E4-96A0-FFD7-67E7E3B97AB1}"/>
              </a:ext>
            </a:extLst>
          </p:cNvPr>
          <p:cNvSpPr txBox="1"/>
          <p:nvPr/>
        </p:nvSpPr>
        <p:spPr>
          <a:xfrm>
            <a:off x="4479495" y="1786827"/>
            <a:ext cx="2884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Level1 OT Controller Devices </a:t>
            </a:r>
            <a:endParaRPr lang="en-SG" sz="1400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10193F1-FCF7-0996-4AFD-5FEB7922A1DC}"/>
              </a:ext>
            </a:extLst>
          </p:cNvPr>
          <p:cNvSpPr/>
          <p:nvPr/>
        </p:nvSpPr>
        <p:spPr>
          <a:xfrm>
            <a:off x="5219105" y="3018211"/>
            <a:ext cx="1494965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Input Parameter </a:t>
            </a:r>
            <a:r>
              <a:rPr lang="en-US" sz="1050" b="1" dirty="0" err="1"/>
              <a:t>Dict</a:t>
            </a:r>
            <a:endParaRPr lang="en-SG" sz="1050" b="1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0C4944A4-AC6E-C358-AD9C-F8CDE9B6C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43" y="3599698"/>
            <a:ext cx="762864" cy="6638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D271E74-DEAC-DBC5-E155-98AC307DE59C}"/>
              </a:ext>
            </a:extLst>
          </p:cNvPr>
          <p:cNvCxnSpPr>
            <a:cxnSpLocks/>
          </p:cNvCxnSpPr>
          <p:nvPr/>
        </p:nvCxnSpPr>
        <p:spPr>
          <a:xfrm>
            <a:off x="5796575" y="3305723"/>
            <a:ext cx="0" cy="245081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87F13EF-BB40-8784-CA1E-3F7F9B4EDF0E}"/>
              </a:ext>
            </a:extLst>
          </p:cNvPr>
          <p:cNvSpPr txBox="1"/>
          <p:nvPr/>
        </p:nvSpPr>
        <p:spPr>
          <a:xfrm>
            <a:off x="527544" y="1766471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Level0 OT Physical Field I/O Devices </a:t>
            </a:r>
            <a:endParaRPr lang="en-SG" sz="14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0089D7C-7E8D-AD1C-D162-A3C3BE67C8FF}"/>
              </a:ext>
            </a:extLst>
          </p:cNvPr>
          <p:cNvSpPr txBox="1"/>
          <p:nvPr/>
        </p:nvSpPr>
        <p:spPr>
          <a:xfrm>
            <a:off x="4733726" y="3578384"/>
            <a:ext cx="875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Auto</a:t>
            </a:r>
          </a:p>
          <a:p>
            <a:r>
              <a:rPr lang="en-US" sz="1200" b="1" dirty="0"/>
              <a:t>Control </a:t>
            </a:r>
          </a:p>
          <a:p>
            <a:r>
              <a:rPr lang="en-US" sz="1200" b="1" dirty="0"/>
              <a:t>Logic</a:t>
            </a:r>
            <a:endParaRPr lang="en-SG" sz="1200" b="1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2ADACBF-6CD1-7C6A-393E-8FDE39B7951F}"/>
              </a:ext>
            </a:extLst>
          </p:cNvPr>
          <p:cNvSpPr/>
          <p:nvPr/>
        </p:nvSpPr>
        <p:spPr>
          <a:xfrm>
            <a:off x="8011053" y="2144789"/>
            <a:ext cx="3413180" cy="42195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089A106-CF1F-EBEA-140F-03132C4ED2DD}"/>
              </a:ext>
            </a:extLst>
          </p:cNvPr>
          <p:cNvSpPr txBox="1"/>
          <p:nvPr/>
        </p:nvSpPr>
        <p:spPr>
          <a:xfrm>
            <a:off x="7897351" y="1774329"/>
            <a:ext cx="321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Level2 OT Control Console or HMI</a:t>
            </a:r>
            <a:endParaRPr lang="en-SG" sz="1400" b="1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2733834-1F35-5EC2-2694-CCCF1592DCF7}"/>
              </a:ext>
            </a:extLst>
          </p:cNvPr>
          <p:cNvSpPr/>
          <p:nvPr/>
        </p:nvSpPr>
        <p:spPr>
          <a:xfrm>
            <a:off x="5247599" y="4582055"/>
            <a:ext cx="1573581" cy="29572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Output Parameter </a:t>
            </a:r>
            <a:r>
              <a:rPr lang="en-US" sz="1050" b="1" dirty="0" err="1"/>
              <a:t>Dict</a:t>
            </a:r>
            <a:endParaRPr lang="en-SG" sz="105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13263F-1648-5749-94E7-C1F6266E379E}"/>
              </a:ext>
            </a:extLst>
          </p:cNvPr>
          <p:cNvSpPr/>
          <p:nvPr/>
        </p:nvSpPr>
        <p:spPr>
          <a:xfrm>
            <a:off x="3732213" y="2953594"/>
            <a:ext cx="1183100" cy="5591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Input</a:t>
            </a:r>
            <a:endParaRPr lang="en-SG" sz="1050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E8F210-3F43-6E6B-8F0E-548004A1C5B5}"/>
              </a:ext>
            </a:extLst>
          </p:cNvPr>
          <p:cNvSpPr/>
          <p:nvPr/>
        </p:nvSpPr>
        <p:spPr>
          <a:xfrm>
            <a:off x="3710639" y="4351785"/>
            <a:ext cx="1183100" cy="5591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Output</a:t>
            </a:r>
            <a:endParaRPr lang="en-SG" sz="1050" b="1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81C8210-C0E7-B3E4-859C-1F4918518F21}"/>
              </a:ext>
            </a:extLst>
          </p:cNvPr>
          <p:cNvCxnSpPr>
            <a:cxnSpLocks/>
          </p:cNvCxnSpPr>
          <p:nvPr/>
        </p:nvCxnSpPr>
        <p:spPr>
          <a:xfrm>
            <a:off x="5780178" y="4252750"/>
            <a:ext cx="0" cy="32930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B4CEA2-012D-1E0A-676D-15BF8BE1A4D0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4915313" y="3154680"/>
            <a:ext cx="303792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D4977DE-76D9-A860-79E2-C07C7F2576C6}"/>
              </a:ext>
            </a:extLst>
          </p:cNvPr>
          <p:cNvCxnSpPr>
            <a:cxnSpLocks/>
          </p:cNvCxnSpPr>
          <p:nvPr/>
        </p:nvCxnSpPr>
        <p:spPr>
          <a:xfrm flipH="1" flipV="1">
            <a:off x="4872774" y="4708550"/>
            <a:ext cx="35386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AEA0A740-926A-31A2-62D0-5B65F5211AC2}"/>
              </a:ext>
            </a:extLst>
          </p:cNvPr>
          <p:cNvSpPr/>
          <p:nvPr/>
        </p:nvSpPr>
        <p:spPr>
          <a:xfrm>
            <a:off x="6509352" y="3581371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D</a:t>
            </a:r>
            <a:r>
              <a:rPr lang="en-SG" sz="1050" b="1" dirty="0"/>
              <a:t>NP3 Server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25058C5-A339-2CFC-1C58-5CE6271AD8F4}"/>
              </a:ext>
            </a:extLst>
          </p:cNvPr>
          <p:cNvCxnSpPr>
            <a:cxnSpLocks/>
          </p:cNvCxnSpPr>
          <p:nvPr/>
        </p:nvCxnSpPr>
        <p:spPr>
          <a:xfrm>
            <a:off x="6566585" y="3319702"/>
            <a:ext cx="0" cy="258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00080B1-57FE-3EF4-943B-EFB50200C31E}"/>
              </a:ext>
            </a:extLst>
          </p:cNvPr>
          <p:cNvSpPr/>
          <p:nvPr/>
        </p:nvSpPr>
        <p:spPr>
          <a:xfrm>
            <a:off x="6524779" y="4057946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NDP3 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CBE11D-52C4-DBF1-0423-DCE2EF202234}"/>
              </a:ext>
            </a:extLst>
          </p:cNvPr>
          <p:cNvSpPr txBox="1"/>
          <p:nvPr/>
        </p:nvSpPr>
        <p:spPr>
          <a:xfrm>
            <a:off x="489416" y="735860"/>
            <a:ext cx="10632433" cy="46166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 Python RTU/</a:t>
            </a:r>
            <a:r>
              <a:rPr lang="en-US" sz="2400" b="1" dirty="0" err="1"/>
              <a:t>IIoT</a:t>
            </a:r>
            <a:r>
              <a:rPr lang="en-US" sz="2400" b="1" dirty="0"/>
              <a:t> Simulator with IEC-20922 MQTT Communication Protocol</a:t>
            </a:r>
            <a:endParaRPr lang="en-SG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1BD5C1-01FF-CA5A-DCA7-43CAEE762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40" y="2511144"/>
            <a:ext cx="3015909" cy="1841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77CF6C-F68F-DA56-04A7-492B6FEE3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66" y="4673267"/>
            <a:ext cx="2982263" cy="15267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CBA473-2400-C830-B1E3-9399BB15C164}"/>
              </a:ext>
            </a:extLst>
          </p:cNvPr>
          <p:cNvSpPr txBox="1"/>
          <p:nvPr/>
        </p:nvSpPr>
        <p:spPr>
          <a:xfrm>
            <a:off x="527544" y="2182278"/>
            <a:ext cx="3470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Gas Power Generator Simulator Program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BB6035-ECDD-E5CD-8792-25E6CC3C57B6}"/>
              </a:ext>
            </a:extLst>
          </p:cNvPr>
          <p:cNvSpPr txBox="1"/>
          <p:nvPr/>
        </p:nvSpPr>
        <p:spPr>
          <a:xfrm>
            <a:off x="601142" y="4384208"/>
            <a:ext cx="3470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Transformer Simulator Program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57B2BA-AB22-7164-ABAC-4C8AEB7A5B04}"/>
              </a:ext>
            </a:extLst>
          </p:cNvPr>
          <p:cNvSpPr/>
          <p:nvPr/>
        </p:nvSpPr>
        <p:spPr>
          <a:xfrm>
            <a:off x="4502109" y="5440114"/>
            <a:ext cx="2489871" cy="9242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D4AA2-6330-6FE4-282B-0FC75A6EF3D2}"/>
              </a:ext>
            </a:extLst>
          </p:cNvPr>
          <p:cNvSpPr/>
          <p:nvPr/>
        </p:nvSpPr>
        <p:spPr>
          <a:xfrm>
            <a:off x="3710639" y="5734303"/>
            <a:ext cx="1824158" cy="41159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UDP Simulated  Electrical Signal RTU Input</a:t>
            </a:r>
            <a:endParaRPr lang="en-SG" sz="105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0E313C-6362-6892-CD05-00DB836BEE80}"/>
              </a:ext>
            </a:extLst>
          </p:cNvPr>
          <p:cNvSpPr txBox="1"/>
          <p:nvPr/>
        </p:nvSpPr>
        <p:spPr>
          <a:xfrm>
            <a:off x="4483101" y="5449249"/>
            <a:ext cx="2252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Metering Unit Simulation</a:t>
            </a:r>
            <a:endParaRPr lang="en-SG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7D04D19-6C05-98C0-6ED5-C4A17572279F}"/>
              </a:ext>
            </a:extLst>
          </p:cNvPr>
          <p:cNvCxnSpPr>
            <a:stCxn id="120" idx="1"/>
          </p:cNvCxnSpPr>
          <p:nvPr/>
        </p:nvCxnSpPr>
        <p:spPr>
          <a:xfrm rot="10800000">
            <a:off x="6336793" y="3313939"/>
            <a:ext cx="187987" cy="914489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023D7-EADF-B320-6F9A-9DE5E13289D5}"/>
              </a:ext>
            </a:extLst>
          </p:cNvPr>
          <p:cNvSpPr/>
          <p:nvPr/>
        </p:nvSpPr>
        <p:spPr>
          <a:xfrm>
            <a:off x="6509352" y="5757026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b="1" dirty="0"/>
              <a:t>D</a:t>
            </a:r>
            <a:r>
              <a:rPr lang="en-SG" sz="1050" b="1" dirty="0"/>
              <a:t>NP3 Server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D95B3EA-695C-8683-7F6F-B6370DB68676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5534797" y="5927507"/>
            <a:ext cx="974555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A8E2B13-9828-258F-29C5-514FB36C81FD}"/>
              </a:ext>
            </a:extLst>
          </p:cNvPr>
          <p:cNvSpPr txBox="1"/>
          <p:nvPr/>
        </p:nvSpPr>
        <p:spPr>
          <a:xfrm>
            <a:off x="4555358" y="2208149"/>
            <a:ext cx="27328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50000"/>
                  </a:schemeClr>
                </a:solidFill>
              </a:rPr>
              <a:t>Power Transmission Control RTU Simulation Framework</a:t>
            </a:r>
            <a:endParaRPr lang="en-SG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3D0994-FFC7-B371-BE19-4F804F4F3BC3}"/>
              </a:ext>
            </a:extLst>
          </p:cNvPr>
          <p:cNvSpPr txBox="1"/>
          <p:nvPr/>
        </p:nvSpPr>
        <p:spPr>
          <a:xfrm>
            <a:off x="8046946" y="2198305"/>
            <a:ext cx="2815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Generator Control And Monitor</a:t>
            </a:r>
            <a:endParaRPr lang="en-SG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36153AB-458B-9850-0785-49A992BAFD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539" y="2582620"/>
            <a:ext cx="3162389" cy="1324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B5051B4-EE9F-301E-398B-78D971AFA3F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424" y="4434689"/>
            <a:ext cx="3130494" cy="1687451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725BC056-735A-713C-481A-B6C391D9162D}"/>
              </a:ext>
            </a:extLst>
          </p:cNvPr>
          <p:cNvSpPr txBox="1"/>
          <p:nvPr/>
        </p:nvSpPr>
        <p:spPr>
          <a:xfrm>
            <a:off x="8169911" y="4078489"/>
            <a:ext cx="2246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Power Grid Monitor HMI</a:t>
            </a:r>
            <a:endParaRPr lang="en-SG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1ABEA43-1B13-4EFD-A074-E00CE4C34EC6}"/>
              </a:ext>
            </a:extLst>
          </p:cNvPr>
          <p:cNvSpPr/>
          <p:nvPr/>
        </p:nvSpPr>
        <p:spPr>
          <a:xfrm>
            <a:off x="7861407" y="3430221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NDP3 Client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2807C64-6BDD-E03B-B66B-D78BC0AFF245}"/>
              </a:ext>
            </a:extLst>
          </p:cNvPr>
          <p:cNvSpPr/>
          <p:nvPr/>
        </p:nvSpPr>
        <p:spPr>
          <a:xfrm>
            <a:off x="7897351" y="5885904"/>
            <a:ext cx="965256" cy="34096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050" b="1" dirty="0"/>
              <a:t>NDP3 Client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B5D73E1-A9F8-4E93-9F38-AA246A882528}"/>
              </a:ext>
            </a:extLst>
          </p:cNvPr>
          <p:cNvCxnSpPr/>
          <p:nvPr/>
        </p:nvCxnSpPr>
        <p:spPr>
          <a:xfrm>
            <a:off x="7288236" y="4398908"/>
            <a:ext cx="0" cy="1335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7B5D3507-6E33-9968-2C7E-318FC59404B4}"/>
              </a:ext>
            </a:extLst>
          </p:cNvPr>
          <p:cNvCxnSpPr>
            <a:stCxn id="69" idx="1"/>
            <a:endCxn id="29" idx="3"/>
          </p:cNvCxnSpPr>
          <p:nvPr/>
        </p:nvCxnSpPr>
        <p:spPr>
          <a:xfrm rot="10800000">
            <a:off x="7474609" y="5927507"/>
            <a:ext cx="422743" cy="1288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1950D1BE-0348-1EA5-13D9-AA2199C3792C}"/>
              </a:ext>
            </a:extLst>
          </p:cNvPr>
          <p:cNvCxnSpPr>
            <a:cxnSpLocks/>
            <a:stCxn id="69" idx="1"/>
            <a:endCxn id="81" idx="3"/>
          </p:cNvCxnSpPr>
          <p:nvPr/>
        </p:nvCxnSpPr>
        <p:spPr>
          <a:xfrm rot="10800000">
            <a:off x="7474609" y="3751853"/>
            <a:ext cx="422743" cy="23045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FEA84D2-D10D-7D77-65C4-5A54F058D84C}"/>
              </a:ext>
            </a:extLst>
          </p:cNvPr>
          <p:cNvCxnSpPr>
            <a:stCxn id="114" idx="1"/>
          </p:cNvCxnSpPr>
          <p:nvPr/>
        </p:nvCxnSpPr>
        <p:spPr>
          <a:xfrm flipH="1" flipV="1">
            <a:off x="7490035" y="3599698"/>
            <a:ext cx="371372" cy="1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19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215</Words>
  <Application>Microsoft Office PowerPoint</Application>
  <PresentationFormat>Widescreen</PresentationFormat>
  <Paragraphs>50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4</cp:revision>
  <dcterms:created xsi:type="dcterms:W3CDTF">2026-08-13T06:53:27Z</dcterms:created>
  <dcterms:modified xsi:type="dcterms:W3CDTF">2026-08-14T07:03:52Z</dcterms:modified>
</cp:coreProperties>
</file>